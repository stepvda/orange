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F07000"/>
                </a:solidFill>
                <a:latin typeface="Helvetica Neue"/>
              </a:rPr>
              <a:t>ORANGE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Helvetica Neue"/>
              </a:rPr>
              <a:t>Innovation Radar
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3192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3C2B7"/>
                </a:solidFill>
                <a:latin typeface="Helvetica Neue"/>
              </a:rPr>
              <a:t>A guided tour of the working application — every screen, in the order somebody would actually use them, against the live corpus.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074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F07000"/>
                </a:solidFill>
                <a:latin typeface="Menlo"/>
              </a:rPr>
              <a:t>418 opportunity spaces  ·  11,354 signals  ·  weight set w-2026-08-a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F07000"/>
                </a:solidFill>
                <a:latin typeface="Helvetica Neue"/>
              </a:rP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0B0B0B"/>
                </a:solidFill>
                <a:latin typeface="Helvetica Neue"/>
              </a:rPr>
              <a:t>Seven chapters, in this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6B6963"/>
                </a:solidFill>
                <a:latin typeface="Helvetica Neue"/>
              </a:rPr>
              <a:t>The order is not arbitrary — each chapter uses something the one before it produced.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48840"/>
            <a:ext cx="5349240" cy="896112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27685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F07000"/>
                </a:solidFill>
                <a:latin typeface="Menl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2677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0B0B0B"/>
                </a:solidFill>
                <a:latin typeface="Helvetica Neue"/>
              </a:rPr>
              <a:t>The radar, and one opportunity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569464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963"/>
                </a:solidFill>
                <a:latin typeface="Helvetica Neue"/>
              </a:rPr>
              <a:t>Four channels on one chart, the filter rail, and every number opened 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48840"/>
            <a:ext cx="5349240" cy="896112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227685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F07000"/>
                </a:solidFill>
                <a:latin typeface="Menl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22677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0B0B0B"/>
                </a:solidFill>
                <a:latin typeface="Helvetica Neue"/>
              </a:rPr>
              <a:t>Role modes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2569464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963"/>
                </a:solidFill>
                <a:latin typeface="Helvetica Neue"/>
              </a:rPr>
              <a:t>The same data, three genuinely different rankings — and the screen says which one you are 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172968"/>
            <a:ext cx="5349240" cy="896112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30098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F07000"/>
                </a:solidFill>
                <a:latin typeface="Menl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32918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0B0B0B"/>
                </a:solidFill>
                <a:latin typeface="Helvetica Neue"/>
              </a:rPr>
              <a:t>One space, full screen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359359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963"/>
                </a:solidFill>
                <a:latin typeface="Helvetica Neue"/>
              </a:rPr>
              <a:t>Four tabs, in the order the questions arrive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172968"/>
            <a:ext cx="5349240" cy="896112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8816" y="330098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F07000"/>
                </a:solidFill>
                <a:latin typeface="Menl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32918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0B0B0B"/>
                </a:solidFill>
                <a:latin typeface="Helvetica Neue"/>
              </a:rPr>
              <a:t>The workflow 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359359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963"/>
                </a:solidFill>
                <a:latin typeface="Helvetica Neue"/>
              </a:rPr>
              <a:t>Who owns this now — and the input to a plan nobody has to re-enter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197096"/>
            <a:ext cx="5349240" cy="896112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3251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F07000"/>
                </a:solidFill>
                <a:latin typeface="Menl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431596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0B0B0B"/>
                </a:solidFill>
                <a:latin typeface="Helvetica Neue"/>
              </a:rPr>
              <a:t>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4168" y="461772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963"/>
                </a:solidFill>
                <a:latin typeface="Helvetica Neue"/>
              </a:rPr>
              <a:t>Where the portfolio is thin, and where the team and the evidence disagree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197096"/>
            <a:ext cx="5349240" cy="896112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28816" y="43251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F07000"/>
                </a:solidFill>
                <a:latin typeface="Menlo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431596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0B0B0B"/>
                </a:solidFill>
                <a:latin typeface="Helvetica Neue"/>
              </a:rPr>
              <a:t>Creating a space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461772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963"/>
                </a:solidFill>
                <a:latin typeface="Helvetica Neue"/>
              </a:rPr>
              <a:t>Two routes in, and one gate the corpus holds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221224"/>
            <a:ext cx="5349240" cy="896112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5349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F07000"/>
                </a:solidFill>
                <a:latin typeface="Menlo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4168" y="534009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0B0B0B"/>
                </a:solidFill>
                <a:latin typeface="Helvetica Neue"/>
              </a:rPr>
              <a:t>The Planner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4168" y="5641848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6963"/>
                </a:solidFill>
                <a:latin typeface="Helvetica Neue"/>
              </a:rPr>
              <a:t>Which set, in what order, and what it earns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Helvetica Neue"/>
              </a:rPr>
              <a:t>Orange Business · Innovation Radar · walkthrough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Menl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F07000"/>
                </a:solidFill>
                <a:latin typeface="Menlo"/>
              </a:rPr>
              <a:t>CHAPTER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Helvetica Neue"/>
              </a:rPr>
              <a:t>The radar, and one opportunity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06908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C3C2B7"/>
                </a:solidFill>
                <a:latin typeface="Helvetica Neue"/>
              </a:rPr>
              <a:t>Four channels on one chart, the filter rail, and every number opened 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07000"/>
                </a:solidFill>
                <a:latin typeface="Helvetica Neue"/>
              </a:rP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The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F07000"/>
                </a:solidFill>
                <a:latin typeface="Helvetica Neue"/>
              </a:rPr>
              <a:t>Four channels at once, no legend to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76856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Angular sector is the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Six sectors around the circle. Position carries identity, which frees colour to carry a quantity instead.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10127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64407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Distance from the centre is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48455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Now in the middle, Later at the rim. A topic drifts inward as its evidence matures.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398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7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Size is attractiveness; colour is right to 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81726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The two questions the radar exists to answer, visible in one glance and never combined into a single number.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76669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30949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A ! inside a marker is an evidence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4997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Orange has few or no published references in that vertical. A glyph as well as a colour, so the warning never depends on colour alone.</a:t>
            </a:r>
          </a:p>
        </p:txBody>
      </p:sp>
      <p:pic>
        <p:nvPicPr>
          <p:cNvPr id="18" name="Picture 17" descr="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223760" cy="406336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26280" y="868680"/>
            <a:ext cx="7223760" cy="4063365"/>
          </a:xfrm>
          <a:prstGeom prst="rect">
            <a:avLst/>
          </a:prstGeom>
          <a:noFill/>
          <a:ln w="9525">
            <a:solidFill>
              <a:srgbClr val="DE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Helvetica Neue"/>
              </a:rPr>
              <a:t>Orange Business · Innovation Radar · walkthrough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Menl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07000"/>
                </a:solidFill>
                <a:latin typeface="Helvetica Neue"/>
              </a:rP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One space,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F07000"/>
                </a:solidFill>
                <a:latin typeface="Helvetica Neue"/>
              </a:rPr>
              <a:t>Four questions answered without a click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76856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The statement, not a keyword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Specific enough to open a customer meeting with. “AI” and “cloud” fail validation as topics; this is the bar.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10127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64407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Both scores, side by 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48455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Attractiveness and right to win are shown as two numbers because they answer two questions owned by two different people.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398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7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Horizon, portfolio distance, signal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81726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L0 means an existing offer already covers it. L4 is white space. That one number decides whose conversation this 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76669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30949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Serviceable market and competition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4997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Both computed, both filterable — a number the radar computes but cannot be sorted on is a number nobody uses.</a:t>
            </a:r>
          </a:p>
        </p:txBody>
      </p:sp>
      <p:pic>
        <p:nvPicPr>
          <p:cNvPr id="18" name="Picture 17" descr="radar_h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223760" cy="406336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26280" y="868680"/>
            <a:ext cx="7223760" cy="4063365"/>
          </a:xfrm>
          <a:prstGeom prst="rect">
            <a:avLst/>
          </a:prstGeom>
          <a:noFill/>
          <a:ln w="9525">
            <a:solidFill>
              <a:srgbClr val="DE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Helvetica Neue"/>
              </a:rPr>
              <a:t>Orange Business · Innovation Radar · walkthrough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Menl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07000"/>
                </a:solidFill>
                <a:latin typeface="Helvetica Neue"/>
              </a:rP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The filter rail and the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F07000"/>
                </a:solidFill>
                <a:latin typeface="Helvetica Neue"/>
              </a:rPr>
              <a:t>Multi-select, and the counts are real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76856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Counts cover the whole set, not the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Not over the page. “CISO: 0” once meant “none on this screen” while 37 matched — the facets are now server-computed.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10127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64407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Filters that answer a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48455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Horizon, competition band, has-a-sales-brief, vertical, use case, technology, portfolio distance, evidence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398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7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The list is the same data, ranked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81726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Same corpus, same scores. What changes between the radar and the list is only what you can scan quickly.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76669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30949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Any view is a link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4997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Role, tab, filters, sort and selection are all in the address bar, so a prepared view can be sent to a colleague.</a:t>
            </a:r>
          </a:p>
        </p:txBody>
      </p:sp>
      <p:pic>
        <p:nvPicPr>
          <p:cNvPr id="18" name="Picture 17" descr="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223760" cy="406336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26280" y="868680"/>
            <a:ext cx="7223760" cy="4063365"/>
          </a:xfrm>
          <a:prstGeom prst="rect">
            <a:avLst/>
          </a:prstGeom>
          <a:noFill/>
          <a:ln w="9525">
            <a:solidFill>
              <a:srgbClr val="DE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Helvetica Neue"/>
              </a:rPr>
              <a:t>Orange Business · Innovation Radar · walkthrough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Menl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07000"/>
                </a:solidFill>
                <a:latin typeface="Helvetica Neue"/>
              </a:rP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The detail pane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F07000"/>
                </a:solidFill>
                <a:latin typeface="Helvetica Neue"/>
              </a:rPr>
              <a:t>In the order the questions arrive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76856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What is it, and why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Each claim carries the signal identifiers it was written from. An uncited claim is removed rather than rewritten.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10127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64407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Where the value lands, and for whom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48455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The buyer, the trigger, and the job the technology does — not a description of the technology.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398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7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Can we play, can we 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81726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Itemised against named Orange offers, references, partners and certifications. Query results, never a model's assertion.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76669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30949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The next action, for this 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4997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Different per role, because a strategist and a salesperson do not do the same thing with the same topic.</a:t>
            </a:r>
          </a:p>
        </p:txBody>
      </p:sp>
      <p:pic>
        <p:nvPicPr>
          <p:cNvPr id="18" name="Picture 17" descr="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223760" cy="406336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26280" y="868680"/>
            <a:ext cx="7223760" cy="4063365"/>
          </a:xfrm>
          <a:prstGeom prst="rect">
            <a:avLst/>
          </a:prstGeom>
          <a:noFill/>
          <a:ln w="9525">
            <a:solidFill>
              <a:srgbClr val="DE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Helvetica Neue"/>
              </a:rPr>
              <a:t>Orange Business · Innovation Radar · walkthrough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Menl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07000"/>
                </a:solidFill>
                <a:latin typeface="Helvetica Neue"/>
              </a:rP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How this score was calculated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F07000"/>
                </a:solidFill>
                <a:latin typeface="Helvetica Neue"/>
              </a:rPr>
              <a:t>Checkable, rather than asserted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76856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The weight table and the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Every component with the arithmetic that produced it, not a tooltip saying the score is “based on” something.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10127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64407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The evidence behind each component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48455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Publisher entropy and the publishers counted, the tier distribution, the periods the momentum slope was fitted 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398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7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The reproducibility stamps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81726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Weight set, pipeline, prompt and model version. A number you cannot re-derive is not explained — only displayed.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76669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30949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Reachable wherever a number appears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4997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The detail pane, every list row and the workflow board, and it deep-links.</a:t>
            </a:r>
          </a:p>
        </p:txBody>
      </p:sp>
      <p:pic>
        <p:nvPicPr>
          <p:cNvPr id="18" name="Picture 17" descr="ex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223760" cy="406336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26280" y="868680"/>
            <a:ext cx="7223760" cy="4063365"/>
          </a:xfrm>
          <a:prstGeom prst="rect">
            <a:avLst/>
          </a:prstGeom>
          <a:noFill/>
          <a:ln w="9525">
            <a:solidFill>
              <a:srgbClr val="DE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Helvetica Neue"/>
              </a:rPr>
              <a:t>Orange Business · Innovation Radar · walkthrough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Menl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F07000"/>
                </a:solidFill>
                <a:latin typeface="Menlo"/>
              </a:rPr>
              <a:t>CHAPTER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Helvetica Neue"/>
              </a:rPr>
              <a:t>Role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06908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C3C2B7"/>
                </a:solidFill>
                <a:latin typeface="Helvetica Neue"/>
              </a:rPr>
              <a:t>The same data, three genuinely different rankings — and the screen says which one you are 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07000"/>
                </a:solidFill>
                <a:latin typeface="Helvetica Neue"/>
              </a:rP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Three role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F07000"/>
                </a:solidFill>
                <a:latin typeface="Helvetica Neue"/>
              </a:rPr>
              <a:t>They fall out of portfolio distance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76856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The instruction line, on every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“Strategist / Innovator. Decide where to invest study and prototyping effort next quarter.” The screen says which question it is answering.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10127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64407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Strategist sees L1–L4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48455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Ranks on attractiveness and novelty. Low right-to-win is a flag, not a penalty — white space is the point.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398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7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Sales sees L0–L1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81726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Ranks on right to win and proof-point density, and only shows topics with a delivery path, a published reference in the vertical, and no evidence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76669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30949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Presales sees L0–L2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4997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Ranks on differentiation: where Orange has assets and the market has few credible providers.</a:t>
            </a:r>
          </a:p>
        </p:txBody>
      </p:sp>
      <p:pic>
        <p:nvPicPr>
          <p:cNvPr id="18" name="Picture 17" descr="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223760" cy="406336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26280" y="868680"/>
            <a:ext cx="7223760" cy="4063365"/>
          </a:xfrm>
          <a:prstGeom prst="rect">
            <a:avLst/>
          </a:prstGeom>
          <a:noFill/>
          <a:ln w="9525">
            <a:solidFill>
              <a:srgbClr val="DE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Helvetica Neue"/>
              </a:rPr>
              <a:t>Orange Business · Innovation Radar · walkthrough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Menl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07000"/>
                </a:solidFill>
                <a:latin typeface="Helvetica Neue"/>
              </a:rP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Why the roles differ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F07000"/>
                </a:solidFill>
                <a:latin typeface="Helvetica Neue"/>
              </a:rPr>
              <a:t>Every dense concept explains itself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76856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The same data, three ranking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Not one score shown through three filters. Each role has its own weighted blend, and the blend is configuration, not code.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10127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64407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A high-attractiveness L4 topic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48455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Is exactly the strategist's innovation agenda — and exactly what a salesperson should never be shown, because there is nothing to sell.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398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7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Help says what, why, and which requirement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81726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So the answer is checkable rather than merely confident. One registry, so the explanation and the behaviour cannot drift apart.</a:t>
            </a:r>
          </a:p>
        </p:txBody>
      </p:sp>
      <p:pic>
        <p:nvPicPr>
          <p:cNvPr id="15" name="Picture 14" descr="role_he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223760" cy="406336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526280" y="868680"/>
            <a:ext cx="7223760" cy="4063365"/>
          </a:xfrm>
          <a:prstGeom prst="rect">
            <a:avLst/>
          </a:prstGeom>
          <a:noFill/>
          <a:ln w="9525">
            <a:solidFill>
              <a:srgbClr val="DE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Helvetica Neue"/>
              </a:rPr>
              <a:t>Orange Business · Innovation Radar · walkthrough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Menl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F07000"/>
                </a:solidFill>
                <a:latin typeface="Menlo"/>
              </a:rPr>
              <a:t>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Helvetica Neue"/>
              </a:rPr>
              <a:t>One space, full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06908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C3C2B7"/>
                </a:solidFill>
                <a:latin typeface="Helvetica Neue"/>
              </a:rPr>
              <a:t>Four tabs, in the order the questions arrive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07000"/>
                </a:solidFill>
                <a:latin typeface="Helvetica Neue"/>
              </a:rP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Tab 1 — the opportunity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F07000"/>
                </a:solidFill>
                <a:latin typeface="Helvetica Neue"/>
              </a:rPr>
              <a:t>The same content with the panes out of the 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76856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Why full screen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The three-pane layout is right for working THROUGH the radar. It is wrong for the moment somebody reads a space: ten sections in a 420px column.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10127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64407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Everything the space knows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48455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Statement, triple, both scores, sizing with its working, competition, evidence timeline, links, stage, and the delete.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398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7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Escape returns you to the radar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81726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With the selection, filters and role intact, because the address bar carried them the whole time.</a:t>
            </a:r>
          </a:p>
        </p:txBody>
      </p:sp>
      <p:pic>
        <p:nvPicPr>
          <p:cNvPr id="15" name="Picture 14" descr="fs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223760" cy="406336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526280" y="868680"/>
            <a:ext cx="7223760" cy="4063365"/>
          </a:xfrm>
          <a:prstGeom prst="rect">
            <a:avLst/>
          </a:prstGeom>
          <a:noFill/>
          <a:ln w="9525">
            <a:solidFill>
              <a:srgbClr val="DE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Helvetica Neue"/>
              </a:rPr>
              <a:t>Orange Business · Innovation Radar · walkthrough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Menl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07000"/>
                </a:solidFill>
                <a:latin typeface="Helvetica Neue"/>
              </a:rP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Tab 2 — competitors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F07000"/>
                </a:solidFill>
                <a:latin typeface="Helvetica Neue"/>
              </a:rPr>
              <a:t>Who else is here, and what we say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76856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A named field, not just a 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The band is on the space; this is per competitor: what they say they sell here, from pages they published, each claim carrying the page.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10127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64407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A differentiation angle per competitor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48455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And a paragraph naming an Orange asset the graph does not hold is stripped, while the half describing the competitor survives.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398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7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A refusal is marked, not omitted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81726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Not omitted. A gap in the register is reported as a gap rather than read as “no competitor found”.</a:t>
            </a:r>
          </a:p>
        </p:txBody>
      </p:sp>
      <p:pic>
        <p:nvPicPr>
          <p:cNvPr id="15" name="Picture 14" descr="fs_competi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223760" cy="406336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526280" y="868680"/>
            <a:ext cx="7223760" cy="4063365"/>
          </a:xfrm>
          <a:prstGeom prst="rect">
            <a:avLst/>
          </a:prstGeom>
          <a:noFill/>
          <a:ln w="9525">
            <a:solidFill>
              <a:srgbClr val="DE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Helvetica Neue"/>
              </a:rPr>
              <a:t>Orange Business · Innovation Radar · walkthrough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Menl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07000"/>
                </a:solidFill>
                <a:latin typeface="Helvetica Neue"/>
              </a:rP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Tab 3 — the sales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F07000"/>
                </a:solidFill>
                <a:latin typeface="Helvetica Neue"/>
              </a:rPr>
              <a:t>The meeting PDF, rendered in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76856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Six pages, every figure stamped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Weight set, sizing version, prompt and model version on the last page, so a brief can be checked against the run that produced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10127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64407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It knows when it is out of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48455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The topic has been refreshed since this was built, and the banner says so. That is why the brief sits beside the space rather than behind a download.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398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7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Incomplete is not the same as stale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81726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A stale brief was correct when built. An incomplete one never had a section that current briefs carry — and waiting does not fix it.</a:t>
            </a:r>
          </a:p>
        </p:txBody>
      </p:sp>
      <p:pic>
        <p:nvPicPr>
          <p:cNvPr id="15" name="Picture 14" descr="fs_bri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223760" cy="406336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526280" y="868680"/>
            <a:ext cx="7223760" cy="4063365"/>
          </a:xfrm>
          <a:prstGeom prst="rect">
            <a:avLst/>
          </a:prstGeom>
          <a:noFill/>
          <a:ln w="9525">
            <a:solidFill>
              <a:srgbClr val="DE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Helvetica Neue"/>
              </a:rPr>
              <a:t>Orange Business · Innovation Radar · walkthrough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Menl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07000"/>
                </a:solidFill>
                <a:latin typeface="Helvetica Neue"/>
              </a:rP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Tab 4 — pre-sales collateral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F07000"/>
                </a:solidFill>
                <a:latin typeface="Helvetica Neue"/>
              </a:rPr>
              <a:t>For the work between meeting and proposal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76856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All twelve are listed, built or not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What COULD be produced is as much of the answer as what has been, and a screen that starts empty is one nobody presses a button 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10127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64407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Grouped by when they are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48455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Before the meeting, in the meeting, after it, and in the bid — qualification, battlecards, a solution outline, tender blocks, a risk register.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398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7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The format is your choice, per piece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81726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PDF, Word or OpenDocument for documents; PowerPoint, OpenDocument or PDF for decks. Asking for Word after the PDF gives you both.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76669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30949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Built from ONE snapshot of the 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4997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So nothing in a pack can quote a different market size from anything else in it.</a:t>
            </a:r>
          </a:p>
        </p:txBody>
      </p:sp>
      <p:pic>
        <p:nvPicPr>
          <p:cNvPr id="18" name="Picture 17" descr="fs_pre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223760" cy="406336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26280" y="868680"/>
            <a:ext cx="7223760" cy="4063365"/>
          </a:xfrm>
          <a:prstGeom prst="rect">
            <a:avLst/>
          </a:prstGeom>
          <a:noFill/>
          <a:ln w="9525">
            <a:solidFill>
              <a:srgbClr val="DE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Helvetica Neue"/>
              </a:rPr>
              <a:t>Orange Business · Innovation Radar · walkthrough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Menl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F07000"/>
                </a:solidFill>
                <a:latin typeface="Menlo"/>
              </a:rPr>
              <a:t>CHAPTER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Helvetica Neue"/>
              </a:rPr>
              <a:t>The workflow 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06908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C3C2B7"/>
                </a:solidFill>
                <a:latin typeface="Helvetica Neue"/>
              </a:rPr>
              <a:t>Who owns this now — and the input to a plan nobody has to re-enter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07000"/>
                </a:solidFill>
                <a:latin typeface="Helvetica Neue"/>
              </a:rP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The stage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F07000"/>
                </a:solidFill>
                <a:latin typeface="Helvetica Neue"/>
              </a:rPr>
              <a:t>Shortlisted → Demand-tested → Packaged →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76856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Ownership follows the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Strategist, then sales, then presales. Every transition records who moved it and why.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10127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64407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Stalled cards are flagged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48455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Latency is the known weakness of a stage gate — a topic dies waiting for its owner — so age-in-stage is computed rather than left to be noticed.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398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7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Each role rates only its own axis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81726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0–5 with written anchors. Those ratings become conviction, which changes what surfaces first and never touches either score.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76669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30949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This board is an input to the Planner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4997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Everything past Demand-tested can be planned directly — chapter 7 uses exactly this, as a portfolio the business already committed to.</a:t>
            </a:r>
          </a:p>
        </p:txBody>
      </p:sp>
      <p:pic>
        <p:nvPicPr>
          <p:cNvPr id="18" name="Picture 17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223760" cy="406336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26280" y="868680"/>
            <a:ext cx="7223760" cy="4063365"/>
          </a:xfrm>
          <a:prstGeom prst="rect">
            <a:avLst/>
          </a:prstGeom>
          <a:noFill/>
          <a:ln w="9525">
            <a:solidFill>
              <a:srgbClr val="DE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Helvetica Neue"/>
              </a:rPr>
              <a:t>Orange Business · Innovation Radar · walkthrough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Menl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F07000"/>
                </a:solidFill>
                <a:latin typeface="Menlo"/>
              </a:rPr>
              <a:t>CHAPTER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Helvetica Neue"/>
              </a:rPr>
              <a:t>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06908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C3C2B7"/>
                </a:solidFill>
                <a:latin typeface="Helvetica Neue"/>
              </a:rPr>
              <a:t>Where the portfolio is thin, and where the team and the evidence disagree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07000"/>
                </a:solidFill>
                <a:latin typeface="Helvetica Neue"/>
              </a:rP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F07000"/>
                </a:solidFill>
                <a:latin typeface="Helvetica Neue"/>
              </a:rPr>
              <a:t>Charts chosen by the job the data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76856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Vertical × domain is magnitude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So it is sequential, and blue — orange already means right to win, and reusing it would imply the same quantity.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10127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64407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Conviction vs evidence is polarity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48455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So it is diverging with a neutral midpoint: agreement reads as nothing, and only disagreement draws the eye.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398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7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The stage funnel is ordered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81726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So it is ordinal. Only the signal-type mix is genuinely categorical, and it ships a legend and a table.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76669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30949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What it is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4997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Where the portfolio is thin, where the team and the evidence disagree, and how much of the grid has evidence at all.</a:t>
            </a:r>
          </a:p>
        </p:txBody>
      </p:sp>
      <p:pic>
        <p:nvPicPr>
          <p:cNvPr id="18" name="Picture 17" descr="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223760" cy="406336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26280" y="868680"/>
            <a:ext cx="7223760" cy="4063365"/>
          </a:xfrm>
          <a:prstGeom prst="rect">
            <a:avLst/>
          </a:prstGeom>
          <a:noFill/>
          <a:ln w="9525">
            <a:solidFill>
              <a:srgbClr val="DE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Helvetica Neue"/>
              </a:rPr>
              <a:t>Orange Business · Innovation Radar · walkthrough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Menlo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F07000"/>
                </a:solidFill>
                <a:latin typeface="Menlo"/>
              </a:rPr>
              <a:t>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Helvetica Neue"/>
              </a:rPr>
              <a:t>Creating a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06908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C3C2B7"/>
                </a:solidFill>
                <a:latin typeface="Helvetica Neue"/>
              </a:rPr>
              <a:t>Two routes in, and one gate the corpus holds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07000"/>
                </a:solidFill>
                <a:latin typeface="Helvetica Neue"/>
              </a:rP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Route 1 —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F07000"/>
                </a:solidFill>
                <a:latin typeface="Helvetica Neue"/>
              </a:rPr>
              <a:t>For somebody who knows the taxonomy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76856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Pick the cell you want covered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A vertical, a use case, a technology, a horizon — and the screen counts how much evidence is behind that combination before you spend anything.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10127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64407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It shows what ALREADY matches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48455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The most common outcome of an on-demand run is rediscovering what the last refresh produced, and finding that out afterwards costs four model calls.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398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7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The same pipeline, the same guards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81726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A space created here goes through the identical evidence binding, closed vocabulary, no-generated-numbers and entailment checks.</a:t>
            </a:r>
          </a:p>
        </p:txBody>
      </p:sp>
      <p:pic>
        <p:nvPicPr>
          <p:cNvPr id="15" name="Picture 14" descr="generate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223760" cy="406336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526280" y="868680"/>
            <a:ext cx="7223760" cy="4063365"/>
          </a:xfrm>
          <a:prstGeom prst="rect">
            <a:avLst/>
          </a:prstGeom>
          <a:noFill/>
          <a:ln w="9525">
            <a:solidFill>
              <a:srgbClr val="DE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Helvetica Neue"/>
              </a:rPr>
              <a:t>Orange Business · Innovation Radar · walkthrough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Menlo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07000"/>
                </a:solidFill>
                <a:latin typeface="Helvetica Neue"/>
              </a:rP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Route 2 — a scoping conversation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F07000"/>
                </a:solidFill>
                <a:latin typeface="Helvetica Neue"/>
              </a:rPr>
              <a:t>For somebody who knows their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76856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The assistant interviews, corpus in hand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Every turn re-embeds the whole transcript against the same signal vectors the run will read, and shows what came back beside the answer.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10127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64407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Publisher, date and cosine, per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48455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So the conversation is about evidence rather than about phrasing, and an answer that sharpens the idea sharpens the next question.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398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7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The corpus enables the button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81726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Asked “do you have enough?” a model says yes. A brief must clear the run's own retrieval floor AND be corroborated on its use case or technology.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76669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30949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A refusal comes before the spend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4997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Not after. And where a brief cannot be run, the contributed-evidence route opens instead — the path that can actually build it.</a:t>
            </a:r>
          </a:p>
        </p:txBody>
      </p:sp>
      <p:pic>
        <p:nvPicPr>
          <p:cNvPr id="18" name="Picture 17" descr="generate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223760" cy="406336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26280" y="868680"/>
            <a:ext cx="7223760" cy="4063365"/>
          </a:xfrm>
          <a:prstGeom prst="rect">
            <a:avLst/>
          </a:prstGeom>
          <a:noFill/>
          <a:ln w="9525">
            <a:solidFill>
              <a:srgbClr val="DE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Helvetica Neue"/>
              </a:rPr>
              <a:t>Orange Business · Innovation Radar · walkthrough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Menlo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F07000"/>
                </a:solidFill>
                <a:latin typeface="Menlo"/>
              </a:rPr>
              <a:t>CHAPTER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Helvetica Neue"/>
              </a:rPr>
              <a:t>The Planner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06908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C3C2B7"/>
                </a:solidFill>
                <a:latin typeface="Helvetica Neue"/>
              </a:rPr>
              <a:t>Which set, in what order, and what it earns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07000"/>
                </a:solidFill>
                <a:latin typeface="Helvetica Neue"/>
              </a:rP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Source 1 —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F07000"/>
                </a:solidFill>
                <a:latin typeface="Helvetica Neue"/>
              </a:rPr>
              <a:t>State the constraints; it chooses the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76856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A ranked list cannot answer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It assumes you can take the top N, and you cannot — not 400 spaces at once, and not twelve in one vertical.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10127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64407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The constraints you would state aloud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48455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Entry slots per year, capability headcount available for new work, an evidence floor, a distance cap, a concentration cap, a horizon mix.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398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7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Selection and projection are arithmetic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81726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No model call, so it is immediate. The written business plan is a separate step, and it may not introduce a figure.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76669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30949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A different objective, a different 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4997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Profit, revenue, NPV or strategic coverage. That is a decision, and the screen says so rather than defaulting silently.</a:t>
            </a:r>
          </a:p>
        </p:txBody>
      </p:sp>
      <p:pic>
        <p:nvPicPr>
          <p:cNvPr id="18" name="Picture 17" descr="planner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223760" cy="406336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26280" y="868680"/>
            <a:ext cx="7223760" cy="4063365"/>
          </a:xfrm>
          <a:prstGeom prst="rect">
            <a:avLst/>
          </a:prstGeom>
          <a:noFill/>
          <a:ln w="9525">
            <a:solidFill>
              <a:srgbClr val="DE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Helvetica Neue"/>
              </a:rPr>
              <a:t>Orange Business · Innovation Radar · walkthrough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Menlo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07000"/>
                </a:solidFill>
                <a:latin typeface="Helvetica Neue"/>
              </a:rP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What the plan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F07000"/>
                </a:solidFill>
                <a:latin typeface="Helvetica Neue"/>
              </a:rPr>
              <a:t>Including which constraint bound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76856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Revenue and profit, with the 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The interval is the sizing engine's own low and high estimates, not error bars invented for the chart.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10127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64407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The entry schedule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48455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Staggered by horizon and by what capacity allowed. A cohort bigger than a year's slots cascades forward rather than pretending the capacity exists.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398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7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Capability pool utilisation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81726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Peak load against the share of headcount available for new work — the constraint that binds first in most plans.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76669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30949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From candidates to committed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4997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What each constraint removed, at each step. That is the thing a ranked list cannot tell you, because the answer is a constraint rather than a score.</a:t>
            </a:r>
          </a:p>
        </p:txBody>
      </p:sp>
      <p:pic>
        <p:nvPicPr>
          <p:cNvPr id="18" name="Picture 17" descr="planner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223760" cy="406336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26280" y="868680"/>
            <a:ext cx="7223760" cy="4063365"/>
          </a:xfrm>
          <a:prstGeom prst="rect">
            <a:avLst/>
          </a:prstGeom>
          <a:noFill/>
          <a:ln w="9525">
            <a:solidFill>
              <a:srgbClr val="DE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Helvetica Neue"/>
              </a:rPr>
              <a:t>Orange Business · Innovation Radar · walkthrough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Menlo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07000"/>
                </a:solidFill>
                <a:latin typeface="Helvetica Neue"/>
              </a:rP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Source 2 — workflow selected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F07000"/>
                </a:solidFill>
                <a:latin typeface="Helvetica Neue"/>
              </a:rPr>
              <a:t>Already decided — this only schedules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76856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Everything past Demand-tested is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No evidence floor, no distance cap, no concentration limit and no objective — each would overrule a decision somebody already took.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10127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64407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Horizon spreads it across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48455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Each space enters when its market arrives; a space already Live starts in year one whatever its horizon says.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398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7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Nothing is dropped to make it 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81726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Where the committed set needs more than the pools can staff, the plan says so and by how much. That gap is the finding, not a reason to edit the portfolio.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76669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30949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A committed space with no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4997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Listed by id and flagged, and the totals are described as a floor — rather than silently missing from a number the reader believes is complete.</a:t>
            </a:r>
          </a:p>
        </p:txBody>
      </p:sp>
      <p:pic>
        <p:nvPicPr>
          <p:cNvPr id="18" name="Picture 17" descr="plannerwf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223760" cy="406336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26280" y="868680"/>
            <a:ext cx="7223760" cy="4063365"/>
          </a:xfrm>
          <a:prstGeom prst="rect">
            <a:avLst/>
          </a:prstGeom>
          <a:noFill/>
          <a:ln w="9525">
            <a:solidFill>
              <a:srgbClr val="DE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Helvetica Neue"/>
              </a:rPr>
              <a:t>Orange Business · Innovation Radar · walkthrough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Menlo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07000"/>
                </a:solidFill>
                <a:latin typeface="Helvetica Neue"/>
              </a:rP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The business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F07000"/>
                </a:solidFill>
                <a:latin typeface="Helvetica Neue"/>
              </a:rPr>
              <a:t>Written about the projection, under 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76856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Thesis, set, sequence, execution, 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Written after every figure is fixed, so the prose cannot disagree with the table beside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10127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64407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It may not state a new figure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48455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A section that introduces a number the plan does not hold is stripped and listed — the same discipline the topic description works under.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398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7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The prose knows its own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81726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A narrative for a committed set may not describe alternatives being weighed, because none were. The prompt splits on the source.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76669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30949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Over-commitment is stated plainly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4997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“This pool runs hot, peaking above the share available for new work, meaning the plan is over-committed.” And what closes the gap.</a:t>
            </a:r>
          </a:p>
        </p:txBody>
      </p:sp>
      <p:pic>
        <p:nvPicPr>
          <p:cNvPr id="18" name="Picture 17" descr="plannerwf_nar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223760" cy="406336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26280" y="868680"/>
            <a:ext cx="7223760" cy="4063365"/>
          </a:xfrm>
          <a:prstGeom prst="rect">
            <a:avLst/>
          </a:prstGeom>
          <a:noFill/>
          <a:ln w="9525">
            <a:solidFill>
              <a:srgbClr val="DE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Helvetica Neue"/>
              </a:rPr>
              <a:t>Orange Business · Innovation Radar · walkthrough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Menlo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07000"/>
                </a:solidFill>
                <a:latin typeface="Helvetica Neue"/>
              </a:rP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3749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The plan as a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F07000"/>
                </a:solidFill>
                <a:latin typeface="Helvetica Neue"/>
              </a:rPr>
              <a:t>In the order a committee reads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76856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Rendered in place, not downloaded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15184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A plan that has to leave the tool to be read is a plan that gets read in a stale copy.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10127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64407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Inputs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48455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Including the effective value of anything you did not state, and where it came from. A plan without its inputs is not reproducible.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398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78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Every selected space, with its economics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81726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Entry year, margin band, overlap discount, capability pool — and the near-misses with the constraint that excluded each.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76669"/>
            <a:ext cx="45720" cy="4572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30949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B0B0B"/>
                </a:solidFill>
                <a:latin typeface="Helvetica Neue"/>
              </a:rPr>
              <a:t>The assumptions, last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4997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6B6963"/>
                </a:solidFill>
                <a:latin typeface="Helvetica Neue"/>
              </a:rPr>
              <a:t>Every band, its owner and its version, exactly as the sales brief does it. The margin and the discount rate are quoted from Orange's own filed accounts.</a:t>
            </a:r>
          </a:p>
        </p:txBody>
      </p:sp>
      <p:pic>
        <p:nvPicPr>
          <p:cNvPr id="18" name="Picture 17" descr="planner_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68680"/>
            <a:ext cx="7223760" cy="406336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26280" y="868680"/>
            <a:ext cx="7223760" cy="4063365"/>
          </a:xfrm>
          <a:prstGeom prst="rect">
            <a:avLst/>
          </a:prstGeom>
          <a:noFill/>
          <a:ln w="9525">
            <a:solidFill>
              <a:srgbClr val="DE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Helvetica Neue"/>
              </a:rPr>
              <a:t>Orange Business · Innovation Radar · walkthrough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6B6963"/>
                </a:solidFill>
                <a:latin typeface="Menlo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0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>
                <a:solidFill>
                  <a:srgbClr val="FFFFFF"/>
                </a:solidFill>
                <a:latin typeface="Helvetica Neue"/>
              </a:rPr>
              <a:t>Everything you just saw is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17520"/>
            <a:ext cx="9509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C3C2B7"/>
                </a:solidFill>
                <a:latin typeface="Helvetica Neue"/>
              </a:rPr>
              <a:t>No screen in this walkthrough is a mock-up. Every number came out of the database at the moment the frame was captured, every document was rendered by the application, and every claim on every screen traces back to a dated, attributable source.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892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F07000"/>
                </a:solidFill>
                <a:latin typeface="Menlo"/>
              </a:rPr>
              <a:t>radar  ·  filter  ·  open full screen  ·  move it on the board  ·  plan the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