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965960"/>
            <a:ext cx="10058400" cy="365760"/>
          </a:xfrm>
          <a:prstGeom prst="rect">
            <a:avLst/>
          </a:prstGeom>
          <a:noFill/>
        </p:spPr>
        <p:txBody>
          <a:bodyPr wrap="square" anchor="t" lIns="0" rIns="0" tIns="0" bIns="0">
            <a:spAutoFit/>
          </a:bodyPr>
          <a:lstStyle/>
          <a:p>
            <a:pPr algn="l">
              <a:lnSpc>
                <a:spcPct val="118000"/>
              </a:lnSpc>
            </a:pPr>
            <a:r>
              <a:rPr sz="1300" b="1">
                <a:solidFill>
                  <a:srgbClr val="F07000"/>
                </a:solidFill>
                <a:latin typeface="Helvetica Neue"/>
              </a:rPr>
              <a:t>ORANGE BUSINESS</a:t>
            </a:r>
          </a:p>
        </p:txBody>
      </p:sp>
      <p:sp>
        <p:nvSpPr>
          <p:cNvPr id="5" name="TextBox 4"/>
          <p:cNvSpPr txBox="1"/>
          <p:nvPr/>
        </p:nvSpPr>
        <p:spPr>
          <a:xfrm>
            <a:off x="1005840" y="2377440"/>
            <a:ext cx="10058400" cy="1280160"/>
          </a:xfrm>
          <a:prstGeom prst="rect">
            <a:avLst/>
          </a:prstGeom>
          <a:noFill/>
        </p:spPr>
        <p:txBody>
          <a:bodyPr wrap="square" anchor="t" lIns="0" rIns="0" tIns="0" bIns="0">
            <a:spAutoFit/>
          </a:bodyPr>
          <a:lstStyle/>
          <a:p>
            <a:pPr algn="l">
              <a:lnSpc>
                <a:spcPct val="105000"/>
              </a:lnSpc>
            </a:pPr>
            <a:r>
              <a:rPr sz="4800" b="1">
                <a:solidFill>
                  <a:srgbClr val="FFFFFF"/>
                </a:solidFill>
                <a:latin typeface="Helvetica Neue"/>
              </a:rPr>
              <a:t>Opportunity Spaces
Innovation Radar</a:t>
            </a:r>
          </a:p>
        </p:txBody>
      </p:sp>
      <p:sp>
        <p:nvSpPr>
          <p:cNvPr id="6" name="TextBox 5"/>
          <p:cNvSpPr txBox="1"/>
          <p:nvPr/>
        </p:nvSpPr>
        <p:spPr>
          <a:xfrm>
            <a:off x="1005840" y="3977639"/>
            <a:ext cx="9144000" cy="822960"/>
          </a:xfrm>
          <a:prstGeom prst="rect">
            <a:avLst/>
          </a:prstGeom>
          <a:noFill/>
        </p:spPr>
        <p:txBody>
          <a:bodyPr wrap="square" anchor="t" lIns="0" rIns="0" tIns="0" bIns="0">
            <a:spAutoFit/>
          </a:bodyPr>
          <a:lstStyle/>
          <a:p>
            <a:pPr algn="l">
              <a:lnSpc>
                <a:spcPct val="118000"/>
              </a:lnSpc>
            </a:pPr>
            <a:r>
              <a:rPr sz="1500" b="0">
                <a:solidFill>
                  <a:srgbClr val="C3C2B7"/>
                </a:solidFill>
                <a:latin typeface="Helvetica Neue"/>
              </a:rPr>
              <a:t>A regularly refreshed view of specific innovation opportunities — each scored on how attractive it is, how urgent the window is, and how strong Orange's right to win is.</a:t>
            </a:r>
          </a:p>
        </p:txBody>
      </p:sp>
      <p:sp>
        <p:nvSpPr>
          <p:cNvPr id="7" name="TextBox 6"/>
          <p:cNvSpPr txBox="1"/>
          <p:nvPr/>
        </p:nvSpPr>
        <p:spPr>
          <a:xfrm>
            <a:off x="1005840" y="5120640"/>
            <a:ext cx="10058400" cy="365760"/>
          </a:xfrm>
          <a:prstGeom prst="rect">
            <a:avLst/>
          </a:prstGeom>
          <a:noFill/>
        </p:spPr>
        <p:txBody>
          <a:bodyPr wrap="square" anchor="t" lIns="0" rIns="0" tIns="0" bIns="0">
            <a:spAutoFit/>
          </a:bodyPr>
          <a:lstStyle/>
          <a:p>
            <a:pPr algn="l">
              <a:lnSpc>
                <a:spcPct val="118000"/>
              </a:lnSpc>
            </a:pPr>
            <a:r>
              <a:rPr sz="1300" b="1">
                <a:solidFill>
                  <a:srgbClr val="FFFFFF"/>
                </a:solidFill>
                <a:latin typeface="Helvetica Neue"/>
              </a:rPr>
              <a:t>MVP walkthrough</a:t>
            </a:r>
            <a:r>
              <a:rPr sz="1300" b="0">
                <a:solidFill>
                  <a:srgbClr val="6B6963"/>
                </a:solidFill>
                <a:latin typeface="Helvetica Neue"/>
              </a:rPr>
              <a:t>   ·   concepts · functionality · planning · architecture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WHY</a:t>
            </a:r>
          </a:p>
        </p:txBody>
      </p:sp>
      <p:sp>
        <p:nvSpPr>
          <p:cNvPr id="4" name="TextBox 3"/>
          <p:cNvSpPr txBox="1"/>
          <p:nvPr/>
        </p:nvSpPr>
        <p:spPr>
          <a:xfrm>
            <a:off x="685800" y="777240"/>
            <a:ext cx="10789920" cy="640080"/>
          </a:xfrm>
          <a:prstGeom prst="rect">
            <a:avLst/>
          </a:prstGeom>
          <a:noFill/>
        </p:spPr>
        <p:txBody>
          <a:bodyPr wrap="square" anchor="t" lIns="0" rIns="0" tIns="0" bIns="0">
            <a:spAutoFit/>
          </a:bodyPr>
          <a:lstStyle/>
          <a:p>
            <a:pPr algn="l">
              <a:lnSpc>
                <a:spcPct val="118000"/>
              </a:lnSpc>
            </a:pPr>
            <a:r>
              <a:rPr sz="3200" b="1">
                <a:solidFill>
                  <a:srgbClr val="0B0B0B"/>
                </a:solidFill>
                <a:latin typeface="Helvetica Neue"/>
              </a:rPr>
              <a:t>The problem is not a shortage of information</a:t>
            </a:r>
          </a:p>
        </p:txBody>
      </p:sp>
      <p:sp>
        <p:nvSpPr>
          <p:cNvPr id="5" name="TextBox 4"/>
          <p:cNvSpPr txBox="1"/>
          <p:nvPr/>
        </p:nvSpPr>
        <p:spPr>
          <a:xfrm>
            <a:off x="685800" y="1737360"/>
            <a:ext cx="5486400" cy="2011680"/>
          </a:xfrm>
          <a:prstGeom prst="rect">
            <a:avLst/>
          </a:prstGeom>
          <a:noFill/>
        </p:spPr>
        <p:txBody>
          <a:bodyPr wrap="square" anchor="t" lIns="0" rIns="0" tIns="0" bIns="0">
            <a:spAutoFit/>
          </a:bodyPr>
          <a:lstStyle/>
          <a:p>
            <a:pPr algn="l">
              <a:lnSpc>
                <a:spcPct val="130000"/>
              </a:lnSpc>
            </a:pPr>
            <a:r>
              <a:rPr sz="1900" b="0">
                <a:solidFill>
                  <a:srgbClr val="0B0B0B"/>
                </a:solidFill>
                <a:latin typeface="Helvetica Neue"/>
              </a:rPr>
              <a:t>The available information about technology is generic, undated, unsourced — and disconnected from what Orange can actually sell.</a:t>
            </a:r>
          </a:p>
        </p:txBody>
      </p:sp>
      <p:sp>
        <p:nvSpPr>
          <p:cNvPr id="6" name="TextBox 5"/>
          <p:cNvSpPr txBox="1"/>
          <p:nvPr/>
        </p:nvSpPr>
        <p:spPr>
          <a:xfrm>
            <a:off x="685800" y="3108960"/>
            <a:ext cx="5486400" cy="2194560"/>
          </a:xfrm>
          <a:prstGeom prst="rect">
            <a:avLst/>
          </a:prstGeom>
          <a:noFill/>
        </p:spPr>
        <p:txBody>
          <a:bodyPr wrap="square" anchor="t" lIns="0" rIns="0" tIns="0" bIns="0">
            <a:spAutoFit/>
          </a:bodyPr>
          <a:lstStyle/>
          <a:p>
            <a:pPr algn="l">
              <a:lnSpc>
                <a:spcPct val="135000"/>
              </a:lnSpc>
            </a:pPr>
            <a:r>
              <a:rPr sz="1500" b="0">
                <a:solidFill>
                  <a:srgbClr val="6B6963"/>
                </a:solidFill>
                <a:latin typeface="Helvetica Neue"/>
              </a:rPr>
              <a:t>The radar's value is the join between an external signal and an internal asset, expressed at a level of specificity a salesperson can use in a meeting on Thursday.</a:t>
            </a:r>
          </a:p>
        </p:txBody>
      </p:sp>
      <p:sp>
        <p:nvSpPr>
          <p:cNvPr id="7" name="Rectangle 6"/>
          <p:cNvSpPr/>
          <p:nvPr/>
        </p:nvSpPr>
        <p:spPr>
          <a:xfrm>
            <a:off x="6583680" y="1645920"/>
            <a:ext cx="4937760" cy="32004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1920240"/>
            <a:ext cx="4389120" cy="274320"/>
          </a:xfrm>
          <a:prstGeom prst="rect">
            <a:avLst/>
          </a:prstGeom>
          <a:noFill/>
        </p:spPr>
        <p:txBody>
          <a:bodyPr wrap="square" anchor="t" lIns="0" rIns="0" tIns="0" bIns="0">
            <a:spAutoFit/>
          </a:bodyPr>
          <a:lstStyle/>
          <a:p>
            <a:pPr algn="l">
              <a:lnSpc>
                <a:spcPct val="118000"/>
              </a:lnSpc>
            </a:pPr>
            <a:r>
              <a:rPr sz="1000" b="1">
                <a:solidFill>
                  <a:srgbClr val="D03B3B"/>
                </a:solidFill>
                <a:latin typeface="Helvetica Neue"/>
              </a:rPr>
              <a:t>REJECTED AS TOPICS</a:t>
            </a:r>
          </a:p>
        </p:txBody>
      </p:sp>
      <p:sp>
        <p:nvSpPr>
          <p:cNvPr id="9" name="TextBox 8"/>
          <p:cNvSpPr txBox="1"/>
          <p:nvPr/>
        </p:nvSpPr>
        <p:spPr>
          <a:xfrm>
            <a:off x="6858000" y="2304288"/>
            <a:ext cx="4389120" cy="365760"/>
          </a:xfrm>
          <a:prstGeom prst="rect">
            <a:avLst/>
          </a:prstGeom>
          <a:noFill/>
        </p:spPr>
        <p:txBody>
          <a:bodyPr wrap="square" anchor="t" lIns="0" rIns="0" tIns="0" bIns="0">
            <a:spAutoFit/>
          </a:bodyPr>
          <a:lstStyle/>
          <a:p>
            <a:pPr algn="l">
              <a:lnSpc>
                <a:spcPct val="118000"/>
              </a:lnSpc>
            </a:pPr>
            <a:r>
              <a:rPr sz="1500" b="0">
                <a:solidFill>
                  <a:srgbClr val="0B0B0B"/>
                </a:solidFill>
                <a:latin typeface="Helvetica Neue"/>
              </a:rPr>
              <a:t>"AI"</a:t>
            </a:r>
          </a:p>
        </p:txBody>
      </p:sp>
      <p:sp>
        <p:nvSpPr>
          <p:cNvPr id="10" name="TextBox 9"/>
          <p:cNvSpPr txBox="1"/>
          <p:nvPr/>
        </p:nvSpPr>
        <p:spPr>
          <a:xfrm>
            <a:off x="6858000" y="2633472"/>
            <a:ext cx="4389120" cy="365760"/>
          </a:xfrm>
          <a:prstGeom prst="rect">
            <a:avLst/>
          </a:prstGeom>
          <a:noFill/>
        </p:spPr>
        <p:txBody>
          <a:bodyPr wrap="square" anchor="t" lIns="0" rIns="0" tIns="0" bIns="0">
            <a:spAutoFit/>
          </a:bodyPr>
          <a:lstStyle/>
          <a:p>
            <a:pPr algn="l">
              <a:lnSpc>
                <a:spcPct val="118000"/>
              </a:lnSpc>
            </a:pPr>
            <a:r>
              <a:rPr sz="1500" b="0">
                <a:solidFill>
                  <a:srgbClr val="0B0B0B"/>
                </a:solidFill>
                <a:latin typeface="Helvetica Neue"/>
              </a:rPr>
              <a:t>"Cloud"</a:t>
            </a:r>
          </a:p>
        </p:txBody>
      </p:sp>
      <p:sp>
        <p:nvSpPr>
          <p:cNvPr id="11" name="TextBox 10"/>
          <p:cNvSpPr txBox="1"/>
          <p:nvPr/>
        </p:nvSpPr>
        <p:spPr>
          <a:xfrm>
            <a:off x="6858000" y="2962656"/>
            <a:ext cx="4389120" cy="365760"/>
          </a:xfrm>
          <a:prstGeom prst="rect">
            <a:avLst/>
          </a:prstGeom>
          <a:noFill/>
        </p:spPr>
        <p:txBody>
          <a:bodyPr wrap="square" anchor="t" lIns="0" rIns="0" tIns="0" bIns="0">
            <a:spAutoFit/>
          </a:bodyPr>
          <a:lstStyle/>
          <a:p>
            <a:pPr algn="l">
              <a:lnSpc>
                <a:spcPct val="118000"/>
              </a:lnSpc>
            </a:pPr>
            <a:r>
              <a:rPr sz="1500" b="0">
                <a:solidFill>
                  <a:srgbClr val="0B0B0B"/>
                </a:solidFill>
                <a:latin typeface="Helvetica Neue"/>
              </a:rPr>
              <a:t>"Cybersecurity"</a:t>
            </a:r>
          </a:p>
        </p:txBody>
      </p:sp>
      <p:sp>
        <p:nvSpPr>
          <p:cNvPr id="12" name="TextBox 11"/>
          <p:cNvSpPr txBox="1"/>
          <p:nvPr/>
        </p:nvSpPr>
        <p:spPr>
          <a:xfrm>
            <a:off x="6858000" y="3291840"/>
            <a:ext cx="4389120" cy="365760"/>
          </a:xfrm>
          <a:prstGeom prst="rect">
            <a:avLst/>
          </a:prstGeom>
          <a:noFill/>
        </p:spPr>
        <p:txBody>
          <a:bodyPr wrap="square" anchor="t" lIns="0" rIns="0" tIns="0" bIns="0">
            <a:spAutoFit/>
          </a:bodyPr>
          <a:lstStyle/>
          <a:p>
            <a:pPr algn="l">
              <a:lnSpc>
                <a:spcPct val="118000"/>
              </a:lnSpc>
            </a:pPr>
            <a:r>
              <a:rPr sz="1500" b="0">
                <a:solidFill>
                  <a:srgbClr val="0B0B0B"/>
                </a:solidFill>
                <a:latin typeface="Helvetica Neue"/>
              </a:rPr>
              <a:t>"Digital transformation in retail"</a:t>
            </a:r>
          </a:p>
        </p:txBody>
      </p:sp>
      <p:sp>
        <p:nvSpPr>
          <p:cNvPr id="13" name="TextBox 12"/>
          <p:cNvSpPr txBox="1"/>
          <p:nvPr/>
        </p:nvSpPr>
        <p:spPr>
          <a:xfrm>
            <a:off x="6858000" y="3703320"/>
            <a:ext cx="4389120" cy="274320"/>
          </a:xfrm>
          <a:prstGeom prst="rect">
            <a:avLst/>
          </a:prstGeom>
          <a:noFill/>
        </p:spPr>
        <p:txBody>
          <a:bodyPr wrap="square" anchor="t" lIns="0" rIns="0" tIns="0" bIns="0">
            <a:spAutoFit/>
          </a:bodyPr>
          <a:lstStyle/>
          <a:p>
            <a:pPr algn="l">
              <a:lnSpc>
                <a:spcPct val="118000"/>
              </a:lnSpc>
            </a:pPr>
            <a:r>
              <a:rPr sz="1000" b="1">
                <a:solidFill>
                  <a:srgbClr val="0CA30C"/>
                </a:solidFill>
                <a:latin typeface="Helvetica Neue"/>
              </a:rPr>
              <a:t>WHAT A TOPIC MUST LOOK LIKE</a:t>
            </a:r>
          </a:p>
        </p:txBody>
      </p:sp>
      <p:sp>
        <p:nvSpPr>
          <p:cNvPr id="14" name="TextBox 13"/>
          <p:cNvSpPr txBox="1"/>
          <p:nvPr/>
        </p:nvSpPr>
        <p:spPr>
          <a:xfrm>
            <a:off x="6858000" y="4023360"/>
            <a:ext cx="4389120" cy="731520"/>
          </a:xfrm>
          <a:prstGeom prst="rect">
            <a:avLst/>
          </a:prstGeom>
          <a:noFill/>
        </p:spPr>
        <p:txBody>
          <a:bodyPr wrap="square" anchor="t" lIns="0" rIns="0" tIns="0" bIns="0">
            <a:spAutoFit/>
          </a:bodyPr>
          <a:lstStyle/>
          <a:p>
            <a:pPr algn="l">
              <a:lnSpc>
                <a:spcPct val="118000"/>
              </a:lnSpc>
            </a:pPr>
            <a:r>
              <a:rPr sz="1400" b="1">
                <a:solidFill>
                  <a:srgbClr val="0B0B0B"/>
                </a:solidFill>
                <a:latin typeface="Helvetica Neue"/>
              </a:rPr>
              <a:t>Private 5G plus edge vision for safety compliance in mining</a:t>
            </a:r>
          </a:p>
        </p:txBody>
      </p:sp>
      <p:sp>
        <p:nvSpPr>
          <p:cNvPr id="15" name="TextBox 14"/>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16" name="TextBox 15"/>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CONCEPT</a:t>
            </a:r>
          </a:p>
        </p:txBody>
      </p:sp>
      <p:sp>
        <p:nvSpPr>
          <p:cNvPr id="4" name="TextBox 3"/>
          <p:cNvSpPr txBox="1"/>
          <p:nvPr/>
        </p:nvSpPr>
        <p:spPr>
          <a:xfrm>
            <a:off x="685800" y="777240"/>
            <a:ext cx="10789920" cy="640080"/>
          </a:xfrm>
          <a:prstGeom prst="rect">
            <a:avLst/>
          </a:prstGeom>
          <a:noFill/>
        </p:spPr>
        <p:txBody>
          <a:bodyPr wrap="square" anchor="t" lIns="0" rIns="0" tIns="0" bIns="0">
            <a:spAutoFit/>
          </a:bodyPr>
          <a:lstStyle/>
          <a:p>
            <a:pPr algn="l">
              <a:lnSpc>
                <a:spcPct val="118000"/>
              </a:lnSpc>
            </a:pPr>
            <a:r>
              <a:rPr sz="3200" b="1">
                <a:solidFill>
                  <a:srgbClr val="0B0B0B"/>
                </a:solidFill>
                <a:latin typeface="Helvetica Neue"/>
              </a:rPr>
              <a:t>An opportunity space is a triple</a:t>
            </a:r>
          </a:p>
        </p:txBody>
      </p:sp>
      <p:sp>
        <p:nvSpPr>
          <p:cNvPr id="5" name="TextBox 4"/>
          <p:cNvSpPr txBox="1"/>
          <p:nvPr/>
        </p:nvSpPr>
        <p:spPr>
          <a:xfrm>
            <a:off x="685800" y="1481328"/>
            <a:ext cx="10058400" cy="457200"/>
          </a:xfrm>
          <a:prstGeom prst="rect">
            <a:avLst/>
          </a:prstGeom>
          <a:noFill/>
        </p:spPr>
        <p:txBody>
          <a:bodyPr wrap="square" anchor="t" lIns="0" rIns="0" tIns="0" bIns="0">
            <a:spAutoFit/>
          </a:bodyPr>
          <a:lstStyle/>
          <a:p>
            <a:pPr algn="l">
              <a:lnSpc>
                <a:spcPct val="118000"/>
              </a:lnSpc>
            </a:pPr>
            <a:r>
              <a:rPr sz="1500" b="0">
                <a:solidFill>
                  <a:srgbClr val="6B6963"/>
                </a:solidFill>
                <a:latin typeface="Helvetica Neue"/>
              </a:rPr>
              <a:t>Identity is the triple. The statement is a rendering of it — both are stored.</a:t>
            </a:r>
          </a:p>
        </p:txBody>
      </p:sp>
      <p:sp>
        <p:nvSpPr>
          <p:cNvPr id="6" name="Rectangle 5"/>
          <p:cNvSpPr/>
          <p:nvPr/>
        </p:nvSpPr>
        <p:spPr>
          <a:xfrm>
            <a:off x="685800" y="2148840"/>
            <a:ext cx="3063240" cy="13716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77440"/>
            <a:ext cx="2606040" cy="274320"/>
          </a:xfrm>
          <a:prstGeom prst="rect">
            <a:avLst/>
          </a:prstGeom>
          <a:noFill/>
        </p:spPr>
        <p:txBody>
          <a:bodyPr wrap="square" anchor="t" lIns="0" rIns="0" tIns="0" bIns="0">
            <a:spAutoFit/>
          </a:bodyPr>
          <a:lstStyle/>
          <a:p>
            <a:pPr algn="l">
              <a:lnSpc>
                <a:spcPct val="118000"/>
              </a:lnSpc>
            </a:pPr>
            <a:r>
              <a:rPr sz="1000" b="1">
                <a:solidFill>
                  <a:srgbClr val="F07000"/>
                </a:solidFill>
                <a:latin typeface="Helvetica Neue"/>
              </a:rPr>
              <a:t>VERTICAL</a:t>
            </a:r>
          </a:p>
        </p:txBody>
      </p:sp>
      <p:sp>
        <p:nvSpPr>
          <p:cNvPr id="8" name="TextBox 7"/>
          <p:cNvSpPr txBox="1"/>
          <p:nvPr/>
        </p:nvSpPr>
        <p:spPr>
          <a:xfrm>
            <a:off x="914400" y="2715768"/>
            <a:ext cx="2606040" cy="640080"/>
          </a:xfrm>
          <a:prstGeom prst="rect">
            <a:avLst/>
          </a:prstGeom>
          <a:noFill/>
        </p:spPr>
        <p:txBody>
          <a:bodyPr wrap="square" anchor="t" lIns="0" rIns="0" tIns="0" bIns="0">
            <a:spAutoFit/>
          </a:bodyPr>
          <a:lstStyle/>
          <a:p>
            <a:pPr algn="l">
              <a:lnSpc>
                <a:spcPct val="118000"/>
              </a:lnSpc>
            </a:pPr>
            <a:r>
              <a:rPr sz="1800" b="1">
                <a:solidFill>
                  <a:srgbClr val="0B0B0B"/>
                </a:solidFill>
                <a:latin typeface="Helvetica Neue"/>
              </a:rPr>
              <a:t>Manufacturing</a:t>
            </a:r>
          </a:p>
        </p:txBody>
      </p:sp>
      <p:sp>
        <p:nvSpPr>
          <p:cNvPr id="9" name="TextBox 8"/>
          <p:cNvSpPr txBox="1"/>
          <p:nvPr/>
        </p:nvSpPr>
        <p:spPr>
          <a:xfrm>
            <a:off x="3867912" y="2606040"/>
            <a:ext cx="274320" cy="365760"/>
          </a:xfrm>
          <a:prstGeom prst="rect">
            <a:avLst/>
          </a:prstGeom>
          <a:noFill/>
        </p:spPr>
        <p:txBody>
          <a:bodyPr wrap="square" anchor="t" lIns="0" rIns="0" tIns="0" bIns="0">
            <a:spAutoFit/>
          </a:bodyPr>
          <a:lstStyle/>
          <a:p>
            <a:pPr algn="l">
              <a:lnSpc>
                <a:spcPct val="118000"/>
              </a:lnSpc>
            </a:pPr>
            <a:r>
              <a:rPr sz="2400" b="1">
                <a:solidFill>
                  <a:srgbClr val="6B6963"/>
                </a:solidFill>
                <a:latin typeface="Helvetica Neue"/>
              </a:rPr>
              <a:t>×</a:t>
            </a:r>
          </a:p>
        </p:txBody>
      </p:sp>
      <p:sp>
        <p:nvSpPr>
          <p:cNvPr id="10" name="Rectangle 9"/>
          <p:cNvSpPr/>
          <p:nvPr/>
        </p:nvSpPr>
        <p:spPr>
          <a:xfrm>
            <a:off x="4206240" y="2148840"/>
            <a:ext cx="3063240" cy="13716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2377440"/>
            <a:ext cx="2606040" cy="274320"/>
          </a:xfrm>
          <a:prstGeom prst="rect">
            <a:avLst/>
          </a:prstGeom>
          <a:noFill/>
        </p:spPr>
        <p:txBody>
          <a:bodyPr wrap="square" anchor="t" lIns="0" rIns="0" tIns="0" bIns="0">
            <a:spAutoFit/>
          </a:bodyPr>
          <a:lstStyle/>
          <a:p>
            <a:pPr algn="l">
              <a:lnSpc>
                <a:spcPct val="118000"/>
              </a:lnSpc>
            </a:pPr>
            <a:r>
              <a:rPr sz="1000" b="1">
                <a:solidFill>
                  <a:srgbClr val="F07000"/>
                </a:solidFill>
                <a:latin typeface="Helvetica Neue"/>
              </a:rPr>
              <a:t>USE CASE</a:t>
            </a:r>
          </a:p>
        </p:txBody>
      </p:sp>
      <p:sp>
        <p:nvSpPr>
          <p:cNvPr id="12" name="TextBox 11"/>
          <p:cNvSpPr txBox="1"/>
          <p:nvPr/>
        </p:nvSpPr>
        <p:spPr>
          <a:xfrm>
            <a:off x="4434840" y="2715768"/>
            <a:ext cx="2606040" cy="640080"/>
          </a:xfrm>
          <a:prstGeom prst="rect">
            <a:avLst/>
          </a:prstGeom>
          <a:noFill/>
        </p:spPr>
        <p:txBody>
          <a:bodyPr wrap="square" anchor="t" lIns="0" rIns="0" tIns="0" bIns="0">
            <a:spAutoFit/>
          </a:bodyPr>
          <a:lstStyle/>
          <a:p>
            <a:pPr algn="l">
              <a:lnSpc>
                <a:spcPct val="118000"/>
              </a:lnSpc>
            </a:pPr>
            <a:r>
              <a:rPr sz="1800" b="1">
                <a:solidFill>
                  <a:srgbClr val="0B0B0B"/>
                </a:solidFill>
                <a:latin typeface="Helvetica Neue"/>
              </a:rPr>
              <a:t>OT / ICS security</a:t>
            </a:r>
          </a:p>
        </p:txBody>
      </p:sp>
      <p:sp>
        <p:nvSpPr>
          <p:cNvPr id="13" name="TextBox 12"/>
          <p:cNvSpPr txBox="1"/>
          <p:nvPr/>
        </p:nvSpPr>
        <p:spPr>
          <a:xfrm>
            <a:off x="7388352" y="2606040"/>
            <a:ext cx="274320" cy="365760"/>
          </a:xfrm>
          <a:prstGeom prst="rect">
            <a:avLst/>
          </a:prstGeom>
          <a:noFill/>
        </p:spPr>
        <p:txBody>
          <a:bodyPr wrap="square" anchor="t" lIns="0" rIns="0" tIns="0" bIns="0">
            <a:spAutoFit/>
          </a:bodyPr>
          <a:lstStyle/>
          <a:p>
            <a:pPr algn="l">
              <a:lnSpc>
                <a:spcPct val="118000"/>
              </a:lnSpc>
            </a:pPr>
            <a:r>
              <a:rPr sz="2400" b="1">
                <a:solidFill>
                  <a:srgbClr val="6B6963"/>
                </a:solidFill>
                <a:latin typeface="Helvetica Neue"/>
              </a:rPr>
              <a:t>×</a:t>
            </a:r>
          </a:p>
        </p:txBody>
      </p:sp>
      <p:sp>
        <p:nvSpPr>
          <p:cNvPr id="14" name="Rectangle 13"/>
          <p:cNvSpPr/>
          <p:nvPr/>
        </p:nvSpPr>
        <p:spPr>
          <a:xfrm>
            <a:off x="7726680" y="2148840"/>
            <a:ext cx="3063240" cy="13716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0" y="2377440"/>
            <a:ext cx="2606040" cy="274320"/>
          </a:xfrm>
          <a:prstGeom prst="rect">
            <a:avLst/>
          </a:prstGeom>
          <a:noFill/>
        </p:spPr>
        <p:txBody>
          <a:bodyPr wrap="square" anchor="t" lIns="0" rIns="0" tIns="0" bIns="0">
            <a:spAutoFit/>
          </a:bodyPr>
          <a:lstStyle/>
          <a:p>
            <a:pPr algn="l">
              <a:lnSpc>
                <a:spcPct val="118000"/>
              </a:lnSpc>
            </a:pPr>
            <a:r>
              <a:rPr sz="1000" b="1">
                <a:solidFill>
                  <a:srgbClr val="F07000"/>
                </a:solidFill>
                <a:latin typeface="Helvetica Neue"/>
              </a:rPr>
              <a:t>TECHNOLOGY</a:t>
            </a:r>
          </a:p>
        </p:txBody>
      </p:sp>
      <p:sp>
        <p:nvSpPr>
          <p:cNvPr id="16" name="TextBox 15"/>
          <p:cNvSpPr txBox="1"/>
          <p:nvPr/>
        </p:nvSpPr>
        <p:spPr>
          <a:xfrm>
            <a:off x="7955280" y="2715768"/>
            <a:ext cx="2606040" cy="640080"/>
          </a:xfrm>
          <a:prstGeom prst="rect">
            <a:avLst/>
          </a:prstGeom>
          <a:noFill/>
        </p:spPr>
        <p:txBody>
          <a:bodyPr wrap="square" anchor="t" lIns="0" rIns="0" tIns="0" bIns="0">
            <a:spAutoFit/>
          </a:bodyPr>
          <a:lstStyle/>
          <a:p>
            <a:pPr algn="l">
              <a:lnSpc>
                <a:spcPct val="118000"/>
              </a:lnSpc>
            </a:pPr>
            <a:r>
              <a:rPr sz="1800" b="1">
                <a:solidFill>
                  <a:srgbClr val="0B0B0B"/>
                </a:solidFill>
                <a:latin typeface="Helvetica Neue"/>
              </a:rPr>
              <a:t>SIEM and SOAR</a:t>
            </a:r>
          </a:p>
        </p:txBody>
      </p:sp>
      <p:sp>
        <p:nvSpPr>
          <p:cNvPr id="17" name="Rectangle 16"/>
          <p:cNvSpPr/>
          <p:nvPr/>
        </p:nvSpPr>
        <p:spPr>
          <a:xfrm>
            <a:off x="685800" y="3931920"/>
            <a:ext cx="10881360" cy="914400"/>
          </a:xfrm>
          <a:prstGeom prst="rect">
            <a:avLst/>
          </a:prstGeom>
          <a:noFill/>
          <a:ln w="19050">
            <a:solidFill>
              <a:srgbClr val="F07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160520"/>
            <a:ext cx="10332720" cy="548640"/>
          </a:xfrm>
          <a:prstGeom prst="rect">
            <a:avLst/>
          </a:prstGeom>
          <a:noFill/>
        </p:spPr>
        <p:txBody>
          <a:bodyPr wrap="square" anchor="t" lIns="0" rIns="0" tIns="0" bIns="0">
            <a:spAutoFit/>
          </a:bodyPr>
          <a:lstStyle/>
          <a:p>
            <a:pPr algn="l">
              <a:lnSpc>
                <a:spcPct val="118000"/>
              </a:lnSpc>
            </a:pPr>
            <a:r>
              <a:rPr sz="1700" b="1">
                <a:solidFill>
                  <a:srgbClr val="0B0B0B"/>
                </a:solidFill>
                <a:latin typeface="Helvetica Neue"/>
              </a:rPr>
              <a:t>SIEM/SOAR-based OT security analytics for legacy SCADA and ICS in brownfield manufacturing sites.</a:t>
            </a:r>
          </a:p>
        </p:txBody>
      </p:sp>
      <p:sp>
        <p:nvSpPr>
          <p:cNvPr id="19" name="TextBox 18"/>
          <p:cNvSpPr txBox="1"/>
          <p:nvPr/>
        </p:nvSpPr>
        <p:spPr>
          <a:xfrm>
            <a:off x="685800" y="5029200"/>
            <a:ext cx="10881360" cy="457200"/>
          </a:xfrm>
          <a:prstGeom prst="rect">
            <a:avLst/>
          </a:prstGeom>
          <a:noFill/>
        </p:spPr>
        <p:txBody>
          <a:bodyPr wrap="square" anchor="t" lIns="0" rIns="0" tIns="0" bIns="0">
            <a:spAutoFit/>
          </a:bodyPr>
          <a:lstStyle/>
          <a:p>
            <a:pPr algn="l">
              <a:lnSpc>
                <a:spcPct val="118000"/>
              </a:lnSpc>
            </a:pPr>
            <a:r>
              <a:rPr sz="1250" b="0">
                <a:solidFill>
                  <a:srgbClr val="6B6963"/>
                </a:solidFill>
                <a:latin typeface="Helvetica Neue"/>
              </a:rPr>
              <a:t>The triple gives deduplication and filtering. The statement gives the specificity a salesperson needs. A candidate that does not resolve to exactly one of each fails validation.</a:t>
            </a:r>
          </a:p>
        </p:txBody>
      </p:sp>
      <p:sp>
        <p:nvSpPr>
          <p:cNvPr id="20" name="TextBox 19"/>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21" name="TextBox 20"/>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CONCEPT</a:t>
            </a:r>
          </a:p>
        </p:txBody>
      </p:sp>
      <p:sp>
        <p:nvSpPr>
          <p:cNvPr id="4" name="TextBox 3"/>
          <p:cNvSpPr txBox="1"/>
          <p:nvPr/>
        </p:nvSpPr>
        <p:spPr>
          <a:xfrm>
            <a:off x="685800" y="777240"/>
            <a:ext cx="10789920" cy="640080"/>
          </a:xfrm>
          <a:prstGeom prst="rect">
            <a:avLst/>
          </a:prstGeom>
          <a:noFill/>
        </p:spPr>
        <p:txBody>
          <a:bodyPr wrap="square" anchor="t" lIns="0" rIns="0" tIns="0" bIns="0">
            <a:spAutoFit/>
          </a:bodyPr>
          <a:lstStyle/>
          <a:p>
            <a:pPr algn="l">
              <a:lnSpc>
                <a:spcPct val="118000"/>
              </a:lnSpc>
            </a:pPr>
            <a:r>
              <a:rPr sz="3200" b="1">
                <a:solidFill>
                  <a:srgbClr val="0B0B0B"/>
                </a:solidFill>
                <a:latin typeface="Helvetica Neue"/>
              </a:rPr>
              <a:t>Two scores, never one</a:t>
            </a:r>
          </a:p>
        </p:txBody>
      </p:sp>
      <p:sp>
        <p:nvSpPr>
          <p:cNvPr id="5" name="TextBox 4"/>
          <p:cNvSpPr txBox="1"/>
          <p:nvPr/>
        </p:nvSpPr>
        <p:spPr>
          <a:xfrm>
            <a:off x="685800" y="1481328"/>
            <a:ext cx="10058400" cy="457200"/>
          </a:xfrm>
          <a:prstGeom prst="rect">
            <a:avLst/>
          </a:prstGeom>
          <a:noFill/>
        </p:spPr>
        <p:txBody>
          <a:bodyPr wrap="square" anchor="t" lIns="0" rIns="0" tIns="0" bIns="0">
            <a:spAutoFit/>
          </a:bodyPr>
          <a:lstStyle/>
          <a:p>
            <a:pPr algn="l">
              <a:lnSpc>
                <a:spcPct val="118000"/>
              </a:lnSpc>
            </a:pPr>
            <a:r>
              <a:rPr sz="1500" b="0">
                <a:solidFill>
                  <a:srgbClr val="6B6963"/>
                </a:solidFill>
                <a:latin typeface="Helvetica Neue"/>
              </a:rPr>
              <a:t>They answer different questions and are owned by different people.</a:t>
            </a:r>
          </a:p>
        </p:txBody>
      </p:sp>
      <p:sp>
        <p:nvSpPr>
          <p:cNvPr id="6" name="Rectangle 5"/>
          <p:cNvSpPr/>
          <p:nvPr/>
        </p:nvSpPr>
        <p:spPr>
          <a:xfrm>
            <a:off x="685800" y="2148840"/>
            <a:ext cx="3520440" cy="306324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148840"/>
            <a:ext cx="3520440" cy="64008"/>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2441448"/>
            <a:ext cx="3008376"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ATTRACTIVENESS</a:t>
            </a:r>
          </a:p>
        </p:txBody>
      </p:sp>
      <p:sp>
        <p:nvSpPr>
          <p:cNvPr id="9" name="TextBox 8"/>
          <p:cNvSpPr txBox="1"/>
          <p:nvPr/>
        </p:nvSpPr>
        <p:spPr>
          <a:xfrm>
            <a:off x="941832" y="2752344"/>
            <a:ext cx="3008376" cy="365760"/>
          </a:xfrm>
          <a:prstGeom prst="rect">
            <a:avLst/>
          </a:prstGeom>
          <a:noFill/>
        </p:spPr>
        <p:txBody>
          <a:bodyPr wrap="square" anchor="t" lIns="0" rIns="0" tIns="0" bIns="0">
            <a:spAutoFit/>
          </a:bodyPr>
          <a:lstStyle/>
          <a:p>
            <a:pPr algn="l">
              <a:lnSpc>
                <a:spcPct val="118000"/>
              </a:lnSpc>
            </a:pPr>
            <a:r>
              <a:rPr sz="1600" b="1">
                <a:solidFill>
                  <a:srgbClr val="0B0B0B"/>
                </a:solidFill>
                <a:latin typeface="Helvetica Neue"/>
              </a:rPr>
              <a:t>Is the world moving?</a:t>
            </a:r>
          </a:p>
        </p:txBody>
      </p:sp>
      <p:sp>
        <p:nvSpPr>
          <p:cNvPr id="10" name="TextBox 9"/>
          <p:cNvSpPr txBox="1"/>
          <p:nvPr/>
        </p:nvSpPr>
        <p:spPr>
          <a:xfrm>
            <a:off x="941832" y="3246120"/>
            <a:ext cx="3008376" cy="1188720"/>
          </a:xfrm>
          <a:prstGeom prst="rect">
            <a:avLst/>
          </a:prstGeom>
          <a:noFill/>
        </p:spPr>
        <p:txBody>
          <a:bodyPr wrap="square" anchor="t" lIns="0" rIns="0" tIns="0" bIns="0">
            <a:spAutoFit/>
          </a:bodyPr>
          <a:lstStyle/>
          <a:p>
            <a:pPr algn="l">
              <a:lnSpc>
                <a:spcPct val="130000"/>
              </a:lnSpc>
            </a:pPr>
            <a:r>
              <a:rPr sz="1150" b="0">
                <a:solidFill>
                  <a:srgbClr val="6B6963"/>
                </a:solidFill>
                <a:latin typeface="Helvetica Neue"/>
              </a:rPr>
              <a:t>Market signal strength · Source diversity · Evidence quality · Novelty and momentum · Strategic relevance</a:t>
            </a:r>
          </a:p>
        </p:txBody>
      </p:sp>
      <p:sp>
        <p:nvSpPr>
          <p:cNvPr id="11" name="TextBox 10"/>
          <p:cNvSpPr txBox="1"/>
          <p:nvPr/>
        </p:nvSpPr>
        <p:spPr>
          <a:xfrm>
            <a:off x="941832" y="4544568"/>
            <a:ext cx="3008376" cy="548640"/>
          </a:xfrm>
          <a:prstGeom prst="rect">
            <a:avLst/>
          </a:prstGeom>
          <a:noFill/>
        </p:spPr>
        <p:txBody>
          <a:bodyPr wrap="square" anchor="t" lIns="0" rIns="0" tIns="0" bIns="0">
            <a:spAutoFit/>
          </a:bodyPr>
          <a:lstStyle/>
          <a:p>
            <a:pPr algn="l">
              <a:lnSpc>
                <a:spcPct val="125000"/>
              </a:lnSpc>
            </a:pPr>
            <a:r>
              <a:rPr sz="1050" b="0">
                <a:solidFill>
                  <a:srgbClr val="0B0B0B"/>
                </a:solidFill>
                <a:latin typeface="Helvetica Neue"/>
              </a:rPr>
              <a:t>Computed from external evidence only.</a:t>
            </a:r>
          </a:p>
        </p:txBody>
      </p:sp>
      <p:sp>
        <p:nvSpPr>
          <p:cNvPr id="12" name="Rectangle 11"/>
          <p:cNvSpPr/>
          <p:nvPr/>
        </p:nvSpPr>
        <p:spPr>
          <a:xfrm>
            <a:off x="4462272" y="2148840"/>
            <a:ext cx="3520440" cy="306324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62272" y="2148840"/>
            <a:ext cx="352044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18304" y="2441448"/>
            <a:ext cx="3008376" cy="274320"/>
          </a:xfrm>
          <a:prstGeom prst="rect">
            <a:avLst/>
          </a:prstGeom>
          <a:noFill/>
        </p:spPr>
        <p:txBody>
          <a:bodyPr wrap="square" anchor="t" lIns="0" rIns="0" tIns="0" bIns="0">
            <a:spAutoFit/>
          </a:bodyPr>
          <a:lstStyle/>
          <a:p>
            <a:pPr algn="l">
              <a:lnSpc>
                <a:spcPct val="118000"/>
              </a:lnSpc>
            </a:pPr>
            <a:r>
              <a:rPr sz="1100" b="1">
                <a:solidFill>
                  <a:srgbClr val="2A78D6"/>
                </a:solidFill>
                <a:latin typeface="Helvetica Neue"/>
              </a:rPr>
              <a:t>RIGHT TO WIN</a:t>
            </a:r>
          </a:p>
        </p:txBody>
      </p:sp>
      <p:sp>
        <p:nvSpPr>
          <p:cNvPr id="15" name="TextBox 14"/>
          <p:cNvSpPr txBox="1"/>
          <p:nvPr/>
        </p:nvSpPr>
        <p:spPr>
          <a:xfrm>
            <a:off x="4718304" y="2752344"/>
            <a:ext cx="3008376" cy="365760"/>
          </a:xfrm>
          <a:prstGeom prst="rect">
            <a:avLst/>
          </a:prstGeom>
          <a:noFill/>
        </p:spPr>
        <p:txBody>
          <a:bodyPr wrap="square" anchor="t" lIns="0" rIns="0" tIns="0" bIns="0">
            <a:spAutoFit/>
          </a:bodyPr>
          <a:lstStyle/>
          <a:p>
            <a:pPr algn="l">
              <a:lnSpc>
                <a:spcPct val="118000"/>
              </a:lnSpc>
            </a:pPr>
            <a:r>
              <a:rPr sz="1600" b="1">
                <a:solidFill>
                  <a:srgbClr val="0B0B0B"/>
                </a:solidFill>
                <a:latin typeface="Helvetica Neue"/>
              </a:rPr>
              <a:t>Can we play, can we win?</a:t>
            </a:r>
          </a:p>
        </p:txBody>
      </p:sp>
      <p:sp>
        <p:nvSpPr>
          <p:cNvPr id="16" name="TextBox 15"/>
          <p:cNvSpPr txBox="1"/>
          <p:nvPr/>
        </p:nvSpPr>
        <p:spPr>
          <a:xfrm>
            <a:off x="4718304" y="3246120"/>
            <a:ext cx="3008376" cy="1188720"/>
          </a:xfrm>
          <a:prstGeom prst="rect">
            <a:avLst/>
          </a:prstGeom>
          <a:noFill/>
        </p:spPr>
        <p:txBody>
          <a:bodyPr wrap="square" anchor="t" lIns="0" rIns="0" tIns="0" bIns="0">
            <a:spAutoFit/>
          </a:bodyPr>
          <a:lstStyle/>
          <a:p>
            <a:pPr algn="l">
              <a:lnSpc>
                <a:spcPct val="130000"/>
              </a:lnSpc>
            </a:pPr>
            <a:r>
              <a:rPr sz="1150" b="0">
                <a:solidFill>
                  <a:srgbClr val="6B6963"/>
                </a:solidFill>
                <a:latin typeface="Helvetica Neue"/>
              </a:rPr>
              <a:t>Offer match · Reference density · Partner coverage · Compliance fit · Capability depth · Analyst recognition · Technology ownership</a:t>
            </a:r>
          </a:p>
        </p:txBody>
      </p:sp>
      <p:sp>
        <p:nvSpPr>
          <p:cNvPr id="17" name="TextBox 16"/>
          <p:cNvSpPr txBox="1"/>
          <p:nvPr/>
        </p:nvSpPr>
        <p:spPr>
          <a:xfrm>
            <a:off x="4718304" y="4544568"/>
            <a:ext cx="3008376" cy="548640"/>
          </a:xfrm>
          <a:prstGeom prst="rect">
            <a:avLst/>
          </a:prstGeom>
          <a:noFill/>
        </p:spPr>
        <p:txBody>
          <a:bodyPr wrap="square" anchor="t" lIns="0" rIns="0" tIns="0" bIns="0">
            <a:spAutoFit/>
          </a:bodyPr>
          <a:lstStyle/>
          <a:p>
            <a:pPr algn="l">
              <a:lnSpc>
                <a:spcPct val="125000"/>
              </a:lnSpc>
            </a:pPr>
            <a:r>
              <a:rPr sz="1050" b="0">
                <a:solidFill>
                  <a:srgbClr val="0B0B0B"/>
                </a:solidFill>
                <a:latin typeface="Helvetica Neue"/>
              </a:rPr>
              <a:t>Computed from the Orange Business Graph as named query results — never asserted by a model.</a:t>
            </a:r>
          </a:p>
        </p:txBody>
      </p:sp>
      <p:sp>
        <p:nvSpPr>
          <p:cNvPr id="18" name="Rectangle 17"/>
          <p:cNvSpPr/>
          <p:nvPr/>
        </p:nvSpPr>
        <p:spPr>
          <a:xfrm>
            <a:off x="8238744" y="2148840"/>
            <a:ext cx="3520440" cy="306324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38744" y="2148840"/>
            <a:ext cx="3520440" cy="64008"/>
          </a:xfrm>
          <a:prstGeom prst="rect">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94776" y="2441448"/>
            <a:ext cx="3008376" cy="274320"/>
          </a:xfrm>
          <a:prstGeom prst="rect">
            <a:avLst/>
          </a:prstGeom>
          <a:noFill/>
        </p:spPr>
        <p:txBody>
          <a:bodyPr wrap="square" anchor="t" lIns="0" rIns="0" tIns="0" bIns="0">
            <a:spAutoFit/>
          </a:bodyPr>
          <a:lstStyle/>
          <a:p>
            <a:pPr algn="l">
              <a:lnSpc>
                <a:spcPct val="118000"/>
              </a:lnSpc>
            </a:pPr>
            <a:r>
              <a:rPr sz="1100" b="1">
                <a:solidFill>
                  <a:srgbClr val="0CA30C"/>
                </a:solidFill>
                <a:latin typeface="Helvetica Neue"/>
              </a:rPr>
              <a:t>CONVICTION</a:t>
            </a:r>
          </a:p>
        </p:txBody>
      </p:sp>
      <p:sp>
        <p:nvSpPr>
          <p:cNvPr id="21" name="TextBox 20"/>
          <p:cNvSpPr txBox="1"/>
          <p:nvPr/>
        </p:nvSpPr>
        <p:spPr>
          <a:xfrm>
            <a:off x="8494776" y="2752344"/>
            <a:ext cx="3008376" cy="365760"/>
          </a:xfrm>
          <a:prstGeom prst="rect">
            <a:avLst/>
          </a:prstGeom>
          <a:noFill/>
        </p:spPr>
        <p:txBody>
          <a:bodyPr wrap="square" anchor="t" lIns="0" rIns="0" tIns="0" bIns="0">
            <a:spAutoFit/>
          </a:bodyPr>
          <a:lstStyle/>
          <a:p>
            <a:pPr algn="l">
              <a:lnSpc>
                <a:spcPct val="118000"/>
              </a:lnSpc>
            </a:pPr>
            <a:r>
              <a:rPr sz="1600" b="1">
                <a:solidFill>
                  <a:srgbClr val="0B0B0B"/>
                </a:solidFill>
                <a:latin typeface="Helvetica Neue"/>
              </a:rPr>
              <a:t>Do our own people believe it?</a:t>
            </a:r>
          </a:p>
        </p:txBody>
      </p:sp>
      <p:sp>
        <p:nvSpPr>
          <p:cNvPr id="22" name="TextBox 21"/>
          <p:cNvSpPr txBox="1"/>
          <p:nvPr/>
        </p:nvSpPr>
        <p:spPr>
          <a:xfrm>
            <a:off x="8494776" y="3246120"/>
            <a:ext cx="3008376" cy="1188720"/>
          </a:xfrm>
          <a:prstGeom prst="rect">
            <a:avLst/>
          </a:prstGeom>
          <a:noFill/>
        </p:spPr>
        <p:txBody>
          <a:bodyPr wrap="square" anchor="t" lIns="0" rIns="0" tIns="0" bIns="0">
            <a:spAutoFit/>
          </a:bodyPr>
          <a:lstStyle/>
          <a:p>
            <a:pPr algn="l">
              <a:lnSpc>
                <a:spcPct val="130000"/>
              </a:lnSpc>
            </a:pPr>
            <a:r>
              <a:rPr sz="1150" b="0">
                <a:solidFill>
                  <a:srgbClr val="6B6963"/>
                </a:solidFill>
                <a:latin typeface="Helvetica Neue"/>
              </a:rPr>
              <a:t>Strategic fit (strategy) · Customer demand (sales) · Deliverability (presales)</a:t>
            </a:r>
          </a:p>
        </p:txBody>
      </p:sp>
      <p:sp>
        <p:nvSpPr>
          <p:cNvPr id="23" name="TextBox 22"/>
          <p:cNvSpPr txBox="1"/>
          <p:nvPr/>
        </p:nvSpPr>
        <p:spPr>
          <a:xfrm>
            <a:off x="8494776" y="4544568"/>
            <a:ext cx="3008376" cy="548640"/>
          </a:xfrm>
          <a:prstGeom prst="rect">
            <a:avLst/>
          </a:prstGeom>
          <a:noFill/>
        </p:spPr>
        <p:txBody>
          <a:bodyPr wrap="square" anchor="t" lIns="0" rIns="0" tIns="0" bIns="0">
            <a:spAutoFit/>
          </a:bodyPr>
          <a:lstStyle/>
          <a:p>
            <a:pPr algn="l">
              <a:lnSpc>
                <a:spcPct val="125000"/>
              </a:lnSpc>
            </a:pPr>
            <a:r>
              <a:rPr sz="1050" b="0">
                <a:solidFill>
                  <a:srgbClr val="0B0B0B"/>
                </a:solidFill>
                <a:latin typeface="Helvetica Neue"/>
              </a:rPr>
              <a:t>Adjusts what surfaces first for each role. Never alters the other two.</a:t>
            </a:r>
          </a:p>
        </p:txBody>
      </p:sp>
      <p:sp>
        <p:nvSpPr>
          <p:cNvPr id="24" name="TextBox 23"/>
          <p:cNvSpPr txBox="1"/>
          <p:nvPr/>
        </p:nvSpPr>
        <p:spPr>
          <a:xfrm>
            <a:off x="685800" y="5440680"/>
            <a:ext cx="10881360" cy="457200"/>
          </a:xfrm>
          <a:prstGeom prst="rect">
            <a:avLst/>
          </a:prstGeom>
          <a:noFill/>
        </p:spPr>
        <p:txBody>
          <a:bodyPr wrap="square" anchor="t" lIns="0" rIns="0" tIns="0" bIns="0">
            <a:spAutoFit/>
          </a:bodyPr>
          <a:lstStyle/>
          <a:p>
            <a:pPr algn="l">
              <a:lnSpc>
                <a:spcPct val="118000"/>
              </a:lnSpc>
            </a:pPr>
            <a:r>
              <a:rPr sz="1250" b="0">
                <a:solidFill>
                  <a:srgbClr val="6B6963"/>
                </a:solidFill>
                <a:latin typeface="Helvetica Neue"/>
              </a:rPr>
              <a:t>Collapsing them destroys the information the strategist needs: a topic can be excellent for a strategist (large, early, no proof points) and useless for a salesperson (nothing to show).</a:t>
            </a:r>
          </a:p>
        </p:txBody>
      </p:sp>
      <p:sp>
        <p:nvSpPr>
          <p:cNvPr id="25" name="TextBox 24"/>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26" name="TextBox 25"/>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CONCEPT</a:t>
            </a:r>
          </a:p>
        </p:txBody>
      </p:sp>
      <p:sp>
        <p:nvSpPr>
          <p:cNvPr id="4" name="TextBox 3"/>
          <p:cNvSpPr txBox="1"/>
          <p:nvPr/>
        </p:nvSpPr>
        <p:spPr>
          <a:xfrm>
            <a:off x="685800" y="777240"/>
            <a:ext cx="10789920" cy="640080"/>
          </a:xfrm>
          <a:prstGeom prst="rect">
            <a:avLst/>
          </a:prstGeom>
          <a:noFill/>
        </p:spPr>
        <p:txBody>
          <a:bodyPr wrap="square" anchor="t" lIns="0" rIns="0" tIns="0" bIns="0">
            <a:spAutoFit/>
          </a:bodyPr>
          <a:lstStyle/>
          <a:p>
            <a:pPr algn="l">
              <a:lnSpc>
                <a:spcPct val="118000"/>
              </a:lnSpc>
            </a:pPr>
            <a:r>
              <a:rPr sz="3200" b="1">
                <a:solidFill>
                  <a:srgbClr val="0B0B0B"/>
                </a:solidFill>
                <a:latin typeface="Helvetica Neue"/>
              </a:rPr>
              <a:t>Evidence before generation</a:t>
            </a:r>
          </a:p>
        </p:txBody>
      </p:sp>
      <p:sp>
        <p:nvSpPr>
          <p:cNvPr id="5" name="TextBox 4"/>
          <p:cNvSpPr txBox="1"/>
          <p:nvPr/>
        </p:nvSpPr>
        <p:spPr>
          <a:xfrm>
            <a:off x="685800" y="1481328"/>
            <a:ext cx="10058400" cy="457200"/>
          </a:xfrm>
          <a:prstGeom prst="rect">
            <a:avLst/>
          </a:prstGeom>
          <a:noFill/>
        </p:spPr>
        <p:txBody>
          <a:bodyPr wrap="square" anchor="t" lIns="0" rIns="0" tIns="0" bIns="0">
            <a:spAutoFit/>
          </a:bodyPr>
          <a:lstStyle/>
          <a:p>
            <a:pPr algn="l">
              <a:lnSpc>
                <a:spcPct val="118000"/>
              </a:lnSpc>
            </a:pPr>
            <a:r>
              <a:rPr sz="1500" b="0">
                <a:solidFill>
                  <a:srgbClr val="6B6963"/>
                </a:solidFill>
                <a:latin typeface="Helvetica Neue"/>
              </a:rPr>
              <a:t>The model never invents a topic from its own knowledge. It reorganises retrieved, dated, attributable evidence.</a:t>
            </a:r>
          </a:p>
        </p:txBody>
      </p:sp>
      <p:sp>
        <p:nvSpPr>
          <p:cNvPr id="6" name="Rectangle 5"/>
          <p:cNvSpPr/>
          <p:nvPr/>
        </p:nvSpPr>
        <p:spPr>
          <a:xfrm>
            <a:off x="685800" y="2148840"/>
            <a:ext cx="6583680" cy="603504"/>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21992"/>
            <a:ext cx="2377440" cy="274320"/>
          </a:xfrm>
          <a:prstGeom prst="rect">
            <a:avLst/>
          </a:prstGeom>
          <a:noFill/>
        </p:spPr>
        <p:txBody>
          <a:bodyPr wrap="square" anchor="t" lIns="0" rIns="0" tIns="0" bIns="0">
            <a:spAutoFit/>
          </a:bodyPr>
          <a:lstStyle/>
          <a:p>
            <a:pPr algn="l">
              <a:lnSpc>
                <a:spcPct val="118000"/>
              </a:lnSpc>
            </a:pPr>
            <a:r>
              <a:rPr sz="1250" b="1">
                <a:solidFill>
                  <a:srgbClr val="F07000"/>
                </a:solidFill>
                <a:latin typeface="Helvetica Neue"/>
              </a:rPr>
              <a:t>1 · Evidence binding</a:t>
            </a:r>
          </a:p>
        </p:txBody>
      </p:sp>
      <p:sp>
        <p:nvSpPr>
          <p:cNvPr id="8" name="TextBox 7"/>
          <p:cNvSpPr txBox="1"/>
          <p:nvPr/>
        </p:nvSpPr>
        <p:spPr>
          <a:xfrm>
            <a:off x="914400" y="2450592"/>
            <a:ext cx="6126480" cy="274320"/>
          </a:xfrm>
          <a:prstGeom prst="rect">
            <a:avLst/>
          </a:prstGeom>
          <a:noFill/>
        </p:spPr>
        <p:txBody>
          <a:bodyPr wrap="square" anchor="t" lIns="0" rIns="0" tIns="0" bIns="0">
            <a:spAutoFit/>
          </a:bodyPr>
          <a:lstStyle/>
          <a:p>
            <a:pPr algn="l">
              <a:lnSpc>
                <a:spcPct val="118000"/>
              </a:lnSpc>
            </a:pPr>
            <a:r>
              <a:rPr sz="1100" b="0">
                <a:solidFill>
                  <a:srgbClr val="6B6963"/>
                </a:solidFill>
                <a:latin typeface="Helvetica Neue"/>
              </a:rPr>
              <a:t>Every claim cites signal ids that must exist in the cluster that produced the candidate. Uncited claims are stripped, not rewritten.</a:t>
            </a:r>
          </a:p>
        </p:txBody>
      </p:sp>
      <p:sp>
        <p:nvSpPr>
          <p:cNvPr id="9" name="Rectangle 8"/>
          <p:cNvSpPr/>
          <p:nvPr/>
        </p:nvSpPr>
        <p:spPr>
          <a:xfrm>
            <a:off x="685800" y="2862072"/>
            <a:ext cx="6583680" cy="603504"/>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935224"/>
            <a:ext cx="2377440" cy="274320"/>
          </a:xfrm>
          <a:prstGeom prst="rect">
            <a:avLst/>
          </a:prstGeom>
          <a:noFill/>
        </p:spPr>
        <p:txBody>
          <a:bodyPr wrap="square" anchor="t" lIns="0" rIns="0" tIns="0" bIns="0">
            <a:spAutoFit/>
          </a:bodyPr>
          <a:lstStyle/>
          <a:p>
            <a:pPr algn="l">
              <a:lnSpc>
                <a:spcPct val="118000"/>
              </a:lnSpc>
            </a:pPr>
            <a:r>
              <a:rPr sz="1250" b="1">
                <a:solidFill>
                  <a:srgbClr val="F07000"/>
                </a:solidFill>
                <a:latin typeface="Helvetica Neue"/>
              </a:rPr>
              <a:t>2 · Closed vocabulary</a:t>
            </a:r>
          </a:p>
        </p:txBody>
      </p:sp>
      <p:sp>
        <p:nvSpPr>
          <p:cNvPr id="11" name="TextBox 10"/>
          <p:cNvSpPr txBox="1"/>
          <p:nvPr/>
        </p:nvSpPr>
        <p:spPr>
          <a:xfrm>
            <a:off x="914400" y="3163824"/>
            <a:ext cx="6126480" cy="274320"/>
          </a:xfrm>
          <a:prstGeom prst="rect">
            <a:avLst/>
          </a:prstGeom>
          <a:noFill/>
        </p:spPr>
        <p:txBody>
          <a:bodyPr wrap="square" anchor="t" lIns="0" rIns="0" tIns="0" bIns="0">
            <a:spAutoFit/>
          </a:bodyPr>
          <a:lstStyle/>
          <a:p>
            <a:pPr algn="l">
              <a:lnSpc>
                <a:spcPct val="118000"/>
              </a:lnSpc>
            </a:pPr>
            <a:r>
              <a:rPr sz="1100" b="0">
                <a:solidFill>
                  <a:srgbClr val="6B6963"/>
                </a:solidFill>
                <a:latin typeface="Helvetica Neue"/>
              </a:rPr>
              <a:t>Taxonomy values are validated against the enumerations. A recognised synonym is repaired once; anything else is dropped.</a:t>
            </a:r>
          </a:p>
        </p:txBody>
      </p:sp>
      <p:sp>
        <p:nvSpPr>
          <p:cNvPr id="12" name="Rectangle 11"/>
          <p:cNvSpPr/>
          <p:nvPr/>
        </p:nvSpPr>
        <p:spPr>
          <a:xfrm>
            <a:off x="685800" y="3575304"/>
            <a:ext cx="6583680" cy="603504"/>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648456"/>
            <a:ext cx="2377440" cy="274320"/>
          </a:xfrm>
          <a:prstGeom prst="rect">
            <a:avLst/>
          </a:prstGeom>
          <a:noFill/>
        </p:spPr>
        <p:txBody>
          <a:bodyPr wrap="square" anchor="t" lIns="0" rIns="0" tIns="0" bIns="0">
            <a:spAutoFit/>
          </a:bodyPr>
          <a:lstStyle/>
          <a:p>
            <a:pPr algn="l">
              <a:lnSpc>
                <a:spcPct val="118000"/>
              </a:lnSpc>
            </a:pPr>
            <a:r>
              <a:rPr sz="1250" b="1">
                <a:solidFill>
                  <a:srgbClr val="F07000"/>
                </a:solidFill>
                <a:latin typeface="Helvetica Neue"/>
              </a:rPr>
              <a:t>3 · No generated numbers</a:t>
            </a:r>
          </a:p>
        </p:txBody>
      </p:sp>
      <p:sp>
        <p:nvSpPr>
          <p:cNvPr id="14" name="TextBox 13"/>
          <p:cNvSpPr txBox="1"/>
          <p:nvPr/>
        </p:nvSpPr>
        <p:spPr>
          <a:xfrm>
            <a:off x="914400" y="3877056"/>
            <a:ext cx="6126480" cy="274320"/>
          </a:xfrm>
          <a:prstGeom prst="rect">
            <a:avLst/>
          </a:prstGeom>
          <a:noFill/>
        </p:spPr>
        <p:txBody>
          <a:bodyPr wrap="square" anchor="t" lIns="0" rIns="0" tIns="0" bIns="0">
            <a:spAutoFit/>
          </a:bodyPr>
          <a:lstStyle/>
          <a:p>
            <a:pPr algn="l">
              <a:lnSpc>
                <a:spcPct val="118000"/>
              </a:lnSpc>
            </a:pPr>
            <a:r>
              <a:rPr sz="1100" b="0">
                <a:solidFill>
                  <a:srgbClr val="6B6963"/>
                </a:solidFill>
                <a:latin typeface="Helvetica Neue"/>
              </a:rPr>
              <a:t>Market sizes, growth rates and percentages are looked up and attributed, or they are absent. Backstopped by a regex.</a:t>
            </a:r>
          </a:p>
        </p:txBody>
      </p:sp>
      <p:sp>
        <p:nvSpPr>
          <p:cNvPr id="15" name="Rectangle 14"/>
          <p:cNvSpPr/>
          <p:nvPr/>
        </p:nvSpPr>
        <p:spPr>
          <a:xfrm>
            <a:off x="685800" y="4288536"/>
            <a:ext cx="6583680" cy="603504"/>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361688"/>
            <a:ext cx="2377440" cy="274320"/>
          </a:xfrm>
          <a:prstGeom prst="rect">
            <a:avLst/>
          </a:prstGeom>
          <a:noFill/>
        </p:spPr>
        <p:txBody>
          <a:bodyPr wrap="square" anchor="t" lIns="0" rIns="0" tIns="0" bIns="0">
            <a:spAutoFit/>
          </a:bodyPr>
          <a:lstStyle/>
          <a:p>
            <a:pPr algn="l">
              <a:lnSpc>
                <a:spcPct val="118000"/>
              </a:lnSpc>
            </a:pPr>
            <a:r>
              <a:rPr sz="1250" b="1">
                <a:solidFill>
                  <a:srgbClr val="F07000"/>
                </a:solidFill>
                <a:latin typeface="Helvetica Neue"/>
              </a:rPr>
              <a:t>4 · Entailment check</a:t>
            </a:r>
          </a:p>
        </p:txBody>
      </p:sp>
      <p:sp>
        <p:nvSpPr>
          <p:cNvPr id="17" name="TextBox 16"/>
          <p:cNvSpPr txBox="1"/>
          <p:nvPr/>
        </p:nvSpPr>
        <p:spPr>
          <a:xfrm>
            <a:off x="914400" y="4590288"/>
            <a:ext cx="6126480" cy="274320"/>
          </a:xfrm>
          <a:prstGeom prst="rect">
            <a:avLst/>
          </a:prstGeom>
          <a:noFill/>
        </p:spPr>
        <p:txBody>
          <a:bodyPr wrap="square" anchor="t" lIns="0" rIns="0" tIns="0" bIns="0">
            <a:spAutoFit/>
          </a:bodyPr>
          <a:lstStyle/>
          <a:p>
            <a:pPr algn="l">
              <a:lnSpc>
                <a:spcPct val="118000"/>
              </a:lnSpc>
            </a:pPr>
            <a:r>
              <a:rPr sz="1100" b="0">
                <a:solidFill>
                  <a:srgbClr val="6B6963"/>
                </a:solidFill>
                <a:latin typeface="Helvetica Neue"/>
              </a:rPr>
              <a:t>A second model pass verifies each claim is actually entailed by the span it cites.</a:t>
            </a:r>
          </a:p>
        </p:txBody>
      </p:sp>
      <p:sp>
        <p:nvSpPr>
          <p:cNvPr id="18" name="Rectangle 17"/>
          <p:cNvSpPr/>
          <p:nvPr/>
        </p:nvSpPr>
        <p:spPr>
          <a:xfrm>
            <a:off x="7635240" y="2148840"/>
            <a:ext cx="3931920" cy="2834640"/>
          </a:xfrm>
          <a:prstGeom prst="rect">
            <a:avLst/>
          </a:prstGeom>
          <a:solidFill>
            <a:srgbClr val="0B0B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7" y="2404872"/>
            <a:ext cx="3474720" cy="274320"/>
          </a:xfrm>
          <a:prstGeom prst="rect">
            <a:avLst/>
          </a:prstGeom>
          <a:noFill/>
        </p:spPr>
        <p:txBody>
          <a:bodyPr wrap="square" anchor="t" lIns="0" rIns="0" tIns="0" bIns="0">
            <a:spAutoFit/>
          </a:bodyPr>
          <a:lstStyle/>
          <a:p>
            <a:pPr algn="l">
              <a:lnSpc>
                <a:spcPct val="118000"/>
              </a:lnSpc>
            </a:pPr>
            <a:r>
              <a:rPr sz="1000" b="1">
                <a:solidFill>
                  <a:srgbClr val="F07000"/>
                </a:solidFill>
                <a:latin typeface="Helvetica Neue"/>
              </a:rPr>
              <a:t>PLUS AN ADVERSARIAL CRITIC</a:t>
            </a:r>
          </a:p>
        </p:txBody>
      </p:sp>
      <p:sp>
        <p:nvSpPr>
          <p:cNvPr id="20" name="TextBox 19"/>
          <p:cNvSpPr txBox="1"/>
          <p:nvPr/>
        </p:nvSpPr>
        <p:spPr>
          <a:xfrm>
            <a:off x="7882127" y="2770632"/>
            <a:ext cx="3474720" cy="2011680"/>
          </a:xfrm>
          <a:prstGeom prst="rect">
            <a:avLst/>
          </a:prstGeom>
          <a:noFill/>
        </p:spPr>
        <p:txBody>
          <a:bodyPr wrap="square" anchor="t" lIns="0" rIns="0" tIns="0" bIns="0">
            <a:spAutoFit/>
          </a:bodyPr>
          <a:lstStyle/>
          <a:p>
            <a:pPr algn="l">
              <a:lnSpc>
                <a:spcPct val="135000"/>
              </a:lnSpc>
            </a:pPr>
            <a:r>
              <a:rPr sz="1250" b="0">
                <a:solidFill>
                  <a:srgbClr val="FFFFFF"/>
                </a:solidFill>
                <a:latin typeface="Helvetica Neue"/>
              </a:rPr>
              <a:t>A separate critic prompt scores 1–5 as the MINIMUM across five tests, so one failure caps the whole score.
In the live run it rejected 345 of 644 candidates — with specific, written reasons.</a:t>
            </a:r>
          </a:p>
        </p:txBody>
      </p:sp>
      <p:sp>
        <p:nvSpPr>
          <p:cNvPr id="21" name="TextBox 20"/>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22" name="TextBox 21"/>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CONCEPT</a:t>
            </a:r>
          </a:p>
        </p:txBody>
      </p:sp>
      <p:sp>
        <p:nvSpPr>
          <p:cNvPr id="4" name="TextBox 3"/>
          <p:cNvSpPr txBox="1"/>
          <p:nvPr/>
        </p:nvSpPr>
        <p:spPr>
          <a:xfrm>
            <a:off x="685800" y="777240"/>
            <a:ext cx="10789920" cy="640080"/>
          </a:xfrm>
          <a:prstGeom prst="rect">
            <a:avLst/>
          </a:prstGeom>
          <a:noFill/>
        </p:spPr>
        <p:txBody>
          <a:bodyPr wrap="square" anchor="t" lIns="0" rIns="0" tIns="0" bIns="0">
            <a:spAutoFit/>
          </a:bodyPr>
          <a:lstStyle/>
          <a:p>
            <a:pPr algn="l">
              <a:lnSpc>
                <a:spcPct val="118000"/>
              </a:lnSpc>
            </a:pPr>
            <a:r>
              <a:rPr sz="3200" b="1">
                <a:solidFill>
                  <a:srgbClr val="0B0B0B"/>
                </a:solidFill>
                <a:latin typeface="Helvetica Neue"/>
              </a:rPr>
              <a:t>Portfolio distance decides whose conversation it is</a:t>
            </a:r>
          </a:p>
        </p:txBody>
      </p:sp>
      <p:sp>
        <p:nvSpPr>
          <p:cNvPr id="5" name="TextBox 4"/>
          <p:cNvSpPr txBox="1"/>
          <p:nvPr/>
        </p:nvSpPr>
        <p:spPr>
          <a:xfrm>
            <a:off x="685800" y="1481328"/>
            <a:ext cx="10058400" cy="457200"/>
          </a:xfrm>
          <a:prstGeom prst="rect">
            <a:avLst/>
          </a:prstGeom>
          <a:noFill/>
        </p:spPr>
        <p:txBody>
          <a:bodyPr wrap="square" anchor="t" lIns="0" rIns="0" tIns="0" bIns="0">
            <a:spAutoFit/>
          </a:bodyPr>
          <a:lstStyle/>
          <a:p>
            <a:pPr algn="l">
              <a:lnSpc>
                <a:spcPct val="118000"/>
              </a:lnSpc>
            </a:pPr>
            <a:r>
              <a:rPr sz="1500" b="0">
                <a:solidFill>
                  <a:srgbClr val="6B6963"/>
                </a:solidFill>
                <a:latin typeface="Helvetica Neue"/>
              </a:rPr>
              <a:t>The shortest path from a topic to a configuration Orange could actually deliver.</a:t>
            </a:r>
          </a:p>
        </p:txBody>
      </p:sp>
      <p:sp>
        <p:nvSpPr>
          <p:cNvPr id="6" name="Rectangle 5"/>
          <p:cNvSpPr/>
          <p:nvPr/>
        </p:nvSpPr>
        <p:spPr>
          <a:xfrm>
            <a:off x="685800" y="2148840"/>
            <a:ext cx="566928" cy="457200"/>
          </a:xfrm>
          <a:prstGeom prst="rect">
            <a:avLst/>
          </a:prstGeom>
          <a:solidFill>
            <a:srgbClr val="86B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58568"/>
            <a:ext cx="566928" cy="274320"/>
          </a:xfrm>
          <a:prstGeom prst="rect">
            <a:avLst/>
          </a:prstGeom>
          <a:noFill/>
        </p:spPr>
        <p:txBody>
          <a:bodyPr wrap="square" anchor="t" lIns="0" rIns="0" tIns="0" bIns="0">
            <a:spAutoFit/>
          </a:bodyPr>
          <a:lstStyle/>
          <a:p>
            <a:pPr algn="ctr">
              <a:lnSpc>
                <a:spcPct val="118000"/>
              </a:lnSpc>
            </a:pPr>
            <a:r>
              <a:rPr sz="1300" b="1">
                <a:solidFill>
                  <a:srgbClr val="FFFFFF"/>
                </a:solidFill>
                <a:latin typeface="Menlo"/>
              </a:rPr>
              <a:t>L0</a:t>
            </a:r>
          </a:p>
        </p:txBody>
      </p:sp>
      <p:sp>
        <p:nvSpPr>
          <p:cNvPr id="8" name="TextBox 7"/>
          <p:cNvSpPr txBox="1"/>
          <p:nvPr/>
        </p:nvSpPr>
        <p:spPr>
          <a:xfrm>
            <a:off x="1417320" y="2194560"/>
            <a:ext cx="2011680" cy="274320"/>
          </a:xfrm>
          <a:prstGeom prst="rect">
            <a:avLst/>
          </a:prstGeom>
          <a:noFill/>
        </p:spPr>
        <p:txBody>
          <a:bodyPr wrap="square" anchor="t" lIns="0" rIns="0" tIns="0" bIns="0">
            <a:spAutoFit/>
          </a:bodyPr>
          <a:lstStyle/>
          <a:p>
            <a:pPr algn="l">
              <a:lnSpc>
                <a:spcPct val="118000"/>
              </a:lnSpc>
            </a:pPr>
            <a:r>
              <a:rPr sz="1400" b="1">
                <a:solidFill>
                  <a:srgbClr val="0B0B0B"/>
                </a:solidFill>
                <a:latin typeface="Helvetica Neue"/>
              </a:rPr>
              <a:t>Direct</a:t>
            </a:r>
          </a:p>
        </p:txBody>
      </p:sp>
      <p:sp>
        <p:nvSpPr>
          <p:cNvPr id="9" name="TextBox 8"/>
          <p:cNvSpPr txBox="1"/>
          <p:nvPr/>
        </p:nvSpPr>
        <p:spPr>
          <a:xfrm>
            <a:off x="3429000" y="2212848"/>
            <a:ext cx="4572000" cy="274320"/>
          </a:xfrm>
          <a:prstGeom prst="rect">
            <a:avLst/>
          </a:prstGeom>
          <a:noFill/>
        </p:spPr>
        <p:txBody>
          <a:bodyPr wrap="square" anchor="t" lIns="0" rIns="0" tIns="0" bIns="0">
            <a:spAutoFit/>
          </a:bodyPr>
          <a:lstStyle/>
          <a:p>
            <a:pPr algn="l">
              <a:lnSpc>
                <a:spcPct val="118000"/>
              </a:lnSpc>
            </a:pPr>
            <a:r>
              <a:rPr sz="1200" b="0">
                <a:solidFill>
                  <a:srgbClr val="6B6963"/>
                </a:solidFill>
                <a:latin typeface="Helvetica Neue"/>
              </a:rPr>
              <a:t>An existing offer addresses it as it stands</a:t>
            </a:r>
          </a:p>
        </p:txBody>
      </p:sp>
      <p:sp>
        <p:nvSpPr>
          <p:cNvPr id="10" name="TextBox 9"/>
          <p:cNvSpPr txBox="1"/>
          <p:nvPr/>
        </p:nvSpPr>
        <p:spPr>
          <a:xfrm>
            <a:off x="8183879" y="2212848"/>
            <a:ext cx="3383280" cy="274320"/>
          </a:xfrm>
          <a:prstGeom prst="rect">
            <a:avLst/>
          </a:prstGeom>
          <a:noFill/>
        </p:spPr>
        <p:txBody>
          <a:bodyPr wrap="square" anchor="t" lIns="0" rIns="0" tIns="0" bIns="0">
            <a:spAutoFit/>
          </a:bodyPr>
          <a:lstStyle/>
          <a:p>
            <a:pPr algn="l">
              <a:lnSpc>
                <a:spcPct val="118000"/>
              </a:lnSpc>
            </a:pPr>
            <a:r>
              <a:rPr sz="1200" b="0">
                <a:solidFill>
                  <a:srgbClr val="F07000"/>
                </a:solidFill>
                <a:latin typeface="Helvetica Neue"/>
              </a:rPr>
              <a:t>Sales — sell it</a:t>
            </a:r>
          </a:p>
        </p:txBody>
      </p:sp>
      <p:sp>
        <p:nvSpPr>
          <p:cNvPr id="11" name="Rectangle 10"/>
          <p:cNvSpPr/>
          <p:nvPr/>
        </p:nvSpPr>
        <p:spPr>
          <a:xfrm>
            <a:off x="685800" y="2715768"/>
            <a:ext cx="566928" cy="457200"/>
          </a:xfrm>
          <a:prstGeom prst="rect">
            <a:avLst/>
          </a:prstGeom>
          <a:solidFill>
            <a:srgbClr val="5598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825496"/>
            <a:ext cx="566928" cy="274320"/>
          </a:xfrm>
          <a:prstGeom prst="rect">
            <a:avLst/>
          </a:prstGeom>
          <a:noFill/>
        </p:spPr>
        <p:txBody>
          <a:bodyPr wrap="square" anchor="t" lIns="0" rIns="0" tIns="0" bIns="0">
            <a:spAutoFit/>
          </a:bodyPr>
          <a:lstStyle/>
          <a:p>
            <a:pPr algn="ctr">
              <a:lnSpc>
                <a:spcPct val="118000"/>
              </a:lnSpc>
            </a:pPr>
            <a:r>
              <a:rPr sz="1300" b="1">
                <a:solidFill>
                  <a:srgbClr val="FFFFFF"/>
                </a:solidFill>
                <a:latin typeface="Menlo"/>
              </a:rPr>
              <a:t>L1</a:t>
            </a:r>
          </a:p>
        </p:txBody>
      </p:sp>
      <p:sp>
        <p:nvSpPr>
          <p:cNvPr id="13" name="TextBox 12"/>
          <p:cNvSpPr txBox="1"/>
          <p:nvPr/>
        </p:nvSpPr>
        <p:spPr>
          <a:xfrm>
            <a:off x="1417320" y="2761488"/>
            <a:ext cx="2011680" cy="274320"/>
          </a:xfrm>
          <a:prstGeom prst="rect">
            <a:avLst/>
          </a:prstGeom>
          <a:noFill/>
        </p:spPr>
        <p:txBody>
          <a:bodyPr wrap="square" anchor="t" lIns="0" rIns="0" tIns="0" bIns="0">
            <a:spAutoFit/>
          </a:bodyPr>
          <a:lstStyle/>
          <a:p>
            <a:pPr algn="l">
              <a:lnSpc>
                <a:spcPct val="118000"/>
              </a:lnSpc>
            </a:pPr>
            <a:r>
              <a:rPr sz="1400" b="1">
                <a:solidFill>
                  <a:srgbClr val="0B0B0B"/>
                </a:solidFill>
                <a:latin typeface="Helvetica Neue"/>
              </a:rPr>
              <a:t>Bundle</a:t>
            </a:r>
          </a:p>
        </p:txBody>
      </p:sp>
      <p:sp>
        <p:nvSpPr>
          <p:cNvPr id="14" name="TextBox 13"/>
          <p:cNvSpPr txBox="1"/>
          <p:nvPr/>
        </p:nvSpPr>
        <p:spPr>
          <a:xfrm>
            <a:off x="3429000" y="2779776"/>
            <a:ext cx="4572000" cy="274320"/>
          </a:xfrm>
          <a:prstGeom prst="rect">
            <a:avLst/>
          </a:prstGeom>
          <a:noFill/>
        </p:spPr>
        <p:txBody>
          <a:bodyPr wrap="square" anchor="t" lIns="0" rIns="0" tIns="0" bIns="0">
            <a:spAutoFit/>
          </a:bodyPr>
          <a:lstStyle/>
          <a:p>
            <a:pPr algn="l">
              <a:lnSpc>
                <a:spcPct val="118000"/>
              </a:lnSpc>
            </a:pPr>
            <a:r>
              <a:rPr sz="1200" b="0">
                <a:solidFill>
                  <a:srgbClr val="6B6963"/>
                </a:solidFill>
                <a:latin typeface="Helvetica Neue"/>
              </a:rPr>
              <a:t>Two or more existing offers combined</a:t>
            </a:r>
          </a:p>
        </p:txBody>
      </p:sp>
      <p:sp>
        <p:nvSpPr>
          <p:cNvPr id="15" name="TextBox 14"/>
          <p:cNvSpPr txBox="1"/>
          <p:nvPr/>
        </p:nvSpPr>
        <p:spPr>
          <a:xfrm>
            <a:off x="8183879" y="2779776"/>
            <a:ext cx="3383280" cy="274320"/>
          </a:xfrm>
          <a:prstGeom prst="rect">
            <a:avLst/>
          </a:prstGeom>
          <a:noFill/>
        </p:spPr>
        <p:txBody>
          <a:bodyPr wrap="square" anchor="t" lIns="0" rIns="0" tIns="0" bIns="0">
            <a:spAutoFit/>
          </a:bodyPr>
          <a:lstStyle/>
          <a:p>
            <a:pPr algn="l">
              <a:lnSpc>
                <a:spcPct val="118000"/>
              </a:lnSpc>
            </a:pPr>
            <a:r>
              <a:rPr sz="1200" b="0">
                <a:solidFill>
                  <a:srgbClr val="F07000"/>
                </a:solidFill>
                <a:latin typeface="Helvetica Neue"/>
              </a:rPr>
              <a:t>Presales — package it</a:t>
            </a:r>
          </a:p>
        </p:txBody>
      </p:sp>
      <p:sp>
        <p:nvSpPr>
          <p:cNvPr id="16" name="Rectangle 15"/>
          <p:cNvSpPr/>
          <p:nvPr/>
        </p:nvSpPr>
        <p:spPr>
          <a:xfrm>
            <a:off x="685800" y="3282696"/>
            <a:ext cx="566928" cy="4572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392424"/>
            <a:ext cx="566928" cy="274320"/>
          </a:xfrm>
          <a:prstGeom prst="rect">
            <a:avLst/>
          </a:prstGeom>
          <a:noFill/>
        </p:spPr>
        <p:txBody>
          <a:bodyPr wrap="square" anchor="t" lIns="0" rIns="0" tIns="0" bIns="0">
            <a:spAutoFit/>
          </a:bodyPr>
          <a:lstStyle/>
          <a:p>
            <a:pPr algn="ctr">
              <a:lnSpc>
                <a:spcPct val="118000"/>
              </a:lnSpc>
            </a:pPr>
            <a:r>
              <a:rPr sz="1300" b="1">
                <a:solidFill>
                  <a:srgbClr val="FFFFFF"/>
                </a:solidFill>
                <a:latin typeface="Menlo"/>
              </a:rPr>
              <a:t>L2</a:t>
            </a:r>
          </a:p>
        </p:txBody>
      </p:sp>
      <p:sp>
        <p:nvSpPr>
          <p:cNvPr id="18" name="TextBox 17"/>
          <p:cNvSpPr txBox="1"/>
          <p:nvPr/>
        </p:nvSpPr>
        <p:spPr>
          <a:xfrm>
            <a:off x="1417320" y="3328416"/>
            <a:ext cx="2011680" cy="274320"/>
          </a:xfrm>
          <a:prstGeom prst="rect">
            <a:avLst/>
          </a:prstGeom>
          <a:noFill/>
        </p:spPr>
        <p:txBody>
          <a:bodyPr wrap="square" anchor="t" lIns="0" rIns="0" tIns="0" bIns="0">
            <a:spAutoFit/>
          </a:bodyPr>
          <a:lstStyle/>
          <a:p>
            <a:pPr algn="l">
              <a:lnSpc>
                <a:spcPct val="118000"/>
              </a:lnSpc>
            </a:pPr>
            <a:r>
              <a:rPr sz="1400" b="1">
                <a:solidFill>
                  <a:srgbClr val="0B0B0B"/>
                </a:solidFill>
                <a:latin typeface="Helvetica Neue"/>
              </a:rPr>
              <a:t>Partner-dependent</a:t>
            </a:r>
          </a:p>
        </p:txBody>
      </p:sp>
      <p:sp>
        <p:nvSpPr>
          <p:cNvPr id="19" name="TextBox 18"/>
          <p:cNvSpPr txBox="1"/>
          <p:nvPr/>
        </p:nvSpPr>
        <p:spPr>
          <a:xfrm>
            <a:off x="3429000" y="3346704"/>
            <a:ext cx="4572000" cy="274320"/>
          </a:xfrm>
          <a:prstGeom prst="rect">
            <a:avLst/>
          </a:prstGeom>
          <a:noFill/>
        </p:spPr>
        <p:txBody>
          <a:bodyPr wrap="square" anchor="t" lIns="0" rIns="0" tIns="0" bIns="0">
            <a:spAutoFit/>
          </a:bodyPr>
          <a:lstStyle/>
          <a:p>
            <a:pPr algn="l">
              <a:lnSpc>
                <a:spcPct val="118000"/>
              </a:lnSpc>
            </a:pPr>
            <a:r>
              <a:rPr sz="1200" b="0">
                <a:solidFill>
                  <a:srgbClr val="6B6963"/>
                </a:solidFill>
                <a:latin typeface="Helvetica Neue"/>
              </a:rPr>
              <a:t>Needs a capability a partner already holds</a:t>
            </a:r>
          </a:p>
        </p:txBody>
      </p:sp>
      <p:sp>
        <p:nvSpPr>
          <p:cNvPr id="20" name="TextBox 19"/>
          <p:cNvSpPr txBox="1"/>
          <p:nvPr/>
        </p:nvSpPr>
        <p:spPr>
          <a:xfrm>
            <a:off x="8183879" y="3346704"/>
            <a:ext cx="3383280" cy="274320"/>
          </a:xfrm>
          <a:prstGeom prst="rect">
            <a:avLst/>
          </a:prstGeom>
          <a:noFill/>
        </p:spPr>
        <p:txBody>
          <a:bodyPr wrap="square" anchor="t" lIns="0" rIns="0" tIns="0" bIns="0">
            <a:spAutoFit/>
          </a:bodyPr>
          <a:lstStyle/>
          <a:p>
            <a:pPr algn="l">
              <a:lnSpc>
                <a:spcPct val="118000"/>
              </a:lnSpc>
            </a:pPr>
            <a:r>
              <a:rPr sz="1200" b="0">
                <a:solidFill>
                  <a:srgbClr val="F07000"/>
                </a:solidFill>
                <a:latin typeface="Helvetica Neue"/>
              </a:rPr>
              <a:t>Presales / alliances — assemble it</a:t>
            </a:r>
          </a:p>
        </p:txBody>
      </p:sp>
      <p:sp>
        <p:nvSpPr>
          <p:cNvPr id="21" name="Rectangle 20"/>
          <p:cNvSpPr/>
          <p:nvPr/>
        </p:nvSpPr>
        <p:spPr>
          <a:xfrm>
            <a:off x="685800" y="3849624"/>
            <a:ext cx="566928" cy="457200"/>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59352"/>
            <a:ext cx="566928" cy="274320"/>
          </a:xfrm>
          <a:prstGeom prst="rect">
            <a:avLst/>
          </a:prstGeom>
          <a:noFill/>
        </p:spPr>
        <p:txBody>
          <a:bodyPr wrap="square" anchor="t" lIns="0" rIns="0" tIns="0" bIns="0">
            <a:spAutoFit/>
          </a:bodyPr>
          <a:lstStyle/>
          <a:p>
            <a:pPr algn="ctr">
              <a:lnSpc>
                <a:spcPct val="118000"/>
              </a:lnSpc>
            </a:pPr>
            <a:r>
              <a:rPr sz="1300" b="1">
                <a:solidFill>
                  <a:srgbClr val="FFFFFF"/>
                </a:solidFill>
                <a:latin typeface="Menlo"/>
              </a:rPr>
              <a:t>L3</a:t>
            </a:r>
          </a:p>
        </p:txBody>
      </p:sp>
      <p:sp>
        <p:nvSpPr>
          <p:cNvPr id="23" name="TextBox 22"/>
          <p:cNvSpPr txBox="1"/>
          <p:nvPr/>
        </p:nvSpPr>
        <p:spPr>
          <a:xfrm>
            <a:off x="1417320" y="3895344"/>
            <a:ext cx="2011680" cy="274320"/>
          </a:xfrm>
          <a:prstGeom prst="rect">
            <a:avLst/>
          </a:prstGeom>
          <a:noFill/>
        </p:spPr>
        <p:txBody>
          <a:bodyPr wrap="square" anchor="t" lIns="0" rIns="0" tIns="0" bIns="0">
            <a:spAutoFit/>
          </a:bodyPr>
          <a:lstStyle/>
          <a:p>
            <a:pPr algn="l">
              <a:lnSpc>
                <a:spcPct val="118000"/>
              </a:lnSpc>
            </a:pPr>
            <a:r>
              <a:rPr sz="1400" b="1">
                <a:solidFill>
                  <a:srgbClr val="0B0B0B"/>
                </a:solidFill>
                <a:latin typeface="Helvetica Neue"/>
              </a:rPr>
              <a:t>Adjacent</a:t>
            </a:r>
          </a:p>
        </p:txBody>
      </p:sp>
      <p:sp>
        <p:nvSpPr>
          <p:cNvPr id="24" name="TextBox 23"/>
          <p:cNvSpPr txBox="1"/>
          <p:nvPr/>
        </p:nvSpPr>
        <p:spPr>
          <a:xfrm>
            <a:off x="3429000" y="3913632"/>
            <a:ext cx="4572000" cy="274320"/>
          </a:xfrm>
          <a:prstGeom prst="rect">
            <a:avLst/>
          </a:prstGeom>
          <a:noFill/>
        </p:spPr>
        <p:txBody>
          <a:bodyPr wrap="square" anchor="t" lIns="0" rIns="0" tIns="0" bIns="0">
            <a:spAutoFit/>
          </a:bodyPr>
          <a:lstStyle/>
          <a:p>
            <a:pPr algn="l">
              <a:lnSpc>
                <a:spcPct val="118000"/>
              </a:lnSpc>
            </a:pPr>
            <a:r>
              <a:rPr sz="1200" b="0">
                <a:solidFill>
                  <a:srgbClr val="6B6963"/>
                </a:solidFill>
                <a:latin typeface="Helvetica Neue"/>
              </a:rPr>
              <a:t>Needs one capability built; nearby assets exist</a:t>
            </a:r>
          </a:p>
        </p:txBody>
      </p:sp>
      <p:sp>
        <p:nvSpPr>
          <p:cNvPr id="25" name="TextBox 24"/>
          <p:cNvSpPr txBox="1"/>
          <p:nvPr/>
        </p:nvSpPr>
        <p:spPr>
          <a:xfrm>
            <a:off x="8183879" y="3913632"/>
            <a:ext cx="3383280" cy="274320"/>
          </a:xfrm>
          <a:prstGeom prst="rect">
            <a:avLst/>
          </a:prstGeom>
          <a:noFill/>
        </p:spPr>
        <p:txBody>
          <a:bodyPr wrap="square" anchor="t" lIns="0" rIns="0" tIns="0" bIns="0">
            <a:spAutoFit/>
          </a:bodyPr>
          <a:lstStyle/>
          <a:p>
            <a:pPr algn="l">
              <a:lnSpc>
                <a:spcPct val="118000"/>
              </a:lnSpc>
            </a:pPr>
            <a:r>
              <a:rPr sz="1200" b="0">
                <a:solidFill>
                  <a:srgbClr val="F07000"/>
                </a:solidFill>
                <a:latin typeface="Helvetica Neue"/>
              </a:rPr>
              <a:t>Strategy — study it</a:t>
            </a:r>
          </a:p>
        </p:txBody>
      </p:sp>
      <p:sp>
        <p:nvSpPr>
          <p:cNvPr id="26" name="Rectangle 25"/>
          <p:cNvSpPr/>
          <p:nvPr/>
        </p:nvSpPr>
        <p:spPr>
          <a:xfrm>
            <a:off x="685800" y="4416552"/>
            <a:ext cx="566928" cy="457200"/>
          </a:xfrm>
          <a:prstGeom prst="rect">
            <a:avLst/>
          </a:prstGeom>
          <a:solidFill>
            <a:srgbClr val="1042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526280"/>
            <a:ext cx="566928" cy="274320"/>
          </a:xfrm>
          <a:prstGeom prst="rect">
            <a:avLst/>
          </a:prstGeom>
          <a:noFill/>
        </p:spPr>
        <p:txBody>
          <a:bodyPr wrap="square" anchor="t" lIns="0" rIns="0" tIns="0" bIns="0">
            <a:spAutoFit/>
          </a:bodyPr>
          <a:lstStyle/>
          <a:p>
            <a:pPr algn="ctr">
              <a:lnSpc>
                <a:spcPct val="118000"/>
              </a:lnSpc>
            </a:pPr>
            <a:r>
              <a:rPr sz="1300" b="1">
                <a:solidFill>
                  <a:srgbClr val="FFFFFF"/>
                </a:solidFill>
                <a:latin typeface="Menlo"/>
              </a:rPr>
              <a:t>L4</a:t>
            </a:r>
          </a:p>
        </p:txBody>
      </p:sp>
      <p:sp>
        <p:nvSpPr>
          <p:cNvPr id="28" name="TextBox 27"/>
          <p:cNvSpPr txBox="1"/>
          <p:nvPr/>
        </p:nvSpPr>
        <p:spPr>
          <a:xfrm>
            <a:off x="1417320" y="4462272"/>
            <a:ext cx="2011680" cy="274320"/>
          </a:xfrm>
          <a:prstGeom prst="rect">
            <a:avLst/>
          </a:prstGeom>
          <a:noFill/>
        </p:spPr>
        <p:txBody>
          <a:bodyPr wrap="square" anchor="t" lIns="0" rIns="0" tIns="0" bIns="0">
            <a:spAutoFit/>
          </a:bodyPr>
          <a:lstStyle/>
          <a:p>
            <a:pPr algn="l">
              <a:lnSpc>
                <a:spcPct val="118000"/>
              </a:lnSpc>
            </a:pPr>
            <a:r>
              <a:rPr sz="1400" b="1">
                <a:solidFill>
                  <a:srgbClr val="0B0B0B"/>
                </a:solidFill>
                <a:latin typeface="Helvetica Neue"/>
              </a:rPr>
              <a:t>White space</a:t>
            </a:r>
          </a:p>
        </p:txBody>
      </p:sp>
      <p:sp>
        <p:nvSpPr>
          <p:cNvPr id="29" name="TextBox 28"/>
          <p:cNvSpPr txBox="1"/>
          <p:nvPr/>
        </p:nvSpPr>
        <p:spPr>
          <a:xfrm>
            <a:off x="3429000" y="4480560"/>
            <a:ext cx="4572000" cy="274320"/>
          </a:xfrm>
          <a:prstGeom prst="rect">
            <a:avLst/>
          </a:prstGeom>
          <a:noFill/>
        </p:spPr>
        <p:txBody>
          <a:bodyPr wrap="square" anchor="t" lIns="0" rIns="0" tIns="0" bIns="0">
            <a:spAutoFit/>
          </a:bodyPr>
          <a:lstStyle/>
          <a:p>
            <a:pPr algn="l">
              <a:lnSpc>
                <a:spcPct val="118000"/>
              </a:lnSpc>
            </a:pPr>
            <a:r>
              <a:rPr sz="1200" b="0">
                <a:solidFill>
                  <a:srgbClr val="6B6963"/>
                </a:solidFill>
                <a:latin typeface="Helvetica Neue"/>
              </a:rPr>
              <a:t>No plausible path from the current portfolio</a:t>
            </a:r>
          </a:p>
        </p:txBody>
      </p:sp>
      <p:sp>
        <p:nvSpPr>
          <p:cNvPr id="30" name="TextBox 29"/>
          <p:cNvSpPr txBox="1"/>
          <p:nvPr/>
        </p:nvSpPr>
        <p:spPr>
          <a:xfrm>
            <a:off x="8183879" y="4480560"/>
            <a:ext cx="3383280" cy="274320"/>
          </a:xfrm>
          <a:prstGeom prst="rect">
            <a:avLst/>
          </a:prstGeom>
          <a:noFill/>
        </p:spPr>
        <p:txBody>
          <a:bodyPr wrap="square" anchor="t" lIns="0" rIns="0" tIns="0" bIns="0">
            <a:spAutoFit/>
          </a:bodyPr>
          <a:lstStyle/>
          <a:p>
            <a:pPr algn="l">
              <a:lnSpc>
                <a:spcPct val="118000"/>
              </a:lnSpc>
            </a:pPr>
            <a:r>
              <a:rPr sz="1200" b="0">
                <a:solidFill>
                  <a:srgbClr val="F07000"/>
                </a:solidFill>
                <a:latin typeface="Helvetica Neue"/>
              </a:rPr>
              <a:t>Strategy — watch or reject</a:t>
            </a:r>
          </a:p>
        </p:txBody>
      </p:sp>
      <p:sp>
        <p:nvSpPr>
          <p:cNvPr id="31" name="TextBox 30"/>
          <p:cNvSpPr txBox="1"/>
          <p:nvPr/>
        </p:nvSpPr>
        <p:spPr>
          <a:xfrm>
            <a:off x="685800" y="5212080"/>
            <a:ext cx="10881360" cy="457200"/>
          </a:xfrm>
          <a:prstGeom prst="rect">
            <a:avLst/>
          </a:prstGeom>
          <a:noFill/>
        </p:spPr>
        <p:txBody>
          <a:bodyPr wrap="square" anchor="t" lIns="0" rIns="0" tIns="0" bIns="0">
            <a:spAutoFit/>
          </a:bodyPr>
          <a:lstStyle/>
          <a:p>
            <a:pPr algn="l">
              <a:lnSpc>
                <a:spcPct val="118000"/>
              </a:lnSpc>
            </a:pPr>
            <a:r>
              <a:rPr sz="1250" b="0">
                <a:solidFill>
                  <a:srgbClr val="6B6963"/>
                </a:solidFill>
                <a:latin typeface="Helvetica Neue"/>
              </a:rPr>
              <a:t>This is what drives the role modes — they are not arbitrary presets. A high-attractiveness L4 topic is exactly the strategist's innovation agenda, and exactly what a salesperson should never be shown.</a:t>
            </a:r>
          </a:p>
        </p:txBody>
      </p:sp>
      <p:sp>
        <p:nvSpPr>
          <p:cNvPr id="32" name="TextBox 31"/>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33" name="TextBox 32"/>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STATUS</a:t>
            </a:r>
          </a:p>
        </p:txBody>
      </p:sp>
      <p:sp>
        <p:nvSpPr>
          <p:cNvPr id="4" name="TextBox 3"/>
          <p:cNvSpPr txBox="1"/>
          <p:nvPr/>
        </p:nvSpPr>
        <p:spPr>
          <a:xfrm>
            <a:off x="685800" y="777240"/>
            <a:ext cx="10789920" cy="640080"/>
          </a:xfrm>
          <a:prstGeom prst="rect">
            <a:avLst/>
          </a:prstGeom>
          <a:noFill/>
        </p:spPr>
        <p:txBody>
          <a:bodyPr wrap="square" anchor="t" lIns="0" rIns="0" tIns="0" bIns="0">
            <a:spAutoFit/>
          </a:bodyPr>
          <a:lstStyle/>
          <a:p>
            <a:pPr algn="l">
              <a:lnSpc>
                <a:spcPct val="118000"/>
              </a:lnSpc>
            </a:pPr>
            <a:r>
              <a:rPr sz="3200" b="1">
                <a:solidFill>
                  <a:srgbClr val="0B0B0B"/>
                </a:solidFill>
                <a:latin typeface="Helvetica Neue"/>
              </a:rPr>
              <a:t>What the MVP has actually produced</a:t>
            </a:r>
          </a:p>
        </p:txBody>
      </p:sp>
      <p:sp>
        <p:nvSpPr>
          <p:cNvPr id="5" name="TextBox 4"/>
          <p:cNvSpPr txBox="1"/>
          <p:nvPr/>
        </p:nvSpPr>
        <p:spPr>
          <a:xfrm>
            <a:off x="685800" y="1481328"/>
            <a:ext cx="10058400" cy="457200"/>
          </a:xfrm>
          <a:prstGeom prst="rect">
            <a:avLst/>
          </a:prstGeom>
          <a:noFill/>
        </p:spPr>
        <p:txBody>
          <a:bodyPr wrap="square" anchor="t" lIns="0" rIns="0" tIns="0" bIns="0">
            <a:spAutoFit/>
          </a:bodyPr>
          <a:lstStyle/>
          <a:p>
            <a:pPr algn="l">
              <a:lnSpc>
                <a:spcPct val="118000"/>
              </a:lnSpc>
            </a:pPr>
            <a:r>
              <a:rPr sz="1500" b="0">
                <a:solidFill>
                  <a:srgbClr val="6B6963"/>
                </a:solidFill>
                <a:latin typeface="Helvetica Neue"/>
              </a:rPr>
              <a:t>Every figure below is read from the live database, not typed into this deck.</a:t>
            </a:r>
          </a:p>
        </p:txBody>
      </p:sp>
      <p:sp>
        <p:nvSpPr>
          <p:cNvPr id="6" name="Rectangle 5"/>
          <p:cNvSpPr/>
          <p:nvPr/>
        </p:nvSpPr>
        <p:spPr>
          <a:xfrm>
            <a:off x="685800" y="2148840"/>
            <a:ext cx="2029968" cy="1207008"/>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295144"/>
            <a:ext cx="1664208" cy="457200"/>
          </a:xfrm>
          <a:prstGeom prst="rect">
            <a:avLst/>
          </a:prstGeom>
          <a:noFill/>
        </p:spPr>
        <p:txBody>
          <a:bodyPr wrap="square" anchor="t" lIns="0" rIns="0" tIns="0" bIns="0">
            <a:spAutoFit/>
          </a:bodyPr>
          <a:lstStyle/>
          <a:p>
            <a:pPr algn="l">
              <a:lnSpc>
                <a:spcPct val="118000"/>
              </a:lnSpc>
            </a:pPr>
            <a:r>
              <a:rPr sz="3000" b="1">
                <a:solidFill>
                  <a:srgbClr val="0B0B0B"/>
                </a:solidFill>
                <a:latin typeface="Menlo"/>
              </a:rPr>
              <a:t>418</a:t>
            </a:r>
          </a:p>
        </p:txBody>
      </p:sp>
      <p:sp>
        <p:nvSpPr>
          <p:cNvPr id="8" name="TextBox 7"/>
          <p:cNvSpPr txBox="1"/>
          <p:nvPr/>
        </p:nvSpPr>
        <p:spPr>
          <a:xfrm>
            <a:off x="886968" y="2807208"/>
            <a:ext cx="1664208" cy="274320"/>
          </a:xfrm>
          <a:prstGeom prst="rect">
            <a:avLst/>
          </a:prstGeom>
          <a:noFill/>
        </p:spPr>
        <p:txBody>
          <a:bodyPr wrap="square" anchor="t" lIns="0" rIns="0" tIns="0" bIns="0">
            <a:spAutoFit/>
          </a:bodyPr>
          <a:lstStyle/>
          <a:p>
            <a:pPr algn="l">
              <a:lnSpc>
                <a:spcPct val="118000"/>
              </a:lnSpc>
            </a:pPr>
            <a:r>
              <a:rPr sz="950" b="1">
                <a:solidFill>
                  <a:srgbClr val="6B6963"/>
                </a:solidFill>
                <a:latin typeface="Helvetica Neue"/>
              </a:rPr>
              <a:t>OPPORTUNITY SPACES</a:t>
            </a:r>
          </a:p>
        </p:txBody>
      </p:sp>
      <p:sp>
        <p:nvSpPr>
          <p:cNvPr id="9" name="TextBox 8"/>
          <p:cNvSpPr txBox="1"/>
          <p:nvPr/>
        </p:nvSpPr>
        <p:spPr>
          <a:xfrm>
            <a:off x="886968" y="3035808"/>
            <a:ext cx="1664208" cy="274320"/>
          </a:xfrm>
          <a:prstGeom prst="rect">
            <a:avLst/>
          </a:prstGeom>
          <a:noFill/>
        </p:spPr>
        <p:txBody>
          <a:bodyPr wrap="square" anchor="t" lIns="0" rIns="0" tIns="0" bIns="0">
            <a:spAutoFit/>
          </a:bodyPr>
          <a:lstStyle/>
          <a:p>
            <a:pPr algn="l">
              <a:lnSpc>
                <a:spcPct val="118000"/>
              </a:lnSpc>
            </a:pPr>
            <a:r>
              <a:rPr sz="1000" b="0">
                <a:solidFill>
                  <a:srgbClr val="6B6963"/>
                </a:solidFill>
                <a:latin typeface="Helvetica Neue"/>
              </a:rPr>
              <a:t>15/15 verticals covered</a:t>
            </a:r>
          </a:p>
        </p:txBody>
      </p:sp>
      <p:sp>
        <p:nvSpPr>
          <p:cNvPr id="10" name="Rectangle 9"/>
          <p:cNvSpPr/>
          <p:nvPr/>
        </p:nvSpPr>
        <p:spPr>
          <a:xfrm>
            <a:off x="2898648" y="2148840"/>
            <a:ext cx="2029968" cy="1207008"/>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99816" y="2295144"/>
            <a:ext cx="1664208" cy="457200"/>
          </a:xfrm>
          <a:prstGeom prst="rect">
            <a:avLst/>
          </a:prstGeom>
          <a:noFill/>
        </p:spPr>
        <p:txBody>
          <a:bodyPr wrap="square" anchor="t" lIns="0" rIns="0" tIns="0" bIns="0">
            <a:spAutoFit/>
          </a:bodyPr>
          <a:lstStyle/>
          <a:p>
            <a:pPr algn="l">
              <a:lnSpc>
                <a:spcPct val="118000"/>
              </a:lnSpc>
            </a:pPr>
            <a:r>
              <a:rPr sz="3000" b="1">
                <a:solidFill>
                  <a:srgbClr val="0B0B0B"/>
                </a:solidFill>
                <a:latin typeface="Menlo"/>
              </a:rPr>
              <a:t>11,354</a:t>
            </a:r>
          </a:p>
        </p:txBody>
      </p:sp>
      <p:sp>
        <p:nvSpPr>
          <p:cNvPr id="12" name="TextBox 11"/>
          <p:cNvSpPr txBox="1"/>
          <p:nvPr/>
        </p:nvSpPr>
        <p:spPr>
          <a:xfrm>
            <a:off x="3099816" y="2807208"/>
            <a:ext cx="1664208" cy="274320"/>
          </a:xfrm>
          <a:prstGeom prst="rect">
            <a:avLst/>
          </a:prstGeom>
          <a:noFill/>
        </p:spPr>
        <p:txBody>
          <a:bodyPr wrap="square" anchor="t" lIns="0" rIns="0" tIns="0" bIns="0">
            <a:spAutoFit/>
          </a:bodyPr>
          <a:lstStyle/>
          <a:p>
            <a:pPr algn="l">
              <a:lnSpc>
                <a:spcPct val="118000"/>
              </a:lnSpc>
            </a:pPr>
            <a:r>
              <a:rPr sz="950" b="1">
                <a:solidFill>
                  <a:srgbClr val="6B6963"/>
                </a:solidFill>
                <a:latin typeface="Helvetica Neue"/>
              </a:rPr>
              <a:t>SIGNALS INGESTED</a:t>
            </a:r>
          </a:p>
        </p:txBody>
      </p:sp>
      <p:sp>
        <p:nvSpPr>
          <p:cNvPr id="13" name="TextBox 12"/>
          <p:cNvSpPr txBox="1"/>
          <p:nvPr/>
        </p:nvSpPr>
        <p:spPr>
          <a:xfrm>
            <a:off x="3099816" y="3035808"/>
            <a:ext cx="1664208" cy="274320"/>
          </a:xfrm>
          <a:prstGeom prst="rect">
            <a:avLst/>
          </a:prstGeom>
          <a:noFill/>
        </p:spPr>
        <p:txBody>
          <a:bodyPr wrap="square" anchor="t" lIns="0" rIns="0" tIns="0" bIns="0">
            <a:spAutoFit/>
          </a:bodyPr>
          <a:lstStyle/>
          <a:p>
            <a:pPr algn="l">
              <a:lnSpc>
                <a:spcPct val="118000"/>
              </a:lnSpc>
            </a:pPr>
            <a:r>
              <a:rPr sz="1000" b="0">
                <a:solidFill>
                  <a:srgbClr val="6B6963"/>
                </a:solidFill>
                <a:latin typeface="Helvetica Neue"/>
              </a:rPr>
              <a:t>6,804 passed the gate</a:t>
            </a:r>
          </a:p>
        </p:txBody>
      </p:sp>
      <p:sp>
        <p:nvSpPr>
          <p:cNvPr id="14" name="Rectangle 13"/>
          <p:cNvSpPr/>
          <p:nvPr/>
        </p:nvSpPr>
        <p:spPr>
          <a:xfrm>
            <a:off x="5111496" y="2148840"/>
            <a:ext cx="2029968" cy="1207008"/>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12664" y="2295144"/>
            <a:ext cx="1664208" cy="457200"/>
          </a:xfrm>
          <a:prstGeom prst="rect">
            <a:avLst/>
          </a:prstGeom>
          <a:noFill/>
        </p:spPr>
        <p:txBody>
          <a:bodyPr wrap="square" anchor="t" lIns="0" rIns="0" tIns="0" bIns="0">
            <a:spAutoFit/>
          </a:bodyPr>
          <a:lstStyle/>
          <a:p>
            <a:pPr algn="l">
              <a:lnSpc>
                <a:spcPct val="118000"/>
              </a:lnSpc>
            </a:pPr>
            <a:r>
              <a:rPr sz="3000" b="1">
                <a:solidFill>
                  <a:srgbClr val="0B0B0B"/>
                </a:solidFill>
                <a:latin typeface="Menlo"/>
              </a:rPr>
              <a:t>34</a:t>
            </a:r>
          </a:p>
        </p:txBody>
      </p:sp>
      <p:sp>
        <p:nvSpPr>
          <p:cNvPr id="16" name="TextBox 15"/>
          <p:cNvSpPr txBox="1"/>
          <p:nvPr/>
        </p:nvSpPr>
        <p:spPr>
          <a:xfrm>
            <a:off x="5312664" y="2807208"/>
            <a:ext cx="1664208" cy="274320"/>
          </a:xfrm>
          <a:prstGeom prst="rect">
            <a:avLst/>
          </a:prstGeom>
          <a:noFill/>
        </p:spPr>
        <p:txBody>
          <a:bodyPr wrap="square" anchor="t" lIns="0" rIns="0" tIns="0" bIns="0">
            <a:spAutoFit/>
          </a:bodyPr>
          <a:lstStyle/>
          <a:p>
            <a:pPr algn="l">
              <a:lnSpc>
                <a:spcPct val="118000"/>
              </a:lnSpc>
            </a:pPr>
            <a:r>
              <a:rPr sz="950" b="1">
                <a:solidFill>
                  <a:srgbClr val="6B6963"/>
                </a:solidFill>
                <a:latin typeface="Helvetica Neue"/>
              </a:rPr>
              <a:t>LIVE SOURCES</a:t>
            </a:r>
          </a:p>
        </p:txBody>
      </p:sp>
      <p:sp>
        <p:nvSpPr>
          <p:cNvPr id="17" name="TextBox 16"/>
          <p:cNvSpPr txBox="1"/>
          <p:nvPr/>
        </p:nvSpPr>
        <p:spPr>
          <a:xfrm>
            <a:off x="5312664" y="3035808"/>
            <a:ext cx="1664208" cy="274320"/>
          </a:xfrm>
          <a:prstGeom prst="rect">
            <a:avLst/>
          </a:prstGeom>
          <a:noFill/>
        </p:spPr>
        <p:txBody>
          <a:bodyPr wrap="square" anchor="t" lIns="0" rIns="0" tIns="0" bIns="0">
            <a:spAutoFit/>
          </a:bodyPr>
          <a:lstStyle/>
          <a:p>
            <a:pPr algn="l">
              <a:lnSpc>
                <a:spcPct val="118000"/>
              </a:lnSpc>
            </a:pPr>
            <a:r>
              <a:rPr sz="1000" b="0">
                <a:solidFill>
                  <a:srgbClr val="6B6963"/>
                </a:solidFill>
                <a:latin typeface="Helvetica Neue"/>
              </a:rPr>
              <a:t>33 enabled + internal intake</a:t>
            </a:r>
          </a:p>
        </p:txBody>
      </p:sp>
      <p:sp>
        <p:nvSpPr>
          <p:cNvPr id="18" name="Rectangle 17"/>
          <p:cNvSpPr/>
          <p:nvPr/>
        </p:nvSpPr>
        <p:spPr>
          <a:xfrm>
            <a:off x="7324344" y="2148840"/>
            <a:ext cx="2029968" cy="1207008"/>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25512" y="2295144"/>
            <a:ext cx="1664208" cy="457200"/>
          </a:xfrm>
          <a:prstGeom prst="rect">
            <a:avLst/>
          </a:prstGeom>
          <a:noFill/>
        </p:spPr>
        <p:txBody>
          <a:bodyPr wrap="square" anchor="t" lIns="0" rIns="0" tIns="0" bIns="0">
            <a:spAutoFit/>
          </a:bodyPr>
          <a:lstStyle/>
          <a:p>
            <a:pPr algn="l">
              <a:lnSpc>
                <a:spcPct val="118000"/>
              </a:lnSpc>
            </a:pPr>
            <a:r>
              <a:rPr sz="3000" b="1">
                <a:solidFill>
                  <a:srgbClr val="0B0B0B"/>
                </a:solidFill>
                <a:latin typeface="Menlo"/>
              </a:rPr>
              <a:t>4,832</a:t>
            </a:r>
          </a:p>
        </p:txBody>
      </p:sp>
      <p:sp>
        <p:nvSpPr>
          <p:cNvPr id="20" name="TextBox 19"/>
          <p:cNvSpPr txBox="1"/>
          <p:nvPr/>
        </p:nvSpPr>
        <p:spPr>
          <a:xfrm>
            <a:off x="7525512" y="2807208"/>
            <a:ext cx="1664208" cy="274320"/>
          </a:xfrm>
          <a:prstGeom prst="rect">
            <a:avLst/>
          </a:prstGeom>
          <a:noFill/>
        </p:spPr>
        <p:txBody>
          <a:bodyPr wrap="square" anchor="t" lIns="0" rIns="0" tIns="0" bIns="0">
            <a:spAutoFit/>
          </a:bodyPr>
          <a:lstStyle/>
          <a:p>
            <a:pPr algn="l">
              <a:lnSpc>
                <a:spcPct val="118000"/>
              </a:lnSpc>
            </a:pPr>
            <a:r>
              <a:rPr sz="950" b="1">
                <a:solidFill>
                  <a:srgbClr val="6B6963"/>
                </a:solidFill>
                <a:latin typeface="Helvetica Neue"/>
              </a:rPr>
              <a:t>ASSET LINKS</a:t>
            </a:r>
          </a:p>
        </p:txBody>
      </p:sp>
      <p:sp>
        <p:nvSpPr>
          <p:cNvPr id="21" name="TextBox 20"/>
          <p:cNvSpPr txBox="1"/>
          <p:nvPr/>
        </p:nvSpPr>
        <p:spPr>
          <a:xfrm>
            <a:off x="7525512" y="3035808"/>
            <a:ext cx="1664208" cy="274320"/>
          </a:xfrm>
          <a:prstGeom prst="rect">
            <a:avLst/>
          </a:prstGeom>
          <a:noFill/>
        </p:spPr>
        <p:txBody>
          <a:bodyPr wrap="square" anchor="t" lIns="0" rIns="0" tIns="0" bIns="0">
            <a:spAutoFit/>
          </a:bodyPr>
          <a:lstStyle/>
          <a:p>
            <a:pPr algn="l">
              <a:lnSpc>
                <a:spcPct val="118000"/>
              </a:lnSpc>
            </a:pPr>
            <a:r>
              <a:rPr sz="1000" b="0">
                <a:solidFill>
                  <a:srgbClr val="6B6963"/>
                </a:solidFill>
                <a:latin typeface="Helvetica Neue"/>
              </a:rPr>
              <a:t>181 graph nodes</a:t>
            </a:r>
          </a:p>
        </p:txBody>
      </p:sp>
      <p:sp>
        <p:nvSpPr>
          <p:cNvPr id="22" name="Rectangle 21"/>
          <p:cNvSpPr/>
          <p:nvPr/>
        </p:nvSpPr>
        <p:spPr>
          <a:xfrm>
            <a:off x="9537192" y="2148840"/>
            <a:ext cx="2029968" cy="1207008"/>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38360" y="2295144"/>
            <a:ext cx="1664208" cy="457200"/>
          </a:xfrm>
          <a:prstGeom prst="rect">
            <a:avLst/>
          </a:prstGeom>
          <a:noFill/>
        </p:spPr>
        <p:txBody>
          <a:bodyPr wrap="square" anchor="t" lIns="0" rIns="0" tIns="0" bIns="0">
            <a:spAutoFit/>
          </a:bodyPr>
          <a:lstStyle/>
          <a:p>
            <a:pPr algn="l">
              <a:lnSpc>
                <a:spcPct val="118000"/>
              </a:lnSpc>
            </a:pPr>
            <a:r>
              <a:rPr sz="3000" b="1">
                <a:solidFill>
                  <a:srgbClr val="0B0B0B"/>
                </a:solidFill>
                <a:latin typeface="Menlo"/>
              </a:rPr>
              <a:t>26.7</a:t>
            </a:r>
          </a:p>
        </p:txBody>
      </p:sp>
      <p:sp>
        <p:nvSpPr>
          <p:cNvPr id="24" name="TextBox 23"/>
          <p:cNvSpPr txBox="1"/>
          <p:nvPr/>
        </p:nvSpPr>
        <p:spPr>
          <a:xfrm>
            <a:off x="9738360" y="2807208"/>
            <a:ext cx="1664208" cy="274320"/>
          </a:xfrm>
          <a:prstGeom prst="rect">
            <a:avLst/>
          </a:prstGeom>
          <a:noFill/>
        </p:spPr>
        <p:txBody>
          <a:bodyPr wrap="square" anchor="t" lIns="0" rIns="0" tIns="0" bIns="0">
            <a:spAutoFit/>
          </a:bodyPr>
          <a:lstStyle/>
          <a:p>
            <a:pPr algn="l">
              <a:lnSpc>
                <a:spcPct val="118000"/>
              </a:lnSpc>
            </a:pPr>
            <a:r>
              <a:rPr sz="950" b="1">
                <a:solidFill>
                  <a:srgbClr val="6B6963"/>
                </a:solidFill>
                <a:latin typeface="Helvetica Neue"/>
              </a:rPr>
              <a:t>SIGNALS PER TOPIC</a:t>
            </a:r>
          </a:p>
        </p:txBody>
      </p:sp>
      <p:sp>
        <p:nvSpPr>
          <p:cNvPr id="25" name="TextBox 24"/>
          <p:cNvSpPr txBox="1"/>
          <p:nvPr/>
        </p:nvSpPr>
        <p:spPr>
          <a:xfrm>
            <a:off x="9738360" y="3035808"/>
            <a:ext cx="1664208" cy="274320"/>
          </a:xfrm>
          <a:prstGeom prst="rect">
            <a:avLst/>
          </a:prstGeom>
          <a:noFill/>
        </p:spPr>
        <p:txBody>
          <a:bodyPr wrap="square" anchor="t" lIns="0" rIns="0" tIns="0" bIns="0">
            <a:spAutoFit/>
          </a:bodyPr>
          <a:lstStyle/>
          <a:p>
            <a:pPr algn="l">
              <a:lnSpc>
                <a:spcPct val="118000"/>
              </a:lnSpc>
            </a:pPr>
            <a:r>
              <a:rPr sz="1000" b="0">
                <a:solidFill>
                  <a:srgbClr val="6B6963"/>
                </a:solidFill>
                <a:latin typeface="Helvetica Neue"/>
              </a:rPr>
              <a:t>after enrichment</a:t>
            </a:r>
          </a:p>
        </p:txBody>
      </p:sp>
      <p:sp>
        <p:nvSpPr>
          <p:cNvPr id="26" name="TextBox 25"/>
          <p:cNvSpPr txBox="1"/>
          <p:nvPr/>
        </p:nvSpPr>
        <p:spPr>
          <a:xfrm>
            <a:off x="685800" y="3630168"/>
            <a:ext cx="10881360" cy="365760"/>
          </a:xfrm>
          <a:prstGeom prst="rect">
            <a:avLst/>
          </a:prstGeom>
          <a:noFill/>
        </p:spPr>
        <p:txBody>
          <a:bodyPr wrap="square" anchor="t" lIns="0" rIns="0" tIns="0" bIns="0">
            <a:spAutoFit/>
          </a:bodyPr>
          <a:lstStyle/>
          <a:p>
            <a:pPr algn="l">
              <a:lnSpc>
                <a:spcPct val="118000"/>
              </a:lnSpc>
            </a:pPr>
            <a:r>
              <a:rPr sz="1500" b="1">
                <a:solidFill>
                  <a:srgbClr val="0B0B0B"/>
                </a:solidFill>
                <a:latin typeface="Helvetica Neue"/>
              </a:rPr>
              <a:t>Coverage of the evidenced grid</a:t>
            </a:r>
          </a:p>
        </p:txBody>
      </p:sp>
      <p:sp>
        <p:nvSpPr>
          <p:cNvPr id="27" name="Rectangle 26"/>
          <p:cNvSpPr/>
          <p:nvPr/>
        </p:nvSpPr>
        <p:spPr>
          <a:xfrm>
            <a:off x="685800" y="4119372"/>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3544" y="4050792"/>
            <a:ext cx="10515600" cy="365760"/>
          </a:xfrm>
          <a:prstGeom prst="rect">
            <a:avLst/>
          </a:prstGeom>
          <a:noFill/>
        </p:spPr>
        <p:txBody>
          <a:bodyPr wrap="square" anchor="t" lIns="0" rIns="0" tIns="0" bIns="0">
            <a:spAutoFit/>
          </a:bodyPr>
          <a:lstStyle/>
          <a:p>
            <a:pPr algn="l">
              <a:lnSpc>
                <a:spcPct val="118000"/>
              </a:lnSpc>
            </a:pPr>
            <a:r>
              <a:rPr sz="1350" b="1">
                <a:solidFill>
                  <a:srgbClr val="0B0B0B"/>
                </a:solidFill>
                <a:latin typeface="Helvetica Neue"/>
              </a:rPr>
              <a:t>47 of 59 use cases, 33 of 38 technologies  </a:t>
            </a:r>
            <a:r>
              <a:rPr sz="1350" b="0">
                <a:solidFill>
                  <a:srgbClr val="6B6963"/>
                </a:solidFill>
                <a:latin typeface="Helvetica Neue"/>
              </a:rPr>
              <a:t>appear in at least one topic — the grid is sparse by design.</a:t>
            </a:r>
          </a:p>
        </p:txBody>
      </p:sp>
      <p:sp>
        <p:nvSpPr>
          <p:cNvPr id="29" name="Rectangle 28"/>
          <p:cNvSpPr/>
          <p:nvPr/>
        </p:nvSpPr>
        <p:spPr>
          <a:xfrm>
            <a:off x="685800" y="4576572"/>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3544" y="4507992"/>
            <a:ext cx="10515600" cy="365760"/>
          </a:xfrm>
          <a:prstGeom prst="rect">
            <a:avLst/>
          </a:prstGeom>
          <a:noFill/>
        </p:spPr>
        <p:txBody>
          <a:bodyPr wrap="square" anchor="t" lIns="0" rIns="0" tIns="0" bIns="0">
            <a:spAutoFit/>
          </a:bodyPr>
          <a:lstStyle/>
          <a:p>
            <a:pPr algn="l">
              <a:lnSpc>
                <a:spcPct val="118000"/>
              </a:lnSpc>
            </a:pPr>
            <a:r>
              <a:rPr sz="1350" b="1">
                <a:solidFill>
                  <a:srgbClr val="0B0B0B"/>
                </a:solidFill>
                <a:latin typeface="Helvetica Neue"/>
              </a:rPr>
              <a:t>7,267 tier-1 signals  </a:t>
            </a:r>
            <a:r>
              <a:rPr sz="1350" b="0">
                <a:solidFill>
                  <a:srgbClr val="6B6963"/>
                </a:solidFill>
                <a:latin typeface="Helvetica Neue"/>
              </a:rPr>
              <a:t>from regulators, procurement portals, standards bodies and official statistics.</a:t>
            </a:r>
          </a:p>
        </p:txBody>
      </p:sp>
      <p:sp>
        <p:nvSpPr>
          <p:cNvPr id="31" name="Rectangle 30"/>
          <p:cNvSpPr/>
          <p:nvPr/>
        </p:nvSpPr>
        <p:spPr>
          <a:xfrm>
            <a:off x="685800" y="5033772"/>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3544" y="4965192"/>
            <a:ext cx="10515600" cy="365760"/>
          </a:xfrm>
          <a:prstGeom prst="rect">
            <a:avLst/>
          </a:prstGeom>
          <a:noFill/>
        </p:spPr>
        <p:txBody>
          <a:bodyPr wrap="square" anchor="t" lIns="0" rIns="0" tIns="0" bIns="0">
            <a:spAutoFit/>
          </a:bodyPr>
          <a:lstStyle/>
          <a:p>
            <a:pPr algn="l">
              <a:lnSpc>
                <a:spcPct val="118000"/>
              </a:lnSpc>
            </a:pPr>
            <a:r>
              <a:rPr sz="1350" b="1">
                <a:solidFill>
                  <a:srgbClr val="0B0B0B"/>
                </a:solidFill>
                <a:latin typeface="Helvetica Neue"/>
              </a:rPr>
              <a:t>1,054 French-language signals  </a:t>
            </a:r>
            <a:r>
              <a:rPr sz="1350" b="0">
                <a:solidFill>
                  <a:srgbClr val="6B6963"/>
                </a:solidFill>
                <a:latin typeface="Helvetica Neue"/>
              </a:rPr>
              <a:t>so the anglophone bias named as a principal risk is measured, not assumed.</a:t>
            </a:r>
          </a:p>
        </p:txBody>
      </p:sp>
      <p:sp>
        <p:nvSpPr>
          <p:cNvPr id="33" name="Rectangle 32"/>
          <p:cNvSpPr/>
          <p:nvPr/>
        </p:nvSpPr>
        <p:spPr>
          <a:xfrm>
            <a:off x="685800" y="5490972"/>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3544" y="5422392"/>
            <a:ext cx="10515600" cy="365760"/>
          </a:xfrm>
          <a:prstGeom prst="rect">
            <a:avLst/>
          </a:prstGeom>
          <a:noFill/>
        </p:spPr>
        <p:txBody>
          <a:bodyPr wrap="square" anchor="t" lIns="0" rIns="0" tIns="0" bIns="0">
            <a:spAutoFit/>
          </a:bodyPr>
          <a:lstStyle/>
          <a:p>
            <a:pPr algn="l">
              <a:lnSpc>
                <a:spcPct val="118000"/>
              </a:lnSpc>
            </a:pPr>
            <a:r>
              <a:rPr sz="1350" b="1">
                <a:solidFill>
                  <a:srgbClr val="0B0B0B"/>
                </a:solidFill>
                <a:latin typeface="Helvetica Neue"/>
              </a:rPr>
              <a:t>314 sized bottom-up · 181 competition-scored · 174 briefed  </a:t>
            </a:r>
            <a:r>
              <a:rPr sz="1350" b="0">
                <a:solidFill>
                  <a:srgbClr val="6B6963"/>
                </a:solidFill>
                <a:latin typeface="Helvetica Neue"/>
              </a:rPr>
              <a:t>each with its method and its confidence grade, never a quoted headline.</a:t>
            </a:r>
          </a:p>
        </p:txBody>
      </p:sp>
      <p:sp>
        <p:nvSpPr>
          <p:cNvPr id="35" name="Rectangle 34"/>
          <p:cNvSpPr/>
          <p:nvPr/>
        </p:nvSpPr>
        <p:spPr>
          <a:xfrm>
            <a:off x="685800" y="5948172"/>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3544" y="5879592"/>
            <a:ext cx="10515600" cy="365760"/>
          </a:xfrm>
          <a:prstGeom prst="rect">
            <a:avLst/>
          </a:prstGeom>
          <a:noFill/>
        </p:spPr>
        <p:txBody>
          <a:bodyPr wrap="square" anchor="t" lIns="0" rIns="0" tIns="0" bIns="0">
            <a:spAutoFit/>
          </a:bodyPr>
          <a:lstStyle/>
          <a:p>
            <a:pPr algn="l">
              <a:lnSpc>
                <a:spcPct val="118000"/>
              </a:lnSpc>
            </a:pPr>
            <a:r>
              <a:rPr sz="1350" b="1">
                <a:solidFill>
                  <a:srgbClr val="0B0B0B"/>
                </a:solidFill>
                <a:latin typeface="Helvetica Neue"/>
              </a:rPr>
              <a:t>8 portfolio plans · 12 kinds of pre-sales artefact built  </a:t>
            </a:r>
            <a:r>
              <a:rPr sz="1350" b="0">
                <a:solidFill>
                  <a:srgbClr val="6B6963"/>
                </a:solidFill>
                <a:latin typeface="Helvetica Neue"/>
              </a:rPr>
              <a:t>the two things that turn a ranked list into a decision and a bid.</a:t>
            </a:r>
          </a:p>
        </p:txBody>
      </p:sp>
      <p:sp>
        <p:nvSpPr>
          <p:cNvPr id="37" name="TextBox 36"/>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38" name="TextBox 37"/>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CONCEPT</a:t>
            </a:r>
          </a:p>
        </p:txBody>
      </p:sp>
      <p:sp>
        <p:nvSpPr>
          <p:cNvPr id="4" name="TextBox 3"/>
          <p:cNvSpPr txBox="1"/>
          <p:nvPr/>
        </p:nvSpPr>
        <p:spPr>
          <a:xfrm>
            <a:off x="685800" y="777240"/>
            <a:ext cx="10789920" cy="640080"/>
          </a:xfrm>
          <a:prstGeom prst="rect">
            <a:avLst/>
          </a:prstGeom>
          <a:noFill/>
        </p:spPr>
        <p:txBody>
          <a:bodyPr wrap="square" anchor="t" lIns="0" rIns="0" tIns="0" bIns="0">
            <a:spAutoFit/>
          </a:bodyPr>
          <a:lstStyle/>
          <a:p>
            <a:pPr algn="l">
              <a:lnSpc>
                <a:spcPct val="118000"/>
              </a:lnSpc>
            </a:pPr>
            <a:r>
              <a:rPr sz="3200" b="1">
                <a:solidFill>
                  <a:srgbClr val="0B0B0B"/>
                </a:solidFill>
                <a:latin typeface="Helvetica Neue"/>
              </a:rPr>
              <a:t>Sizing and competition, with the working shown</a:t>
            </a:r>
          </a:p>
        </p:txBody>
      </p:sp>
      <p:sp>
        <p:nvSpPr>
          <p:cNvPr id="5" name="TextBox 4"/>
          <p:cNvSpPr txBox="1"/>
          <p:nvPr/>
        </p:nvSpPr>
        <p:spPr>
          <a:xfrm>
            <a:off x="685800" y="1481328"/>
            <a:ext cx="10058400" cy="457200"/>
          </a:xfrm>
          <a:prstGeom prst="rect">
            <a:avLst/>
          </a:prstGeom>
          <a:noFill/>
        </p:spPr>
        <p:txBody>
          <a:bodyPr wrap="square" anchor="t" lIns="0" rIns="0" tIns="0" bIns="0">
            <a:spAutoFit/>
          </a:bodyPr>
          <a:lstStyle/>
          <a:p>
            <a:pPr algn="l">
              <a:lnSpc>
                <a:spcPct val="118000"/>
              </a:lnSpc>
            </a:pPr>
            <a:r>
              <a:rPr sz="1500" b="0">
                <a:solidFill>
                  <a:srgbClr val="6B6963"/>
                </a:solidFill>
                <a:latin typeface="Helvetica Neue"/>
              </a:rPr>
              <a:t>Two questions a topic cannot be acted on without: how big is it, and who else is already there?</a:t>
            </a:r>
          </a:p>
        </p:txBody>
      </p:sp>
      <p:sp>
        <p:nvSpPr>
          <p:cNvPr id="6" name="Rectangle 5"/>
          <p:cNvSpPr/>
          <p:nvPr/>
        </p:nvSpPr>
        <p:spPr>
          <a:xfrm>
            <a:off x="685800" y="2148840"/>
            <a:ext cx="5486400" cy="265176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404872"/>
            <a:ext cx="493776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MARKET SIZE — BOTTOM UP, NOT QUOTED</a:t>
            </a:r>
          </a:p>
        </p:txBody>
      </p:sp>
      <p:sp>
        <p:nvSpPr>
          <p:cNvPr id="8" name="TextBox 7"/>
          <p:cNvSpPr txBox="1"/>
          <p:nvPr/>
        </p:nvSpPr>
        <p:spPr>
          <a:xfrm>
            <a:off x="960120" y="2770632"/>
            <a:ext cx="4937760" cy="1828800"/>
          </a:xfrm>
          <a:prstGeom prst="rect">
            <a:avLst/>
          </a:prstGeom>
          <a:noFill/>
        </p:spPr>
        <p:txBody>
          <a:bodyPr wrap="square" anchor="t" lIns="0" rIns="0" tIns="0" bIns="0">
            <a:spAutoFit/>
          </a:bodyPr>
          <a:lstStyle/>
          <a:p>
            <a:pPr algn="l">
              <a:lnSpc>
                <a:spcPct val="135000"/>
              </a:lnSpc>
            </a:pPr>
            <a:r>
              <a:rPr sz="1200" b="0">
                <a:solidFill>
                  <a:srgbClr val="0B0B0B"/>
                </a:solidFill>
                <a:latin typeface="Helvetica Neue"/>
              </a:rPr>
              <a:t>Headline market figures in press coverage originate from paid research, are quoted without methodology, and frequently conflict by an order of magnitude.
So the radar builds its own: enterprise counts by sector and size class, times an observed adoption rate, times a plausible contract value. Every estimate carries its method, its inputs and a confidence label — and can be rejected on its arithmetic.</a:t>
            </a:r>
          </a:p>
        </p:txBody>
      </p:sp>
      <p:sp>
        <p:nvSpPr>
          <p:cNvPr id="9" name="Rectangle 8"/>
          <p:cNvSpPr/>
          <p:nvPr/>
        </p:nvSpPr>
        <p:spPr>
          <a:xfrm>
            <a:off x="6400800" y="2148840"/>
            <a:ext cx="5120640" cy="265176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0" y="2404872"/>
            <a:ext cx="457200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COMPETITIVE INTENSITY</a:t>
            </a:r>
          </a:p>
        </p:txBody>
      </p:sp>
      <p:sp>
        <p:nvSpPr>
          <p:cNvPr id="11" name="TextBox 10"/>
          <p:cNvSpPr txBox="1"/>
          <p:nvPr/>
        </p:nvSpPr>
        <p:spPr>
          <a:xfrm>
            <a:off x="6675120" y="2770632"/>
            <a:ext cx="4572000" cy="1828800"/>
          </a:xfrm>
          <a:prstGeom prst="rect">
            <a:avLst/>
          </a:prstGeom>
          <a:noFill/>
        </p:spPr>
        <p:txBody>
          <a:bodyPr wrap="square" anchor="t" lIns="0" rIns="0" tIns="0" bIns="0">
            <a:spAutoFit/>
          </a:bodyPr>
          <a:lstStyle/>
          <a:p>
            <a:pPr algn="l">
              <a:lnSpc>
                <a:spcPct val="135000"/>
              </a:lnSpc>
            </a:pPr>
            <a:r>
              <a:rPr sz="1200" b="0">
                <a:solidFill>
                  <a:srgbClr val="0B0B0B"/>
                </a:solidFill>
                <a:latin typeface="Helvetica Neue"/>
              </a:rPr>
              <a:t>Scored from a versioned competitor register against the evidence actually collected — who is visibly playing here.
A crowded field is not a reason to walk away; it is a reason to win on a specific differentiator. And 'no competitor found' is reported as unverified rather than as empty, because it may only mean the register has a gap.</a:t>
            </a:r>
          </a:p>
        </p:txBody>
      </p:sp>
      <p:sp>
        <p:nvSpPr>
          <p:cNvPr id="12" name="TextBox 11"/>
          <p:cNvSpPr txBox="1"/>
          <p:nvPr/>
        </p:nvSpPr>
        <p:spPr>
          <a:xfrm>
            <a:off x="685800" y="5029200"/>
            <a:ext cx="10881360" cy="457200"/>
          </a:xfrm>
          <a:prstGeom prst="rect">
            <a:avLst/>
          </a:prstGeom>
          <a:noFill/>
        </p:spPr>
        <p:txBody>
          <a:bodyPr wrap="square" anchor="t" lIns="0" rIns="0" tIns="0" bIns="0">
            <a:spAutoFit/>
          </a:bodyPr>
          <a:lstStyle/>
          <a:p>
            <a:pPr algn="l">
              <a:lnSpc>
                <a:spcPct val="118000"/>
              </a:lnSpc>
            </a:pPr>
            <a:r>
              <a:rPr sz="1250" b="0">
                <a:solidFill>
                  <a:srgbClr val="6B6963"/>
                </a:solidFill>
                <a:latin typeface="Helvetica Neue"/>
              </a:rPr>
              <a:t>Both are filterable and sortable, because a number the radar computes but cannot be sorted on is a number a strategist has to eyeball across 418 rows.</a:t>
            </a:r>
          </a:p>
        </p:txBody>
      </p:sp>
      <p:sp>
        <p:nvSpPr>
          <p:cNvPr id="13" name="TextBox 12"/>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14" name="TextBox 13"/>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CONCEPT</a:t>
            </a:r>
          </a:p>
        </p:txBody>
      </p:sp>
      <p:sp>
        <p:nvSpPr>
          <p:cNvPr id="4" name="TextBox 3"/>
          <p:cNvSpPr txBox="1"/>
          <p:nvPr/>
        </p:nvSpPr>
        <p:spPr>
          <a:xfrm>
            <a:off x="685800" y="777240"/>
            <a:ext cx="10789920" cy="640080"/>
          </a:xfrm>
          <a:prstGeom prst="rect">
            <a:avLst/>
          </a:prstGeom>
          <a:noFill/>
        </p:spPr>
        <p:txBody>
          <a:bodyPr wrap="square" anchor="t" lIns="0" rIns="0" tIns="0" bIns="0">
            <a:spAutoFit/>
          </a:bodyPr>
          <a:lstStyle/>
          <a:p>
            <a:pPr algn="l">
              <a:lnSpc>
                <a:spcPct val="118000"/>
              </a:lnSpc>
            </a:pPr>
            <a:r>
              <a:rPr sz="3200" b="1">
                <a:solidFill>
                  <a:srgbClr val="0B0B0B"/>
                </a:solidFill>
                <a:latin typeface="Helvetica Neue"/>
              </a:rPr>
              <a:t>Two routes into a new opportunity space</a:t>
            </a:r>
          </a:p>
        </p:txBody>
      </p:sp>
      <p:sp>
        <p:nvSpPr>
          <p:cNvPr id="5" name="TextBox 4"/>
          <p:cNvSpPr txBox="1"/>
          <p:nvPr/>
        </p:nvSpPr>
        <p:spPr>
          <a:xfrm>
            <a:off x="685800" y="1481328"/>
            <a:ext cx="10058400" cy="457200"/>
          </a:xfrm>
          <a:prstGeom prst="rect">
            <a:avLst/>
          </a:prstGeom>
          <a:noFill/>
        </p:spPr>
        <p:txBody>
          <a:bodyPr wrap="square" anchor="t" lIns="0" rIns="0" tIns="0" bIns="0">
            <a:spAutoFit/>
          </a:bodyPr>
          <a:lstStyle/>
          <a:p>
            <a:pPr algn="l">
              <a:lnSpc>
                <a:spcPct val="118000"/>
              </a:lnSpc>
            </a:pPr>
            <a:r>
              <a:rPr sz="1500" b="0">
                <a:solidFill>
                  <a:srgbClr val="6B6963"/>
                </a:solidFill>
                <a:latin typeface="Helvetica Neue"/>
              </a:rPr>
              <a:t>A refresh answers the questions the corpus was already asked. These answer the one somebody has right now.</a:t>
            </a:r>
          </a:p>
        </p:txBody>
      </p:sp>
      <p:sp>
        <p:nvSpPr>
          <p:cNvPr id="6" name="Rectangle 5"/>
          <p:cNvSpPr/>
          <p:nvPr/>
        </p:nvSpPr>
        <p:spPr>
          <a:xfrm>
            <a:off x="685800" y="2148840"/>
            <a:ext cx="5349240" cy="196596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148840"/>
            <a:ext cx="534924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2423160"/>
            <a:ext cx="4837176" cy="274320"/>
          </a:xfrm>
          <a:prstGeom prst="rect">
            <a:avLst/>
          </a:prstGeom>
          <a:noFill/>
        </p:spPr>
        <p:txBody>
          <a:bodyPr wrap="square" anchor="t" lIns="0" rIns="0" tIns="0" bIns="0">
            <a:spAutoFit/>
          </a:bodyPr>
          <a:lstStyle/>
          <a:p>
            <a:pPr algn="l">
              <a:lnSpc>
                <a:spcPct val="118000"/>
              </a:lnSpc>
            </a:pPr>
            <a:r>
              <a:rPr sz="1100" b="1">
                <a:solidFill>
                  <a:srgbClr val="2A78D6"/>
                </a:solidFill>
                <a:latin typeface="Helvetica Neue"/>
              </a:rPr>
              <a:t>PARAMETERS</a:t>
            </a:r>
          </a:p>
        </p:txBody>
      </p:sp>
      <p:sp>
        <p:nvSpPr>
          <p:cNvPr id="9" name="TextBox 8"/>
          <p:cNvSpPr txBox="1"/>
          <p:nvPr/>
        </p:nvSpPr>
        <p:spPr>
          <a:xfrm>
            <a:off x="941832" y="2715768"/>
            <a:ext cx="4837176" cy="320040"/>
          </a:xfrm>
          <a:prstGeom prst="rect">
            <a:avLst/>
          </a:prstGeom>
          <a:noFill/>
        </p:spPr>
        <p:txBody>
          <a:bodyPr wrap="square" anchor="t" lIns="0" rIns="0" tIns="0" bIns="0">
            <a:spAutoFit/>
          </a:bodyPr>
          <a:lstStyle/>
          <a:p>
            <a:pPr algn="l">
              <a:lnSpc>
                <a:spcPct val="118000"/>
              </a:lnSpc>
            </a:pPr>
            <a:r>
              <a:rPr sz="1400" b="1">
                <a:solidFill>
                  <a:srgbClr val="0B0B0B"/>
                </a:solidFill>
                <a:latin typeface="Helvetica Neue"/>
              </a:rPr>
              <a:t>For somebody who knows the taxonomy</a:t>
            </a:r>
          </a:p>
        </p:txBody>
      </p:sp>
      <p:sp>
        <p:nvSpPr>
          <p:cNvPr id="10" name="TextBox 9"/>
          <p:cNvSpPr txBox="1"/>
          <p:nvPr/>
        </p:nvSpPr>
        <p:spPr>
          <a:xfrm>
            <a:off x="941832" y="3136392"/>
            <a:ext cx="4837176" cy="914400"/>
          </a:xfrm>
          <a:prstGeom prst="rect">
            <a:avLst/>
          </a:prstGeom>
          <a:noFill/>
        </p:spPr>
        <p:txBody>
          <a:bodyPr wrap="square" anchor="t" lIns="0" rIns="0" tIns="0" bIns="0">
            <a:spAutoFit/>
          </a:bodyPr>
          <a:lstStyle/>
          <a:p>
            <a:pPr algn="l">
              <a:lnSpc>
                <a:spcPct val="132000"/>
              </a:lnSpc>
            </a:pPr>
            <a:r>
              <a:rPr sz="1150" b="0">
                <a:solidFill>
                  <a:srgbClr val="6B6963"/>
                </a:solidFill>
                <a:latin typeface="Helvetica Neue"/>
              </a:rPr>
              <a:t>Pick a vertical, a use case, a technology, a horizon. Before anything is spent, the screen shows the spaces that ALREADY satisfy those criteria — because the most common outcome of an on-demand run is rediscovering what the last refresh produced.</a:t>
            </a:r>
          </a:p>
        </p:txBody>
      </p:sp>
      <p:sp>
        <p:nvSpPr>
          <p:cNvPr id="11" name="Rectangle 10"/>
          <p:cNvSpPr/>
          <p:nvPr/>
        </p:nvSpPr>
        <p:spPr>
          <a:xfrm>
            <a:off x="6309360" y="2148840"/>
            <a:ext cx="5349240" cy="196596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2148840"/>
            <a:ext cx="5349240" cy="64008"/>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65392" y="2423160"/>
            <a:ext cx="4837176"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A SCOPING CONVERSATION</a:t>
            </a:r>
          </a:p>
        </p:txBody>
      </p:sp>
      <p:sp>
        <p:nvSpPr>
          <p:cNvPr id="14" name="TextBox 13"/>
          <p:cNvSpPr txBox="1"/>
          <p:nvPr/>
        </p:nvSpPr>
        <p:spPr>
          <a:xfrm>
            <a:off x="6565392" y="2715768"/>
            <a:ext cx="4837176" cy="320040"/>
          </a:xfrm>
          <a:prstGeom prst="rect">
            <a:avLst/>
          </a:prstGeom>
          <a:noFill/>
        </p:spPr>
        <p:txBody>
          <a:bodyPr wrap="square" anchor="t" lIns="0" rIns="0" tIns="0" bIns="0">
            <a:spAutoFit/>
          </a:bodyPr>
          <a:lstStyle/>
          <a:p>
            <a:pPr algn="l">
              <a:lnSpc>
                <a:spcPct val="118000"/>
              </a:lnSpc>
            </a:pPr>
            <a:r>
              <a:rPr sz="1400" b="1">
                <a:solidFill>
                  <a:srgbClr val="0B0B0B"/>
                </a:solidFill>
                <a:latin typeface="Helvetica Neue"/>
              </a:rPr>
              <a:t>For somebody who knows their market</a:t>
            </a:r>
          </a:p>
        </p:txBody>
      </p:sp>
      <p:sp>
        <p:nvSpPr>
          <p:cNvPr id="15" name="TextBox 14"/>
          <p:cNvSpPr txBox="1"/>
          <p:nvPr/>
        </p:nvSpPr>
        <p:spPr>
          <a:xfrm>
            <a:off x="6565392" y="3136392"/>
            <a:ext cx="4837176" cy="914400"/>
          </a:xfrm>
          <a:prstGeom prst="rect">
            <a:avLst/>
          </a:prstGeom>
          <a:noFill/>
        </p:spPr>
        <p:txBody>
          <a:bodyPr wrap="square" anchor="t" lIns="0" rIns="0" tIns="0" bIns="0">
            <a:spAutoFit/>
          </a:bodyPr>
          <a:lstStyle/>
          <a:p>
            <a:pPr algn="l">
              <a:lnSpc>
                <a:spcPct val="132000"/>
              </a:lnSpc>
            </a:pPr>
            <a:r>
              <a:rPr sz="1150" b="0">
                <a:solidFill>
                  <a:srgbClr val="6B6963"/>
                </a:solidFill>
                <a:latin typeface="Helvetica Neue"/>
              </a:rPr>
              <a:t>The assistant interviews, with the corpus in front of it. Every turn re-embeds the whole transcript against the same signal vectors the run will read, and shows what came back — publisher, date and cosine — beside the answer.</a:t>
            </a:r>
          </a:p>
        </p:txBody>
      </p:sp>
      <p:sp>
        <p:nvSpPr>
          <p:cNvPr id="16" name="Rectangle 15"/>
          <p:cNvSpPr/>
          <p:nvPr/>
        </p:nvSpPr>
        <p:spPr>
          <a:xfrm>
            <a:off x="685800" y="4251960"/>
            <a:ext cx="10881360" cy="1371600"/>
          </a:xfrm>
          <a:prstGeom prst="rect">
            <a:avLst/>
          </a:prstGeom>
          <a:solidFill>
            <a:srgbClr val="0B0B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453128"/>
            <a:ext cx="1033272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BOTH ARE REFUSED BY THE SAME GATE, AND THE CORPUS HOLDS IT — NOT THE MODEL</a:t>
            </a:r>
          </a:p>
        </p:txBody>
      </p:sp>
      <p:sp>
        <p:nvSpPr>
          <p:cNvPr id="18" name="TextBox 17"/>
          <p:cNvSpPr txBox="1"/>
          <p:nvPr/>
        </p:nvSpPr>
        <p:spPr>
          <a:xfrm>
            <a:off x="960120" y="4800600"/>
            <a:ext cx="4937760" cy="731520"/>
          </a:xfrm>
          <a:prstGeom prst="rect">
            <a:avLst/>
          </a:prstGeom>
          <a:noFill/>
        </p:spPr>
        <p:txBody>
          <a:bodyPr wrap="square" anchor="t" lIns="0" rIns="0" tIns="0" bIns="0">
            <a:spAutoFit/>
          </a:bodyPr>
          <a:lstStyle/>
          <a:p>
            <a:pPr algn="l">
              <a:lnSpc>
                <a:spcPct val="130000"/>
              </a:lnSpc>
            </a:pPr>
            <a:r>
              <a:rPr sz="1100" b="0">
                <a:solidFill>
                  <a:srgbClr val="C3C2B7"/>
                </a:solidFill>
                <a:latin typeface="Helvetica Neue"/>
              </a:rPr>
              <a:t>A brief must retrieve at least the run's own floor of signals, using the run's own retrieval. Asked “do you have enough?” a model says yes, so the button is enabled by what came back.</a:t>
            </a:r>
          </a:p>
        </p:txBody>
      </p:sp>
      <p:sp>
        <p:nvSpPr>
          <p:cNvPr id="19" name="TextBox 18"/>
          <p:cNvSpPr txBox="1"/>
          <p:nvPr/>
        </p:nvSpPr>
        <p:spPr>
          <a:xfrm>
            <a:off x="6309360" y="4800600"/>
            <a:ext cx="5029200" cy="731520"/>
          </a:xfrm>
          <a:prstGeom prst="rect">
            <a:avLst/>
          </a:prstGeom>
          <a:noFill/>
        </p:spPr>
        <p:txBody>
          <a:bodyPr wrap="square" anchor="t" lIns="0" rIns="0" tIns="0" bIns="0">
            <a:spAutoFit/>
          </a:bodyPr>
          <a:lstStyle/>
          <a:p>
            <a:pPr algn="l">
              <a:lnSpc>
                <a:spcPct val="130000"/>
              </a:lnSpc>
            </a:pPr>
            <a:r>
              <a:rPr sz="1100" b="0">
                <a:solidFill>
                  <a:srgbClr val="C3C2B7"/>
                </a:solidFill>
                <a:latin typeface="Helvetica Neue"/>
              </a:rPr>
              <a:t>And similarity is not support. A second, independent reason is required — on the use case or the technology, never the vertical, which corroborates every brief ever written about a well-covered sector.</a:t>
            </a:r>
          </a:p>
        </p:txBody>
      </p:sp>
      <p:sp>
        <p:nvSpPr>
          <p:cNvPr id="20" name="TextBox 19"/>
          <p:cNvSpPr txBox="1"/>
          <p:nvPr/>
        </p:nvSpPr>
        <p:spPr>
          <a:xfrm>
            <a:off x="685800" y="5760720"/>
            <a:ext cx="10881360" cy="457200"/>
          </a:xfrm>
          <a:prstGeom prst="rect">
            <a:avLst/>
          </a:prstGeom>
          <a:noFill/>
        </p:spPr>
        <p:txBody>
          <a:bodyPr wrap="square" anchor="t" lIns="0" rIns="0" tIns="0" bIns="0">
            <a:spAutoFit/>
          </a:bodyPr>
          <a:lstStyle/>
          <a:p>
            <a:pPr algn="l">
              <a:lnSpc>
                <a:spcPct val="118000"/>
              </a:lnSpc>
            </a:pPr>
            <a:r>
              <a:rPr sz="1250" b="0">
                <a:solidFill>
                  <a:srgbClr val="6B6963"/>
                </a:solidFill>
                <a:latin typeface="Helvetica Neue"/>
              </a:rPr>
              <a:t>Municipal digital signage retrieves French tenders at the same 0.64 cosine a well-evidenced brief scores — so the gate judges the brief's own sentence, not the taxonomy labels it was filed under.</a:t>
            </a:r>
          </a:p>
        </p:txBody>
      </p:sp>
      <p:sp>
        <p:nvSpPr>
          <p:cNvPr id="21" name="TextBox 20"/>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22" name="TextBox 21"/>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676656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FUNCTIONALITY</a:t>
            </a:r>
          </a:p>
        </p:txBody>
      </p:sp>
      <p:sp>
        <p:nvSpPr>
          <p:cNvPr id="4" name="TextBox 3"/>
          <p:cNvSpPr txBox="1"/>
          <p:nvPr/>
        </p:nvSpPr>
        <p:spPr>
          <a:xfrm>
            <a:off x="640080" y="658368"/>
            <a:ext cx="6766560" cy="457200"/>
          </a:xfrm>
          <a:prstGeom prst="rect">
            <a:avLst/>
          </a:prstGeom>
          <a:noFill/>
        </p:spPr>
        <p:txBody>
          <a:bodyPr wrap="square" anchor="t" lIns="0" rIns="0" tIns="0" bIns="0">
            <a:spAutoFit/>
          </a:bodyPr>
          <a:lstStyle/>
          <a:p>
            <a:pPr algn="l">
              <a:lnSpc>
                <a:spcPct val="118000"/>
              </a:lnSpc>
            </a:pPr>
            <a:r>
              <a:rPr sz="2700" b="1">
                <a:solidFill>
                  <a:srgbClr val="0B0B0B"/>
                </a:solidFill>
                <a:latin typeface="Helvetica Neue"/>
              </a:rPr>
              <a:t>The radar view</a:t>
            </a:r>
          </a:p>
        </p:txBody>
      </p:sp>
      <p:sp>
        <p:nvSpPr>
          <p:cNvPr id="5" name="TextBox 4"/>
          <p:cNvSpPr txBox="1"/>
          <p:nvPr/>
        </p:nvSpPr>
        <p:spPr>
          <a:xfrm>
            <a:off x="640080" y="1170432"/>
            <a:ext cx="6766560" cy="365760"/>
          </a:xfrm>
          <a:prstGeom prst="rect">
            <a:avLst/>
          </a:prstGeom>
          <a:noFill/>
        </p:spPr>
        <p:txBody>
          <a:bodyPr wrap="square" anchor="t" lIns="0" rIns="0" tIns="0" bIns="0">
            <a:spAutoFit/>
          </a:bodyPr>
          <a:lstStyle/>
          <a:p>
            <a:pPr algn="l">
              <a:lnSpc>
                <a:spcPct val="118000"/>
              </a:lnSpc>
            </a:pPr>
            <a:r>
              <a:rPr sz="1400" b="0">
                <a:solidFill>
                  <a:srgbClr val="F07000"/>
                </a:solidFill>
                <a:latin typeface="Helvetica Neue"/>
              </a:rPr>
              <a:t>Four dimensions without a legend anyone has to study</a:t>
            </a:r>
          </a:p>
        </p:txBody>
      </p:sp>
      <p:sp>
        <p:nvSpPr>
          <p:cNvPr id="6" name="TextBox 5"/>
          <p:cNvSpPr txBox="1"/>
          <p:nvPr/>
        </p:nvSpPr>
        <p:spPr>
          <a:xfrm>
            <a:off x="640080" y="1664208"/>
            <a:ext cx="3246120" cy="4206240"/>
          </a:xfrm>
          <a:prstGeom prst="rect">
            <a:avLst/>
          </a:prstGeom>
          <a:noFill/>
        </p:spPr>
        <p:txBody>
          <a:bodyPr wrap="square" anchor="t" lIns="0" rIns="0" tIns="0" bIns="0">
            <a:spAutoFit/>
          </a:bodyPr>
          <a:lstStyle/>
          <a:p>
            <a:pPr algn="l">
              <a:lnSpc>
                <a:spcPct val="140000"/>
              </a:lnSpc>
            </a:pPr>
            <a:r>
              <a:rPr sz="1200" b="0">
                <a:solidFill>
                  <a:srgbClr val="6B6963"/>
                </a:solidFill>
                <a:latin typeface="Helvetica Neue"/>
              </a:rPr>
              <a:t>Angular sector is the business domain. Distance from the centre is the time horizon — Now at the middle, Later at the rim. Marker size is attractiveness; marker colour is right to win. Position carries identity, so colour is free to encode a quantity. A ! inside a marker means an evidence gap.</a:t>
            </a:r>
          </a:p>
        </p:txBody>
      </p:sp>
      <p:pic>
        <p:nvPicPr>
          <p:cNvPr id="7" name="Picture 6" descr="radar.png"/>
          <p:cNvPicPr>
            <a:picLocks noChangeAspect="1"/>
          </p:cNvPicPr>
          <p:nvPr/>
        </p:nvPicPr>
        <p:blipFill>
          <a:blip r:embed="rId2"/>
          <a:stretch>
            <a:fillRect/>
          </a:stretch>
        </p:blipFill>
        <p:spPr>
          <a:xfrm>
            <a:off x="4160520" y="1417320"/>
            <a:ext cx="7498079" cy="4217669"/>
          </a:xfrm>
          <a:prstGeom prst="rect">
            <a:avLst/>
          </a:prstGeom>
        </p:spPr>
      </p:pic>
      <p:sp>
        <p:nvSpPr>
          <p:cNvPr id="8" name="Rectangle 7"/>
          <p:cNvSpPr/>
          <p:nvPr/>
        </p:nvSpPr>
        <p:spPr>
          <a:xfrm>
            <a:off x="4160520" y="1417320"/>
            <a:ext cx="7498079" cy="4217669"/>
          </a:xfrm>
          <a:prstGeom prst="rect">
            <a:avLst/>
          </a:prstGeom>
          <a:noFill/>
          <a:ln w="9525">
            <a:solidFill>
              <a:srgbClr val="DE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10" name="TextBox 9"/>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676656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FUNCTIONALITY</a:t>
            </a:r>
          </a:p>
        </p:txBody>
      </p:sp>
      <p:sp>
        <p:nvSpPr>
          <p:cNvPr id="4" name="TextBox 3"/>
          <p:cNvSpPr txBox="1"/>
          <p:nvPr/>
        </p:nvSpPr>
        <p:spPr>
          <a:xfrm>
            <a:off x="640080" y="658368"/>
            <a:ext cx="6766560" cy="457200"/>
          </a:xfrm>
          <a:prstGeom prst="rect">
            <a:avLst/>
          </a:prstGeom>
          <a:noFill/>
        </p:spPr>
        <p:txBody>
          <a:bodyPr wrap="square" anchor="t" lIns="0" rIns="0" tIns="0" bIns="0">
            <a:spAutoFit/>
          </a:bodyPr>
          <a:lstStyle/>
          <a:p>
            <a:pPr algn="l">
              <a:lnSpc>
                <a:spcPct val="118000"/>
              </a:lnSpc>
            </a:pPr>
            <a:r>
              <a:rPr sz="2700" b="1">
                <a:solidFill>
                  <a:srgbClr val="0B0B0B"/>
                </a:solidFill>
                <a:latin typeface="Helvetica Neue"/>
              </a:rPr>
              <a:t>Role-ranked list</a:t>
            </a:r>
          </a:p>
        </p:txBody>
      </p:sp>
      <p:sp>
        <p:nvSpPr>
          <p:cNvPr id="5" name="TextBox 4"/>
          <p:cNvSpPr txBox="1"/>
          <p:nvPr/>
        </p:nvSpPr>
        <p:spPr>
          <a:xfrm>
            <a:off x="640080" y="1170432"/>
            <a:ext cx="6766560" cy="365760"/>
          </a:xfrm>
          <a:prstGeom prst="rect">
            <a:avLst/>
          </a:prstGeom>
          <a:noFill/>
        </p:spPr>
        <p:txBody>
          <a:bodyPr wrap="square" anchor="t" lIns="0" rIns="0" tIns="0" bIns="0">
            <a:spAutoFit/>
          </a:bodyPr>
          <a:lstStyle/>
          <a:p>
            <a:pPr algn="l">
              <a:lnSpc>
                <a:spcPct val="118000"/>
              </a:lnSpc>
            </a:pPr>
            <a:r>
              <a:rPr sz="1400" b="0">
                <a:solidFill>
                  <a:srgbClr val="F07000"/>
                </a:solidFill>
                <a:latin typeface="Helvetica Neue"/>
              </a:rPr>
              <a:t>The same data, three genuinely different rankings</a:t>
            </a:r>
          </a:p>
        </p:txBody>
      </p:sp>
      <p:sp>
        <p:nvSpPr>
          <p:cNvPr id="6" name="TextBox 5"/>
          <p:cNvSpPr txBox="1"/>
          <p:nvPr/>
        </p:nvSpPr>
        <p:spPr>
          <a:xfrm>
            <a:off x="640080" y="1664208"/>
            <a:ext cx="3246120" cy="4206240"/>
          </a:xfrm>
          <a:prstGeom prst="rect">
            <a:avLst/>
          </a:prstGeom>
          <a:noFill/>
        </p:spPr>
        <p:txBody>
          <a:bodyPr wrap="square" anchor="t" lIns="0" rIns="0" tIns="0" bIns="0">
            <a:spAutoFit/>
          </a:bodyPr>
          <a:lstStyle/>
          <a:p>
            <a:pPr algn="l">
              <a:lnSpc>
                <a:spcPct val="140000"/>
              </a:lnSpc>
            </a:pPr>
            <a:r>
              <a:rPr sz="1200" b="0">
                <a:solidFill>
                  <a:srgbClr val="6B6963"/>
                </a:solidFill>
                <a:latin typeface="Helvetica Neue"/>
              </a:rPr>
              <a:t>Strategist ranks on attractiveness and novelty and ignores right-to-win. Sales ranks on right-to-win and proof-point density, and only sees topics with a delivery path, a published reference in the vertical, and no evidence gap. Presales ranks on differentiation.</a:t>
            </a:r>
          </a:p>
        </p:txBody>
      </p:sp>
      <p:pic>
        <p:nvPicPr>
          <p:cNvPr id="7" name="Picture 6" descr="list.png"/>
          <p:cNvPicPr>
            <a:picLocks noChangeAspect="1"/>
          </p:cNvPicPr>
          <p:nvPr/>
        </p:nvPicPr>
        <p:blipFill>
          <a:blip r:embed="rId2"/>
          <a:stretch>
            <a:fillRect/>
          </a:stretch>
        </p:blipFill>
        <p:spPr>
          <a:xfrm>
            <a:off x="4160520" y="1417320"/>
            <a:ext cx="7498079" cy="4217669"/>
          </a:xfrm>
          <a:prstGeom prst="rect">
            <a:avLst/>
          </a:prstGeom>
        </p:spPr>
      </p:pic>
      <p:sp>
        <p:nvSpPr>
          <p:cNvPr id="8" name="Rectangle 7"/>
          <p:cNvSpPr/>
          <p:nvPr/>
        </p:nvSpPr>
        <p:spPr>
          <a:xfrm>
            <a:off x="4160520" y="1417320"/>
            <a:ext cx="7498079" cy="4217669"/>
          </a:xfrm>
          <a:prstGeom prst="rect">
            <a:avLst/>
          </a:prstGeom>
          <a:noFill/>
          <a:ln w="9525">
            <a:solidFill>
              <a:srgbClr val="DE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10" name="TextBox 9"/>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676656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FUNCTIONALITY</a:t>
            </a:r>
          </a:p>
        </p:txBody>
      </p:sp>
      <p:sp>
        <p:nvSpPr>
          <p:cNvPr id="4" name="TextBox 3"/>
          <p:cNvSpPr txBox="1"/>
          <p:nvPr/>
        </p:nvSpPr>
        <p:spPr>
          <a:xfrm>
            <a:off x="640080" y="658368"/>
            <a:ext cx="6766560" cy="457200"/>
          </a:xfrm>
          <a:prstGeom prst="rect">
            <a:avLst/>
          </a:prstGeom>
          <a:noFill/>
        </p:spPr>
        <p:txBody>
          <a:bodyPr wrap="square" anchor="t" lIns="0" rIns="0" tIns="0" bIns="0">
            <a:spAutoFit/>
          </a:bodyPr>
          <a:lstStyle/>
          <a:p>
            <a:pPr algn="l">
              <a:lnSpc>
                <a:spcPct val="118000"/>
              </a:lnSpc>
            </a:pPr>
            <a:r>
              <a:rPr sz="2700" b="1">
                <a:solidFill>
                  <a:srgbClr val="0B0B0B"/>
                </a:solidFill>
                <a:latin typeface="Helvetica Neue"/>
              </a:rPr>
              <a:t>Topic detail</a:t>
            </a:r>
          </a:p>
        </p:txBody>
      </p:sp>
      <p:sp>
        <p:nvSpPr>
          <p:cNvPr id="5" name="TextBox 4"/>
          <p:cNvSpPr txBox="1"/>
          <p:nvPr/>
        </p:nvSpPr>
        <p:spPr>
          <a:xfrm>
            <a:off x="640080" y="1170432"/>
            <a:ext cx="6766560" cy="365760"/>
          </a:xfrm>
          <a:prstGeom prst="rect">
            <a:avLst/>
          </a:prstGeom>
          <a:noFill/>
        </p:spPr>
        <p:txBody>
          <a:bodyPr wrap="square" anchor="t" lIns="0" rIns="0" tIns="0" bIns="0">
            <a:spAutoFit/>
          </a:bodyPr>
          <a:lstStyle/>
          <a:p>
            <a:pPr algn="l">
              <a:lnSpc>
                <a:spcPct val="118000"/>
              </a:lnSpc>
            </a:pPr>
            <a:r>
              <a:rPr sz="1400" b="0">
                <a:solidFill>
                  <a:srgbClr val="F07000"/>
                </a:solidFill>
                <a:latin typeface="Helvetica Neue"/>
              </a:rPr>
              <a:t>Every claim traceable to a dated source</a:t>
            </a:r>
          </a:p>
        </p:txBody>
      </p:sp>
      <p:sp>
        <p:nvSpPr>
          <p:cNvPr id="6" name="TextBox 5"/>
          <p:cNvSpPr txBox="1"/>
          <p:nvPr/>
        </p:nvSpPr>
        <p:spPr>
          <a:xfrm>
            <a:off x="640080" y="1664208"/>
            <a:ext cx="3246120" cy="4206240"/>
          </a:xfrm>
          <a:prstGeom prst="rect">
            <a:avLst/>
          </a:prstGeom>
          <a:noFill/>
        </p:spPr>
        <p:txBody>
          <a:bodyPr wrap="square" anchor="t" lIns="0" rIns="0" tIns="0" bIns="0">
            <a:spAutoFit/>
          </a:bodyPr>
          <a:lstStyle/>
          <a:p>
            <a:pPr algn="l">
              <a:lnSpc>
                <a:spcPct val="140000"/>
              </a:lnSpc>
            </a:pPr>
            <a:r>
              <a:rPr sz="1200" b="0">
                <a:solidFill>
                  <a:srgbClr val="6B6963"/>
                </a:solidFill>
                <a:latin typeface="Helvetica Neue"/>
              </a:rPr>
              <a:t>One page in the order the user's questions arrive: the statement, why it is hot now with each claim linked to its signals, where it delivers value and for whom, can-we-play/can-we-win itemised against named Orange assets, the score breakdown expanded, and the next action for the current role.</a:t>
            </a:r>
          </a:p>
        </p:txBody>
      </p:sp>
      <p:pic>
        <p:nvPicPr>
          <p:cNvPr id="7" name="Picture 6" descr="detail.png"/>
          <p:cNvPicPr>
            <a:picLocks noChangeAspect="1"/>
          </p:cNvPicPr>
          <p:nvPr/>
        </p:nvPicPr>
        <p:blipFill>
          <a:blip r:embed="rId2"/>
          <a:stretch>
            <a:fillRect/>
          </a:stretch>
        </p:blipFill>
        <p:spPr>
          <a:xfrm>
            <a:off x="4160520" y="1417320"/>
            <a:ext cx="7498079" cy="4217669"/>
          </a:xfrm>
          <a:prstGeom prst="rect">
            <a:avLst/>
          </a:prstGeom>
        </p:spPr>
      </p:pic>
      <p:sp>
        <p:nvSpPr>
          <p:cNvPr id="8" name="Rectangle 7"/>
          <p:cNvSpPr/>
          <p:nvPr/>
        </p:nvSpPr>
        <p:spPr>
          <a:xfrm>
            <a:off x="4160520" y="1417320"/>
            <a:ext cx="7498079" cy="4217669"/>
          </a:xfrm>
          <a:prstGeom prst="rect">
            <a:avLst/>
          </a:prstGeom>
          <a:noFill/>
          <a:ln w="9525">
            <a:solidFill>
              <a:srgbClr val="DE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10" name="TextBox 9"/>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676656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FUNCTIONALITY</a:t>
            </a:r>
          </a:p>
        </p:txBody>
      </p:sp>
      <p:sp>
        <p:nvSpPr>
          <p:cNvPr id="4" name="TextBox 3"/>
          <p:cNvSpPr txBox="1"/>
          <p:nvPr/>
        </p:nvSpPr>
        <p:spPr>
          <a:xfrm>
            <a:off x="640080" y="658368"/>
            <a:ext cx="6766560" cy="457200"/>
          </a:xfrm>
          <a:prstGeom prst="rect">
            <a:avLst/>
          </a:prstGeom>
          <a:noFill/>
        </p:spPr>
        <p:txBody>
          <a:bodyPr wrap="square" anchor="t" lIns="0" rIns="0" tIns="0" bIns="0">
            <a:spAutoFit/>
          </a:bodyPr>
          <a:lstStyle/>
          <a:p>
            <a:pPr algn="l">
              <a:lnSpc>
                <a:spcPct val="118000"/>
              </a:lnSpc>
            </a:pPr>
            <a:r>
              <a:rPr sz="2700" b="1">
                <a:solidFill>
                  <a:srgbClr val="0B0B0B"/>
                </a:solidFill>
                <a:latin typeface="Helvetica Neue"/>
              </a:rPr>
              <a:t>One space, full screen</a:t>
            </a:r>
          </a:p>
        </p:txBody>
      </p:sp>
      <p:sp>
        <p:nvSpPr>
          <p:cNvPr id="5" name="TextBox 4"/>
          <p:cNvSpPr txBox="1"/>
          <p:nvPr/>
        </p:nvSpPr>
        <p:spPr>
          <a:xfrm>
            <a:off x="640080" y="1170432"/>
            <a:ext cx="6766560" cy="365760"/>
          </a:xfrm>
          <a:prstGeom prst="rect">
            <a:avLst/>
          </a:prstGeom>
          <a:noFill/>
        </p:spPr>
        <p:txBody>
          <a:bodyPr wrap="square" anchor="t" lIns="0" rIns="0" tIns="0" bIns="0">
            <a:spAutoFit/>
          </a:bodyPr>
          <a:lstStyle/>
          <a:p>
            <a:pPr algn="l">
              <a:lnSpc>
                <a:spcPct val="118000"/>
              </a:lnSpc>
            </a:pPr>
            <a:r>
              <a:rPr sz="1400" b="0">
                <a:solidFill>
                  <a:srgbClr val="F07000"/>
                </a:solidFill>
                <a:latin typeface="Helvetica Neue"/>
              </a:rPr>
              <a:t>Four tabs, in the order the questions arrive</a:t>
            </a:r>
          </a:p>
        </p:txBody>
      </p:sp>
      <p:sp>
        <p:nvSpPr>
          <p:cNvPr id="6" name="TextBox 5"/>
          <p:cNvSpPr txBox="1"/>
          <p:nvPr/>
        </p:nvSpPr>
        <p:spPr>
          <a:xfrm>
            <a:off x="640080" y="1664208"/>
            <a:ext cx="3246120" cy="4206240"/>
          </a:xfrm>
          <a:prstGeom prst="rect">
            <a:avLst/>
          </a:prstGeom>
          <a:noFill/>
        </p:spPr>
        <p:txBody>
          <a:bodyPr wrap="square" anchor="t" lIns="0" rIns="0" tIns="0" bIns="0">
            <a:spAutoFit/>
          </a:bodyPr>
          <a:lstStyle/>
          <a:p>
            <a:pPr algn="l">
              <a:lnSpc>
                <a:spcPct val="140000"/>
              </a:lnSpc>
            </a:pPr>
            <a:r>
              <a:rPr sz="1200" b="0">
                <a:solidFill>
                  <a:srgbClr val="6B6963"/>
                </a:solidFill>
                <a:latin typeface="Helvetica Neue"/>
              </a:rPr>
              <a:t>The three-pane layout is right for working THROUGH the radar — filter, scan, open, compare, move on. It is wrong for the moment somebody reads a space. So the same content opens with the panes out of the way, in four tabs: the space, the competitors, the sales brief, and the pre-sales pack. What is this, who else is here, what do I send, what comes after the meeting.</a:t>
            </a:r>
          </a:p>
        </p:txBody>
      </p:sp>
      <p:pic>
        <p:nvPicPr>
          <p:cNvPr id="7" name="Picture 6" descr="fs_space.png"/>
          <p:cNvPicPr>
            <a:picLocks noChangeAspect="1"/>
          </p:cNvPicPr>
          <p:nvPr/>
        </p:nvPicPr>
        <p:blipFill>
          <a:blip r:embed="rId2"/>
          <a:stretch>
            <a:fillRect/>
          </a:stretch>
        </p:blipFill>
        <p:spPr>
          <a:xfrm>
            <a:off x="4160520" y="1417320"/>
            <a:ext cx="7498079" cy="4217669"/>
          </a:xfrm>
          <a:prstGeom prst="rect">
            <a:avLst/>
          </a:prstGeom>
        </p:spPr>
      </p:pic>
      <p:sp>
        <p:nvSpPr>
          <p:cNvPr id="8" name="Rectangle 7"/>
          <p:cNvSpPr/>
          <p:nvPr/>
        </p:nvSpPr>
        <p:spPr>
          <a:xfrm>
            <a:off x="4160520" y="1417320"/>
            <a:ext cx="7498079" cy="4217669"/>
          </a:xfrm>
          <a:prstGeom prst="rect">
            <a:avLst/>
          </a:prstGeom>
          <a:noFill/>
          <a:ln w="9525">
            <a:solidFill>
              <a:srgbClr val="DE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10" name="TextBox 9"/>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676656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FUNCTIONALITY</a:t>
            </a:r>
          </a:p>
        </p:txBody>
      </p:sp>
      <p:sp>
        <p:nvSpPr>
          <p:cNvPr id="4" name="TextBox 3"/>
          <p:cNvSpPr txBox="1"/>
          <p:nvPr/>
        </p:nvSpPr>
        <p:spPr>
          <a:xfrm>
            <a:off x="640080" y="658368"/>
            <a:ext cx="6766560" cy="457200"/>
          </a:xfrm>
          <a:prstGeom prst="rect">
            <a:avLst/>
          </a:prstGeom>
          <a:noFill/>
        </p:spPr>
        <p:txBody>
          <a:bodyPr wrap="square" anchor="t" lIns="0" rIns="0" tIns="0" bIns="0">
            <a:spAutoFit/>
          </a:bodyPr>
          <a:lstStyle/>
          <a:p>
            <a:pPr algn="l">
              <a:lnSpc>
                <a:spcPct val="118000"/>
              </a:lnSpc>
            </a:pPr>
            <a:r>
              <a:rPr sz="2700" b="1">
                <a:solidFill>
                  <a:srgbClr val="0B0B0B"/>
                </a:solidFill>
                <a:latin typeface="Helvetica Neue"/>
              </a:rPr>
              <a:t>How this score was calculated</a:t>
            </a:r>
          </a:p>
        </p:txBody>
      </p:sp>
      <p:sp>
        <p:nvSpPr>
          <p:cNvPr id="5" name="TextBox 4"/>
          <p:cNvSpPr txBox="1"/>
          <p:nvPr/>
        </p:nvSpPr>
        <p:spPr>
          <a:xfrm>
            <a:off x="640080" y="1170432"/>
            <a:ext cx="6766560" cy="365760"/>
          </a:xfrm>
          <a:prstGeom prst="rect">
            <a:avLst/>
          </a:prstGeom>
          <a:noFill/>
        </p:spPr>
        <p:txBody>
          <a:bodyPr wrap="square" anchor="t" lIns="0" rIns="0" tIns="0" bIns="0">
            <a:spAutoFit/>
          </a:bodyPr>
          <a:lstStyle/>
          <a:p>
            <a:pPr algn="l">
              <a:lnSpc>
                <a:spcPct val="118000"/>
              </a:lnSpc>
            </a:pPr>
            <a:r>
              <a:rPr sz="1400" b="0">
                <a:solidFill>
                  <a:srgbClr val="F07000"/>
                </a:solidFill>
                <a:latin typeface="Helvetica Neue"/>
              </a:rPr>
              <a:t>Explainability made checkable rather than asserted</a:t>
            </a:r>
          </a:p>
        </p:txBody>
      </p:sp>
      <p:sp>
        <p:nvSpPr>
          <p:cNvPr id="6" name="TextBox 5"/>
          <p:cNvSpPr txBox="1"/>
          <p:nvPr/>
        </p:nvSpPr>
        <p:spPr>
          <a:xfrm>
            <a:off x="640080" y="1664208"/>
            <a:ext cx="3246120" cy="4206240"/>
          </a:xfrm>
          <a:prstGeom prst="rect">
            <a:avLst/>
          </a:prstGeom>
          <a:noFill/>
        </p:spPr>
        <p:txBody>
          <a:bodyPr wrap="square" anchor="t" lIns="0" rIns="0" tIns="0" bIns="0">
            <a:spAutoFit/>
          </a:bodyPr>
          <a:lstStyle/>
          <a:p>
            <a:pPr algn="l">
              <a:lnSpc>
                <a:spcPct val="140000"/>
              </a:lnSpc>
            </a:pPr>
            <a:r>
              <a:rPr sz="1200" b="0">
                <a:solidFill>
                  <a:srgbClr val="6B6963"/>
                </a:solidFill>
                <a:latin typeface="Helvetica Neue"/>
              </a:rPr>
              <a:t>Every component shows the stored inputs and the arithmetic: publisher entropy and the publishers counted, the tier distribution, the per-period buckets the momentum slope was fitted to, the rubric level and its rationale. A reviewer outside the project can reconstruct why any topic holds its rank.</a:t>
            </a:r>
          </a:p>
        </p:txBody>
      </p:sp>
      <p:pic>
        <p:nvPicPr>
          <p:cNvPr id="7" name="Picture 6" descr="explain.png"/>
          <p:cNvPicPr>
            <a:picLocks noChangeAspect="1"/>
          </p:cNvPicPr>
          <p:nvPr/>
        </p:nvPicPr>
        <p:blipFill>
          <a:blip r:embed="rId2"/>
          <a:stretch>
            <a:fillRect/>
          </a:stretch>
        </p:blipFill>
        <p:spPr>
          <a:xfrm>
            <a:off x="4160520" y="1417320"/>
            <a:ext cx="7498079" cy="4217669"/>
          </a:xfrm>
          <a:prstGeom prst="rect">
            <a:avLst/>
          </a:prstGeom>
        </p:spPr>
      </p:pic>
      <p:sp>
        <p:nvSpPr>
          <p:cNvPr id="8" name="Rectangle 7"/>
          <p:cNvSpPr/>
          <p:nvPr/>
        </p:nvSpPr>
        <p:spPr>
          <a:xfrm>
            <a:off x="4160520" y="1417320"/>
            <a:ext cx="7498079" cy="4217669"/>
          </a:xfrm>
          <a:prstGeom prst="rect">
            <a:avLst/>
          </a:prstGeom>
          <a:noFill/>
          <a:ln w="9525">
            <a:solidFill>
              <a:srgbClr val="DE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10" name="TextBox 9"/>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676656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FUNCTIONALITY</a:t>
            </a:r>
          </a:p>
        </p:txBody>
      </p:sp>
      <p:sp>
        <p:nvSpPr>
          <p:cNvPr id="4" name="TextBox 3"/>
          <p:cNvSpPr txBox="1"/>
          <p:nvPr/>
        </p:nvSpPr>
        <p:spPr>
          <a:xfrm>
            <a:off x="640080" y="658368"/>
            <a:ext cx="6766560" cy="457200"/>
          </a:xfrm>
          <a:prstGeom prst="rect">
            <a:avLst/>
          </a:prstGeom>
          <a:noFill/>
        </p:spPr>
        <p:txBody>
          <a:bodyPr wrap="square" anchor="t" lIns="0" rIns="0" tIns="0" bIns="0">
            <a:spAutoFit/>
          </a:bodyPr>
          <a:lstStyle/>
          <a:p>
            <a:pPr algn="l">
              <a:lnSpc>
                <a:spcPct val="118000"/>
              </a:lnSpc>
            </a:pPr>
            <a:r>
              <a:rPr sz="2700" b="1">
                <a:solidFill>
                  <a:srgbClr val="0B0B0B"/>
                </a:solidFill>
                <a:latin typeface="Helvetica Neue"/>
              </a:rPr>
              <a:t>Pre-sales collateral</a:t>
            </a:r>
          </a:p>
        </p:txBody>
      </p:sp>
      <p:sp>
        <p:nvSpPr>
          <p:cNvPr id="5" name="TextBox 4"/>
          <p:cNvSpPr txBox="1"/>
          <p:nvPr/>
        </p:nvSpPr>
        <p:spPr>
          <a:xfrm>
            <a:off x="640080" y="1170432"/>
            <a:ext cx="6766560" cy="365760"/>
          </a:xfrm>
          <a:prstGeom prst="rect">
            <a:avLst/>
          </a:prstGeom>
          <a:noFill/>
        </p:spPr>
        <p:txBody>
          <a:bodyPr wrap="square" anchor="t" lIns="0" rIns="0" tIns="0" bIns="0">
            <a:spAutoFit/>
          </a:bodyPr>
          <a:lstStyle/>
          <a:p>
            <a:pPr algn="l">
              <a:lnSpc>
                <a:spcPct val="118000"/>
              </a:lnSpc>
            </a:pPr>
            <a:r>
              <a:rPr sz="1400" b="0">
                <a:solidFill>
                  <a:srgbClr val="F07000"/>
                </a:solidFill>
                <a:latin typeface="Helvetica Neue"/>
              </a:rPr>
              <a:t>Twelve pieces, in the format each reader works in</a:t>
            </a:r>
          </a:p>
        </p:txBody>
      </p:sp>
      <p:sp>
        <p:nvSpPr>
          <p:cNvPr id="6" name="TextBox 5"/>
          <p:cNvSpPr txBox="1"/>
          <p:nvPr/>
        </p:nvSpPr>
        <p:spPr>
          <a:xfrm>
            <a:off x="640080" y="1664208"/>
            <a:ext cx="3246120" cy="4206240"/>
          </a:xfrm>
          <a:prstGeom prst="rect">
            <a:avLst/>
          </a:prstGeom>
          <a:noFill/>
        </p:spPr>
        <p:txBody>
          <a:bodyPr wrap="square" anchor="t" lIns="0" rIns="0" tIns="0" bIns="0">
            <a:spAutoFit/>
          </a:bodyPr>
          <a:lstStyle/>
          <a:p>
            <a:pPr algn="l">
              <a:lnSpc>
                <a:spcPct val="140000"/>
              </a:lnSpc>
            </a:pPr>
            <a:r>
              <a:rPr sz="1200" b="0">
                <a:solidFill>
                  <a:srgbClr val="6B6963"/>
                </a:solidFill>
                <a:latin typeface="Helvetica Neue"/>
              </a:rPr>
              <a:t>The brief is one document for one conversation. This is what the team needs between that conversation and a proposal. All twelve are listed whether or not anything has been built, because what COULD be produced is as much of the answer as what has been — and a screen that starts empty is one nobody presses a button on.</a:t>
            </a:r>
          </a:p>
        </p:txBody>
      </p:sp>
      <p:pic>
        <p:nvPicPr>
          <p:cNvPr id="7" name="Picture 6" descr="fs_presales.png"/>
          <p:cNvPicPr>
            <a:picLocks noChangeAspect="1"/>
          </p:cNvPicPr>
          <p:nvPr/>
        </p:nvPicPr>
        <p:blipFill>
          <a:blip r:embed="rId2"/>
          <a:stretch>
            <a:fillRect/>
          </a:stretch>
        </p:blipFill>
        <p:spPr>
          <a:xfrm>
            <a:off x="4160520" y="1417320"/>
            <a:ext cx="7498079" cy="4217669"/>
          </a:xfrm>
          <a:prstGeom prst="rect">
            <a:avLst/>
          </a:prstGeom>
        </p:spPr>
      </p:pic>
      <p:sp>
        <p:nvSpPr>
          <p:cNvPr id="8" name="Rectangle 7"/>
          <p:cNvSpPr/>
          <p:nvPr/>
        </p:nvSpPr>
        <p:spPr>
          <a:xfrm>
            <a:off x="4160520" y="1417320"/>
            <a:ext cx="7498079" cy="4217669"/>
          </a:xfrm>
          <a:prstGeom prst="rect">
            <a:avLst/>
          </a:prstGeom>
          <a:noFill/>
          <a:ln w="9525">
            <a:solidFill>
              <a:srgbClr val="DE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10" name="TextBox 9"/>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676656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FUNCTIONALITY</a:t>
            </a:r>
          </a:p>
        </p:txBody>
      </p:sp>
      <p:sp>
        <p:nvSpPr>
          <p:cNvPr id="4" name="TextBox 3"/>
          <p:cNvSpPr txBox="1"/>
          <p:nvPr/>
        </p:nvSpPr>
        <p:spPr>
          <a:xfrm>
            <a:off x="640080" y="658368"/>
            <a:ext cx="6766560" cy="457200"/>
          </a:xfrm>
          <a:prstGeom prst="rect">
            <a:avLst/>
          </a:prstGeom>
          <a:noFill/>
        </p:spPr>
        <p:txBody>
          <a:bodyPr wrap="square" anchor="t" lIns="0" rIns="0" tIns="0" bIns="0">
            <a:spAutoFit/>
          </a:bodyPr>
          <a:lstStyle/>
          <a:p>
            <a:pPr algn="l">
              <a:lnSpc>
                <a:spcPct val="118000"/>
              </a:lnSpc>
            </a:pPr>
            <a:r>
              <a:rPr sz="2700" b="1">
                <a:solidFill>
                  <a:srgbClr val="0B0B0B"/>
                </a:solidFill>
                <a:latin typeface="Helvetica Neue"/>
              </a:rPr>
              <a:t>Stage gate and role assessment</a:t>
            </a:r>
          </a:p>
        </p:txBody>
      </p:sp>
      <p:sp>
        <p:nvSpPr>
          <p:cNvPr id="5" name="TextBox 4"/>
          <p:cNvSpPr txBox="1"/>
          <p:nvPr/>
        </p:nvSpPr>
        <p:spPr>
          <a:xfrm>
            <a:off x="640080" y="1170432"/>
            <a:ext cx="6766560" cy="365760"/>
          </a:xfrm>
          <a:prstGeom prst="rect">
            <a:avLst/>
          </a:prstGeom>
          <a:noFill/>
        </p:spPr>
        <p:txBody>
          <a:bodyPr wrap="square" anchor="t" lIns="0" rIns="0" tIns="0" bIns="0">
            <a:spAutoFit/>
          </a:bodyPr>
          <a:lstStyle/>
          <a:p>
            <a:pPr algn="l">
              <a:lnSpc>
                <a:spcPct val="118000"/>
              </a:lnSpc>
            </a:pPr>
            <a:r>
              <a:rPr sz="1400" b="0">
                <a:solidFill>
                  <a:srgbClr val="F07000"/>
                </a:solidFill>
                <a:latin typeface="Helvetica Neue"/>
              </a:rPr>
              <a:t>Shortlisted → Demand-tested → Packaged → Live</a:t>
            </a:r>
          </a:p>
        </p:txBody>
      </p:sp>
      <p:sp>
        <p:nvSpPr>
          <p:cNvPr id="6" name="TextBox 5"/>
          <p:cNvSpPr txBox="1"/>
          <p:nvPr/>
        </p:nvSpPr>
        <p:spPr>
          <a:xfrm>
            <a:off x="640080" y="1664208"/>
            <a:ext cx="3246120" cy="4206240"/>
          </a:xfrm>
          <a:prstGeom prst="rect">
            <a:avLst/>
          </a:prstGeom>
          <a:noFill/>
        </p:spPr>
        <p:txBody>
          <a:bodyPr wrap="square" anchor="t" lIns="0" rIns="0" tIns="0" bIns="0">
            <a:spAutoFit/>
          </a:bodyPr>
          <a:lstStyle/>
          <a:p>
            <a:pPr algn="l">
              <a:lnSpc>
                <a:spcPct val="140000"/>
              </a:lnSpc>
            </a:pPr>
            <a:r>
              <a:rPr sz="1200" b="0">
                <a:solidFill>
                  <a:srgbClr val="6B6963"/>
                </a:solidFill>
                <a:latin typeface="Helvetica Neue"/>
              </a:rPr>
              <a:t>Ownership follows the stage, and stalled cards are flagged because latency is the known weakness of a stage gate. Each role rates only the axis it owns, on a 0–5 scale with written anchors. Those ratings form conviction — a third quantity that changes ranking only.</a:t>
            </a:r>
          </a:p>
        </p:txBody>
      </p:sp>
      <p:pic>
        <p:nvPicPr>
          <p:cNvPr id="7" name="Picture 6" descr="workflow.png"/>
          <p:cNvPicPr>
            <a:picLocks noChangeAspect="1"/>
          </p:cNvPicPr>
          <p:nvPr/>
        </p:nvPicPr>
        <p:blipFill>
          <a:blip r:embed="rId2"/>
          <a:stretch>
            <a:fillRect/>
          </a:stretch>
        </p:blipFill>
        <p:spPr>
          <a:xfrm>
            <a:off x="4160520" y="1417320"/>
            <a:ext cx="7498079" cy="4217669"/>
          </a:xfrm>
          <a:prstGeom prst="rect">
            <a:avLst/>
          </a:prstGeom>
        </p:spPr>
      </p:pic>
      <p:sp>
        <p:nvSpPr>
          <p:cNvPr id="8" name="Rectangle 7"/>
          <p:cNvSpPr/>
          <p:nvPr/>
        </p:nvSpPr>
        <p:spPr>
          <a:xfrm>
            <a:off x="4160520" y="1417320"/>
            <a:ext cx="7498079" cy="4217669"/>
          </a:xfrm>
          <a:prstGeom prst="rect">
            <a:avLst/>
          </a:prstGeom>
          <a:noFill/>
          <a:ln w="9525">
            <a:solidFill>
              <a:srgbClr val="DE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10" name="TextBox 9"/>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676656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FUNCTIONALITY</a:t>
            </a:r>
          </a:p>
        </p:txBody>
      </p:sp>
      <p:sp>
        <p:nvSpPr>
          <p:cNvPr id="4" name="TextBox 3"/>
          <p:cNvSpPr txBox="1"/>
          <p:nvPr/>
        </p:nvSpPr>
        <p:spPr>
          <a:xfrm>
            <a:off x="640080" y="658368"/>
            <a:ext cx="6766560" cy="457200"/>
          </a:xfrm>
          <a:prstGeom prst="rect">
            <a:avLst/>
          </a:prstGeom>
          <a:noFill/>
        </p:spPr>
        <p:txBody>
          <a:bodyPr wrap="square" anchor="t" lIns="0" rIns="0" tIns="0" bIns="0">
            <a:spAutoFit/>
          </a:bodyPr>
          <a:lstStyle/>
          <a:p>
            <a:pPr algn="l">
              <a:lnSpc>
                <a:spcPct val="118000"/>
              </a:lnSpc>
            </a:pPr>
            <a:r>
              <a:rPr sz="2700" b="1">
                <a:solidFill>
                  <a:srgbClr val="0B0B0B"/>
                </a:solidFill>
                <a:latin typeface="Helvetica Neue"/>
              </a:rPr>
              <a:t>Analytics</a:t>
            </a:r>
          </a:p>
        </p:txBody>
      </p:sp>
      <p:sp>
        <p:nvSpPr>
          <p:cNvPr id="5" name="TextBox 4"/>
          <p:cNvSpPr txBox="1"/>
          <p:nvPr/>
        </p:nvSpPr>
        <p:spPr>
          <a:xfrm>
            <a:off x="640080" y="1170432"/>
            <a:ext cx="6766560" cy="365760"/>
          </a:xfrm>
          <a:prstGeom prst="rect">
            <a:avLst/>
          </a:prstGeom>
          <a:noFill/>
        </p:spPr>
        <p:txBody>
          <a:bodyPr wrap="square" anchor="t" lIns="0" rIns="0" tIns="0" bIns="0">
            <a:spAutoFit/>
          </a:bodyPr>
          <a:lstStyle/>
          <a:p>
            <a:pPr algn="l">
              <a:lnSpc>
                <a:spcPct val="118000"/>
              </a:lnSpc>
            </a:pPr>
            <a:r>
              <a:rPr sz="1400" b="0">
                <a:solidFill>
                  <a:srgbClr val="F07000"/>
                </a:solidFill>
                <a:latin typeface="Helvetica Neue"/>
              </a:rPr>
              <a:t>Charts chosen by the job the data does</a:t>
            </a:r>
          </a:p>
        </p:txBody>
      </p:sp>
      <p:sp>
        <p:nvSpPr>
          <p:cNvPr id="6" name="TextBox 5"/>
          <p:cNvSpPr txBox="1"/>
          <p:nvPr/>
        </p:nvSpPr>
        <p:spPr>
          <a:xfrm>
            <a:off x="640080" y="1664208"/>
            <a:ext cx="3246120" cy="4206240"/>
          </a:xfrm>
          <a:prstGeom prst="rect">
            <a:avLst/>
          </a:prstGeom>
          <a:noFill/>
        </p:spPr>
        <p:txBody>
          <a:bodyPr wrap="square" anchor="t" lIns="0" rIns="0" tIns="0" bIns="0">
            <a:spAutoFit/>
          </a:bodyPr>
          <a:lstStyle/>
          <a:p>
            <a:pPr algn="l">
              <a:lnSpc>
                <a:spcPct val="140000"/>
              </a:lnSpc>
            </a:pPr>
            <a:r>
              <a:rPr sz="1200" b="0">
                <a:solidFill>
                  <a:srgbClr val="6B6963"/>
                </a:solidFill>
                <a:latin typeface="Helvetica Neue"/>
              </a:rPr>
              <a:t>The vertical × domain heatmap is magnitude on a grid, so sequential. Conviction versus evidence is polarity, so diverging with a neutral midpoint — agreement reads as nothing. The stage funnel is an ordered sequence, so ordinal. Only the signal-type mix is categorical, and it ships a legend and a table.</a:t>
            </a:r>
          </a:p>
        </p:txBody>
      </p:sp>
      <p:pic>
        <p:nvPicPr>
          <p:cNvPr id="7" name="Picture 6" descr="analytics.png"/>
          <p:cNvPicPr>
            <a:picLocks noChangeAspect="1"/>
          </p:cNvPicPr>
          <p:nvPr/>
        </p:nvPicPr>
        <p:blipFill>
          <a:blip r:embed="rId2"/>
          <a:stretch>
            <a:fillRect/>
          </a:stretch>
        </p:blipFill>
        <p:spPr>
          <a:xfrm>
            <a:off x="4160520" y="1417320"/>
            <a:ext cx="7498079" cy="4217669"/>
          </a:xfrm>
          <a:prstGeom prst="rect">
            <a:avLst/>
          </a:prstGeom>
        </p:spPr>
      </p:pic>
      <p:sp>
        <p:nvSpPr>
          <p:cNvPr id="8" name="Rectangle 7"/>
          <p:cNvSpPr/>
          <p:nvPr/>
        </p:nvSpPr>
        <p:spPr>
          <a:xfrm>
            <a:off x="4160520" y="1417320"/>
            <a:ext cx="7498079" cy="4217669"/>
          </a:xfrm>
          <a:prstGeom prst="rect">
            <a:avLst/>
          </a:prstGeom>
          <a:noFill/>
          <a:ln w="9525">
            <a:solidFill>
              <a:srgbClr val="DE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10" name="TextBox 9"/>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676656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FUNCTIONALITY</a:t>
            </a:r>
          </a:p>
        </p:txBody>
      </p:sp>
      <p:sp>
        <p:nvSpPr>
          <p:cNvPr id="4" name="TextBox 3"/>
          <p:cNvSpPr txBox="1"/>
          <p:nvPr/>
        </p:nvSpPr>
        <p:spPr>
          <a:xfrm>
            <a:off x="640080" y="658368"/>
            <a:ext cx="6766560" cy="457200"/>
          </a:xfrm>
          <a:prstGeom prst="rect">
            <a:avLst/>
          </a:prstGeom>
          <a:noFill/>
        </p:spPr>
        <p:txBody>
          <a:bodyPr wrap="square" anchor="t" lIns="0" rIns="0" tIns="0" bIns="0">
            <a:spAutoFit/>
          </a:bodyPr>
          <a:lstStyle/>
          <a:p>
            <a:pPr algn="l">
              <a:lnSpc>
                <a:spcPct val="118000"/>
              </a:lnSpc>
            </a:pPr>
            <a:r>
              <a:rPr sz="2700" b="1">
                <a:solidFill>
                  <a:srgbClr val="0B0B0B"/>
                </a:solidFill>
                <a:latin typeface="Helvetica Neue"/>
              </a:rPr>
              <a:t>Generating a space on demand</a:t>
            </a:r>
          </a:p>
        </p:txBody>
      </p:sp>
      <p:sp>
        <p:nvSpPr>
          <p:cNvPr id="5" name="TextBox 4"/>
          <p:cNvSpPr txBox="1"/>
          <p:nvPr/>
        </p:nvSpPr>
        <p:spPr>
          <a:xfrm>
            <a:off x="640080" y="1170432"/>
            <a:ext cx="6766560" cy="365760"/>
          </a:xfrm>
          <a:prstGeom prst="rect">
            <a:avLst/>
          </a:prstGeom>
          <a:noFill/>
        </p:spPr>
        <p:txBody>
          <a:bodyPr wrap="square" anchor="t" lIns="0" rIns="0" tIns="0" bIns="0">
            <a:spAutoFit/>
          </a:bodyPr>
          <a:lstStyle/>
          <a:p>
            <a:pPr algn="l">
              <a:lnSpc>
                <a:spcPct val="118000"/>
              </a:lnSpc>
            </a:pPr>
            <a:r>
              <a:rPr sz="1400" b="0">
                <a:solidFill>
                  <a:srgbClr val="F07000"/>
                </a:solidFill>
                <a:latin typeface="Helvetica Neue"/>
              </a:rPr>
              <a:t>The screen opens with a conversation, not a text box</a:t>
            </a:r>
          </a:p>
        </p:txBody>
      </p:sp>
      <p:sp>
        <p:nvSpPr>
          <p:cNvPr id="6" name="TextBox 5"/>
          <p:cNvSpPr txBox="1"/>
          <p:nvPr/>
        </p:nvSpPr>
        <p:spPr>
          <a:xfrm>
            <a:off x="640080" y="1664208"/>
            <a:ext cx="3246120" cy="4206240"/>
          </a:xfrm>
          <a:prstGeom prst="rect">
            <a:avLst/>
          </a:prstGeom>
          <a:noFill/>
        </p:spPr>
        <p:txBody>
          <a:bodyPr wrap="square" anchor="t" lIns="0" rIns="0" tIns="0" bIns="0">
            <a:spAutoFit/>
          </a:bodyPr>
          <a:lstStyle/>
          <a:p>
            <a:pPr algn="l">
              <a:lnSpc>
                <a:spcPct val="140000"/>
              </a:lnSpc>
            </a:pPr>
            <a:r>
              <a:rPr sz="1200" b="0">
                <a:solidFill>
                  <a:srgbClr val="6B6963"/>
                </a:solidFill>
                <a:latin typeface="Helvetica Neue"/>
              </a:rPr>
              <a:t>The box asked for one thing and gave one piece of feedback — a character count, the only failure that did not matter. Somebody who knows their market but not this taxonomy under-specified two of five dimensions every time, and found out minutes later from a run that created nothing. The assistant interviews instead, and shows what each turn retrieved.</a:t>
            </a:r>
          </a:p>
        </p:txBody>
      </p:sp>
      <p:pic>
        <p:nvPicPr>
          <p:cNvPr id="7" name="Picture 6" descr="generate_chat.png"/>
          <p:cNvPicPr>
            <a:picLocks noChangeAspect="1"/>
          </p:cNvPicPr>
          <p:nvPr/>
        </p:nvPicPr>
        <p:blipFill>
          <a:blip r:embed="rId2"/>
          <a:stretch>
            <a:fillRect/>
          </a:stretch>
        </p:blipFill>
        <p:spPr>
          <a:xfrm>
            <a:off x="4160520" y="1417320"/>
            <a:ext cx="7498079" cy="4217669"/>
          </a:xfrm>
          <a:prstGeom prst="rect">
            <a:avLst/>
          </a:prstGeom>
        </p:spPr>
      </p:pic>
      <p:sp>
        <p:nvSpPr>
          <p:cNvPr id="8" name="Rectangle 7"/>
          <p:cNvSpPr/>
          <p:nvPr/>
        </p:nvSpPr>
        <p:spPr>
          <a:xfrm>
            <a:off x="4160520" y="1417320"/>
            <a:ext cx="7498079" cy="4217669"/>
          </a:xfrm>
          <a:prstGeom prst="rect">
            <a:avLst/>
          </a:prstGeom>
          <a:noFill/>
          <a:ln w="9525">
            <a:solidFill>
              <a:srgbClr val="DE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10" name="TextBox 9"/>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676656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FUNCTIONALITY</a:t>
            </a:r>
          </a:p>
        </p:txBody>
      </p:sp>
      <p:sp>
        <p:nvSpPr>
          <p:cNvPr id="4" name="TextBox 3"/>
          <p:cNvSpPr txBox="1"/>
          <p:nvPr/>
        </p:nvSpPr>
        <p:spPr>
          <a:xfrm>
            <a:off x="640080" y="658368"/>
            <a:ext cx="6766560" cy="457200"/>
          </a:xfrm>
          <a:prstGeom prst="rect">
            <a:avLst/>
          </a:prstGeom>
          <a:noFill/>
        </p:spPr>
        <p:txBody>
          <a:bodyPr wrap="square" anchor="t" lIns="0" rIns="0" tIns="0" bIns="0">
            <a:spAutoFit/>
          </a:bodyPr>
          <a:lstStyle/>
          <a:p>
            <a:pPr algn="l">
              <a:lnSpc>
                <a:spcPct val="118000"/>
              </a:lnSpc>
            </a:pPr>
            <a:r>
              <a:rPr sz="2700" b="1">
                <a:solidFill>
                  <a:srgbClr val="0B0B0B"/>
                </a:solidFill>
                <a:latin typeface="Helvetica Neue"/>
              </a:rPr>
              <a:t>The Planner</a:t>
            </a:r>
          </a:p>
        </p:txBody>
      </p:sp>
      <p:sp>
        <p:nvSpPr>
          <p:cNvPr id="5" name="TextBox 4"/>
          <p:cNvSpPr txBox="1"/>
          <p:nvPr/>
        </p:nvSpPr>
        <p:spPr>
          <a:xfrm>
            <a:off x="640080" y="1170432"/>
            <a:ext cx="6766560" cy="365760"/>
          </a:xfrm>
          <a:prstGeom prst="rect">
            <a:avLst/>
          </a:prstGeom>
          <a:noFill/>
        </p:spPr>
        <p:txBody>
          <a:bodyPr wrap="square" anchor="t" lIns="0" rIns="0" tIns="0" bIns="0">
            <a:spAutoFit/>
          </a:bodyPr>
          <a:lstStyle/>
          <a:p>
            <a:pPr algn="l">
              <a:lnSpc>
                <a:spcPct val="118000"/>
              </a:lnSpc>
            </a:pPr>
            <a:r>
              <a:rPr sz="1400" b="0">
                <a:solidFill>
                  <a:srgbClr val="F07000"/>
                </a:solidFill>
                <a:latin typeface="Helvetica Neue"/>
              </a:rPr>
              <a:t>Which SET, in what order, and what it earns</a:t>
            </a:r>
          </a:p>
        </p:txBody>
      </p:sp>
      <p:sp>
        <p:nvSpPr>
          <p:cNvPr id="6" name="TextBox 5"/>
          <p:cNvSpPr txBox="1"/>
          <p:nvPr/>
        </p:nvSpPr>
        <p:spPr>
          <a:xfrm>
            <a:off x="640080" y="1664208"/>
            <a:ext cx="3246120" cy="4206240"/>
          </a:xfrm>
          <a:prstGeom prst="rect">
            <a:avLst/>
          </a:prstGeom>
          <a:noFill/>
        </p:spPr>
        <p:txBody>
          <a:bodyPr wrap="square" anchor="t" lIns="0" rIns="0" tIns="0" bIns="0">
            <a:spAutoFit/>
          </a:bodyPr>
          <a:lstStyle/>
          <a:p>
            <a:pPr algn="l">
              <a:lnSpc>
                <a:spcPct val="140000"/>
              </a:lnSpc>
            </a:pPr>
            <a:r>
              <a:rPr sz="1200" b="0">
                <a:solidFill>
                  <a:srgbClr val="6B6963"/>
                </a:solidFill>
                <a:latin typeface="Helvetica Neue"/>
              </a:rPr>
              <a:t>A ranked list assumes you can take the top N, and you cannot. A mixed-integer program maximises the stated objective under entry slots, capability headcount, concentration caps and a horizon mix — then reports WHICH CONSTRAINT BOUND IT, which is the thing a ranked list cannot tell you, because the answer is a constraint rather than a score.</a:t>
            </a:r>
          </a:p>
        </p:txBody>
      </p:sp>
      <p:pic>
        <p:nvPicPr>
          <p:cNvPr id="7" name="Picture 6" descr="planner_overview.png"/>
          <p:cNvPicPr>
            <a:picLocks noChangeAspect="1"/>
          </p:cNvPicPr>
          <p:nvPr/>
        </p:nvPicPr>
        <p:blipFill>
          <a:blip r:embed="rId2"/>
          <a:stretch>
            <a:fillRect/>
          </a:stretch>
        </p:blipFill>
        <p:spPr>
          <a:xfrm>
            <a:off x="4160520" y="1417320"/>
            <a:ext cx="7498079" cy="4217669"/>
          </a:xfrm>
          <a:prstGeom prst="rect">
            <a:avLst/>
          </a:prstGeom>
        </p:spPr>
      </p:pic>
      <p:sp>
        <p:nvSpPr>
          <p:cNvPr id="8" name="Rectangle 7"/>
          <p:cNvSpPr/>
          <p:nvPr/>
        </p:nvSpPr>
        <p:spPr>
          <a:xfrm>
            <a:off x="4160520" y="1417320"/>
            <a:ext cx="7498079" cy="4217669"/>
          </a:xfrm>
          <a:prstGeom prst="rect">
            <a:avLst/>
          </a:prstGeom>
          <a:noFill/>
          <a:ln w="9525">
            <a:solidFill>
              <a:srgbClr val="DE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10" name="TextBox 9"/>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676656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FUNCTIONALITY</a:t>
            </a:r>
          </a:p>
        </p:txBody>
      </p:sp>
      <p:sp>
        <p:nvSpPr>
          <p:cNvPr id="4" name="TextBox 3"/>
          <p:cNvSpPr txBox="1"/>
          <p:nvPr/>
        </p:nvSpPr>
        <p:spPr>
          <a:xfrm>
            <a:off x="640080" y="658368"/>
            <a:ext cx="6766560" cy="457200"/>
          </a:xfrm>
          <a:prstGeom prst="rect">
            <a:avLst/>
          </a:prstGeom>
          <a:noFill/>
        </p:spPr>
        <p:txBody>
          <a:bodyPr wrap="square" anchor="t" lIns="0" rIns="0" tIns="0" bIns="0">
            <a:spAutoFit/>
          </a:bodyPr>
          <a:lstStyle/>
          <a:p>
            <a:pPr algn="l">
              <a:lnSpc>
                <a:spcPct val="118000"/>
              </a:lnSpc>
            </a:pPr>
            <a:r>
              <a:rPr sz="2700" b="1">
                <a:solidFill>
                  <a:srgbClr val="0B0B0B"/>
                </a:solidFill>
                <a:latin typeface="Helvetica Neue"/>
              </a:rPr>
              <a:t>The plan the business already chose</a:t>
            </a:r>
          </a:p>
        </p:txBody>
      </p:sp>
      <p:sp>
        <p:nvSpPr>
          <p:cNvPr id="5" name="TextBox 4"/>
          <p:cNvSpPr txBox="1"/>
          <p:nvPr/>
        </p:nvSpPr>
        <p:spPr>
          <a:xfrm>
            <a:off x="640080" y="1170432"/>
            <a:ext cx="6766560" cy="365760"/>
          </a:xfrm>
          <a:prstGeom prst="rect">
            <a:avLst/>
          </a:prstGeom>
          <a:noFill/>
        </p:spPr>
        <p:txBody>
          <a:bodyPr wrap="square" anchor="t" lIns="0" rIns="0" tIns="0" bIns="0">
            <a:spAutoFit/>
          </a:bodyPr>
          <a:lstStyle/>
          <a:p>
            <a:pPr algn="l">
              <a:lnSpc>
                <a:spcPct val="118000"/>
              </a:lnSpc>
            </a:pPr>
            <a:r>
              <a:rPr sz="1400" b="0">
                <a:solidFill>
                  <a:srgbClr val="F07000"/>
                </a:solidFill>
                <a:latin typeface="Helvetica Neue"/>
              </a:rPr>
              <a:t>Workflow selected: the stage gate decides, the Planner only schedules</a:t>
            </a:r>
          </a:p>
        </p:txBody>
      </p:sp>
      <p:sp>
        <p:nvSpPr>
          <p:cNvPr id="6" name="TextBox 5"/>
          <p:cNvSpPr txBox="1"/>
          <p:nvPr/>
        </p:nvSpPr>
        <p:spPr>
          <a:xfrm>
            <a:off x="640080" y="1664208"/>
            <a:ext cx="3246120" cy="4206240"/>
          </a:xfrm>
          <a:prstGeom prst="rect">
            <a:avLst/>
          </a:prstGeom>
          <a:noFill/>
        </p:spPr>
        <p:txBody>
          <a:bodyPr wrap="square" anchor="t" lIns="0" rIns="0" tIns="0" bIns="0">
            <a:spAutoFit/>
          </a:bodyPr>
          <a:lstStyle/>
          <a:p>
            <a:pPr algn="l">
              <a:lnSpc>
                <a:spcPct val="140000"/>
              </a:lnSpc>
            </a:pPr>
            <a:r>
              <a:rPr sz="1200" b="0">
                <a:solidFill>
                  <a:srgbClr val="6B6963"/>
                </a:solidFill>
                <a:latin typeface="Helvetica Neue"/>
              </a:rPr>
              <a:t>Every space the board has moved to Demand-tested or beyond is in, and none of the constraints is applied — each would overrule a decision somebody already took. Nothing is dropped to make it fit: where the committed set needs more than the pools can staff, the plan says so and by how much. That gap is the finding, not a reason to edit the portfolio.</a:t>
            </a:r>
          </a:p>
        </p:txBody>
      </p:sp>
      <p:pic>
        <p:nvPicPr>
          <p:cNvPr id="7" name="Picture 6" descr="plannerwf_narrative.png"/>
          <p:cNvPicPr>
            <a:picLocks noChangeAspect="1"/>
          </p:cNvPicPr>
          <p:nvPr/>
        </p:nvPicPr>
        <p:blipFill>
          <a:blip r:embed="rId2"/>
          <a:stretch>
            <a:fillRect/>
          </a:stretch>
        </p:blipFill>
        <p:spPr>
          <a:xfrm>
            <a:off x="4160520" y="1417320"/>
            <a:ext cx="7498079" cy="4217669"/>
          </a:xfrm>
          <a:prstGeom prst="rect">
            <a:avLst/>
          </a:prstGeom>
        </p:spPr>
      </p:pic>
      <p:sp>
        <p:nvSpPr>
          <p:cNvPr id="8" name="Rectangle 7"/>
          <p:cNvSpPr/>
          <p:nvPr/>
        </p:nvSpPr>
        <p:spPr>
          <a:xfrm>
            <a:off x="4160520" y="1417320"/>
            <a:ext cx="7498079" cy="4217669"/>
          </a:xfrm>
          <a:prstGeom prst="rect">
            <a:avLst/>
          </a:prstGeom>
          <a:noFill/>
          <a:ln w="9525">
            <a:solidFill>
              <a:srgbClr val="DE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10" name="TextBox 9"/>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676656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FUNCTIONALITY</a:t>
            </a:r>
          </a:p>
        </p:txBody>
      </p:sp>
      <p:sp>
        <p:nvSpPr>
          <p:cNvPr id="4" name="TextBox 3"/>
          <p:cNvSpPr txBox="1"/>
          <p:nvPr/>
        </p:nvSpPr>
        <p:spPr>
          <a:xfrm>
            <a:off x="640080" y="658368"/>
            <a:ext cx="6766560" cy="457200"/>
          </a:xfrm>
          <a:prstGeom prst="rect">
            <a:avLst/>
          </a:prstGeom>
          <a:noFill/>
        </p:spPr>
        <p:txBody>
          <a:bodyPr wrap="square" anchor="t" lIns="0" rIns="0" tIns="0" bIns="0">
            <a:spAutoFit/>
          </a:bodyPr>
          <a:lstStyle/>
          <a:p>
            <a:pPr algn="l">
              <a:lnSpc>
                <a:spcPct val="118000"/>
              </a:lnSpc>
            </a:pPr>
            <a:r>
              <a:rPr sz="2700" b="1">
                <a:solidFill>
                  <a:srgbClr val="0B0B0B"/>
                </a:solidFill>
                <a:latin typeface="Helvetica Neue"/>
              </a:rPr>
              <a:t>Contextual help</a:t>
            </a:r>
          </a:p>
        </p:txBody>
      </p:sp>
      <p:sp>
        <p:nvSpPr>
          <p:cNvPr id="5" name="TextBox 4"/>
          <p:cNvSpPr txBox="1"/>
          <p:nvPr/>
        </p:nvSpPr>
        <p:spPr>
          <a:xfrm>
            <a:off x="640080" y="1170432"/>
            <a:ext cx="6766560" cy="365760"/>
          </a:xfrm>
          <a:prstGeom prst="rect">
            <a:avLst/>
          </a:prstGeom>
          <a:noFill/>
        </p:spPr>
        <p:txBody>
          <a:bodyPr wrap="square" anchor="t" lIns="0" rIns="0" tIns="0" bIns="0">
            <a:spAutoFit/>
          </a:bodyPr>
          <a:lstStyle/>
          <a:p>
            <a:pPr algn="l">
              <a:lnSpc>
                <a:spcPct val="118000"/>
              </a:lnSpc>
            </a:pPr>
            <a:r>
              <a:rPr sz="1400" b="0">
                <a:solidFill>
                  <a:srgbClr val="F07000"/>
                </a:solidFill>
                <a:latin typeface="Helvetica Neue"/>
              </a:rPr>
              <a:t>Every dense concept explains itself</a:t>
            </a:r>
          </a:p>
        </p:txBody>
      </p:sp>
      <p:sp>
        <p:nvSpPr>
          <p:cNvPr id="6" name="TextBox 5"/>
          <p:cNvSpPr txBox="1"/>
          <p:nvPr/>
        </p:nvSpPr>
        <p:spPr>
          <a:xfrm>
            <a:off x="640080" y="1664208"/>
            <a:ext cx="3246120" cy="4206240"/>
          </a:xfrm>
          <a:prstGeom prst="rect">
            <a:avLst/>
          </a:prstGeom>
          <a:noFill/>
        </p:spPr>
        <p:txBody>
          <a:bodyPr wrap="square" anchor="t" lIns="0" rIns="0" tIns="0" bIns="0">
            <a:spAutoFit/>
          </a:bodyPr>
          <a:lstStyle/>
          <a:p>
            <a:pPr algn="l">
              <a:lnSpc>
                <a:spcPct val="140000"/>
              </a:lnSpc>
            </a:pPr>
            <a:r>
              <a:rPr sz="1200" b="0">
                <a:solidFill>
                  <a:srgbClr val="6B6963"/>
                </a:solidFill>
                <a:latin typeface="Helvetica Neue"/>
              </a:rPr>
              <a:t>Portfolio distance, conviction, divergence, evidence gaps, source tiers, horizons, the lifecycle, the exploration slot. Each entry says what the thing is, why it works that way, and which requirement it comes from — so the answer is checkable rather than merely confident.</a:t>
            </a:r>
          </a:p>
        </p:txBody>
      </p:sp>
      <p:pic>
        <p:nvPicPr>
          <p:cNvPr id="7" name="Picture 6" descr="help.png"/>
          <p:cNvPicPr>
            <a:picLocks noChangeAspect="1"/>
          </p:cNvPicPr>
          <p:nvPr/>
        </p:nvPicPr>
        <p:blipFill>
          <a:blip r:embed="rId2"/>
          <a:stretch>
            <a:fillRect/>
          </a:stretch>
        </p:blipFill>
        <p:spPr>
          <a:xfrm>
            <a:off x="4160520" y="1417320"/>
            <a:ext cx="7498079" cy="4217669"/>
          </a:xfrm>
          <a:prstGeom prst="rect">
            <a:avLst/>
          </a:prstGeom>
        </p:spPr>
      </p:pic>
      <p:sp>
        <p:nvSpPr>
          <p:cNvPr id="8" name="Rectangle 7"/>
          <p:cNvSpPr/>
          <p:nvPr/>
        </p:nvSpPr>
        <p:spPr>
          <a:xfrm>
            <a:off x="4160520" y="1417320"/>
            <a:ext cx="7498079" cy="4217669"/>
          </a:xfrm>
          <a:prstGeom prst="rect">
            <a:avLst/>
          </a:prstGeom>
          <a:noFill/>
          <a:ln w="9525">
            <a:solidFill>
              <a:srgbClr val="DED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10" name="TextBox 9"/>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ARCHITECTURE</a:t>
            </a:r>
          </a:p>
        </p:txBody>
      </p:sp>
      <p:sp>
        <p:nvSpPr>
          <p:cNvPr id="4" name="TextBox 3"/>
          <p:cNvSpPr txBox="1"/>
          <p:nvPr/>
        </p:nvSpPr>
        <p:spPr>
          <a:xfrm>
            <a:off x="685800" y="777240"/>
            <a:ext cx="10789920" cy="640080"/>
          </a:xfrm>
          <a:prstGeom prst="rect">
            <a:avLst/>
          </a:prstGeom>
          <a:noFill/>
        </p:spPr>
        <p:txBody>
          <a:bodyPr wrap="square" anchor="t" lIns="0" rIns="0" tIns="0" bIns="0">
            <a:spAutoFit/>
          </a:bodyPr>
          <a:lstStyle/>
          <a:p>
            <a:pPr algn="l">
              <a:lnSpc>
                <a:spcPct val="118000"/>
              </a:lnSpc>
            </a:pPr>
            <a:r>
              <a:rPr sz="3200" b="1">
                <a:solidFill>
                  <a:srgbClr val="0B0B0B"/>
                </a:solidFill>
                <a:latin typeface="Helvetica Neue"/>
              </a:rPr>
              <a:t>Seven pipeline stages, each with a contract</a:t>
            </a:r>
          </a:p>
        </p:txBody>
      </p:sp>
      <p:sp>
        <p:nvSpPr>
          <p:cNvPr id="5" name="TextBox 4"/>
          <p:cNvSpPr txBox="1"/>
          <p:nvPr/>
        </p:nvSpPr>
        <p:spPr>
          <a:xfrm>
            <a:off x="685800" y="1481328"/>
            <a:ext cx="10058400" cy="457200"/>
          </a:xfrm>
          <a:prstGeom prst="rect">
            <a:avLst/>
          </a:prstGeom>
          <a:noFill/>
        </p:spPr>
        <p:txBody>
          <a:bodyPr wrap="square" anchor="t" lIns="0" rIns="0" tIns="0" bIns="0">
            <a:spAutoFit/>
          </a:bodyPr>
          <a:lstStyle/>
          <a:p>
            <a:pPr algn="l">
              <a:lnSpc>
                <a:spcPct val="118000"/>
              </a:lnSpc>
            </a:pPr>
            <a:r>
              <a:rPr sz="1500" b="0">
                <a:solidFill>
                  <a:srgbClr val="6B6963"/>
                </a:solidFill>
                <a:latin typeface="Helvetica Neue"/>
              </a:rPr>
              <a:t>Stages can be developed, tested and replaced independently.</a:t>
            </a:r>
          </a:p>
        </p:txBody>
      </p:sp>
      <p:sp>
        <p:nvSpPr>
          <p:cNvPr id="6" name="Rectangle 5"/>
          <p:cNvSpPr/>
          <p:nvPr/>
        </p:nvSpPr>
        <p:spPr>
          <a:xfrm>
            <a:off x="685800" y="2148840"/>
            <a:ext cx="1316736" cy="132588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2295144"/>
            <a:ext cx="1097280" cy="365760"/>
          </a:xfrm>
          <a:prstGeom prst="rect">
            <a:avLst/>
          </a:prstGeom>
          <a:noFill/>
        </p:spPr>
        <p:txBody>
          <a:bodyPr wrap="square" anchor="t" lIns="0" rIns="0" tIns="0" bIns="0">
            <a:spAutoFit/>
          </a:bodyPr>
          <a:lstStyle/>
          <a:p>
            <a:pPr algn="l">
              <a:lnSpc>
                <a:spcPct val="118000"/>
              </a:lnSpc>
            </a:pPr>
            <a:r>
              <a:rPr sz="1150" b="1">
                <a:solidFill>
                  <a:srgbClr val="0B0B0B"/>
                </a:solidFill>
                <a:latin typeface="Helvetica Neue"/>
              </a:rPr>
              <a:t>1 Collect</a:t>
            </a:r>
          </a:p>
        </p:txBody>
      </p:sp>
      <p:sp>
        <p:nvSpPr>
          <p:cNvPr id="8" name="TextBox 7"/>
          <p:cNvSpPr txBox="1"/>
          <p:nvPr/>
        </p:nvSpPr>
        <p:spPr>
          <a:xfrm>
            <a:off x="795528" y="2679192"/>
            <a:ext cx="1097280" cy="274320"/>
          </a:xfrm>
          <a:prstGeom prst="rect">
            <a:avLst/>
          </a:prstGeom>
          <a:noFill/>
        </p:spPr>
        <p:txBody>
          <a:bodyPr wrap="square" anchor="t" lIns="0" rIns="0" tIns="0" bIns="0">
            <a:spAutoFit/>
          </a:bodyPr>
          <a:lstStyle/>
          <a:p>
            <a:pPr algn="l">
              <a:lnSpc>
                <a:spcPct val="118000"/>
              </a:lnSpc>
            </a:pPr>
            <a:r>
              <a:rPr sz="900" b="0">
                <a:solidFill>
                  <a:srgbClr val="F07000"/>
                </a:solidFill>
                <a:latin typeface="Menlo"/>
              </a:rPr>
              <a:t>connectors</a:t>
            </a:r>
          </a:p>
        </p:txBody>
      </p:sp>
      <p:sp>
        <p:nvSpPr>
          <p:cNvPr id="9" name="TextBox 8"/>
          <p:cNvSpPr txBox="1"/>
          <p:nvPr/>
        </p:nvSpPr>
        <p:spPr>
          <a:xfrm>
            <a:off x="795528" y="2935224"/>
            <a:ext cx="1097280" cy="548640"/>
          </a:xfrm>
          <a:prstGeom prst="rect">
            <a:avLst/>
          </a:prstGeom>
          <a:noFill/>
        </p:spPr>
        <p:txBody>
          <a:bodyPr wrap="square" anchor="t" lIns="0" rIns="0" tIns="0" bIns="0">
            <a:spAutoFit/>
          </a:bodyPr>
          <a:lstStyle/>
          <a:p>
            <a:pPr algn="l">
              <a:lnSpc>
                <a:spcPct val="120000"/>
              </a:lnSpc>
            </a:pPr>
            <a:r>
              <a:rPr sz="900" b="0">
                <a:solidFill>
                  <a:srgbClr val="6B6963"/>
                </a:solidFill>
                <a:latin typeface="Helvetica Neue"/>
              </a:rPr>
              <a:t>source config → raw items</a:t>
            </a:r>
          </a:p>
        </p:txBody>
      </p:sp>
      <p:sp>
        <p:nvSpPr>
          <p:cNvPr id="10" name="Rectangle 9"/>
          <p:cNvSpPr/>
          <p:nvPr/>
        </p:nvSpPr>
        <p:spPr>
          <a:xfrm>
            <a:off x="2048256" y="2148840"/>
            <a:ext cx="1316736" cy="132588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57984" y="2295144"/>
            <a:ext cx="1097280" cy="365760"/>
          </a:xfrm>
          <a:prstGeom prst="rect">
            <a:avLst/>
          </a:prstGeom>
          <a:noFill/>
        </p:spPr>
        <p:txBody>
          <a:bodyPr wrap="square" anchor="t" lIns="0" rIns="0" tIns="0" bIns="0">
            <a:spAutoFit/>
          </a:bodyPr>
          <a:lstStyle/>
          <a:p>
            <a:pPr algn="l">
              <a:lnSpc>
                <a:spcPct val="118000"/>
              </a:lnSpc>
            </a:pPr>
            <a:r>
              <a:rPr sz="1150" b="1">
                <a:solidFill>
                  <a:srgbClr val="0B0B0B"/>
                </a:solidFill>
                <a:latin typeface="Helvetica Neue"/>
              </a:rPr>
              <a:t>2 Normalise</a:t>
            </a:r>
          </a:p>
        </p:txBody>
      </p:sp>
      <p:sp>
        <p:nvSpPr>
          <p:cNvPr id="12" name="TextBox 11"/>
          <p:cNvSpPr txBox="1"/>
          <p:nvPr/>
        </p:nvSpPr>
        <p:spPr>
          <a:xfrm>
            <a:off x="2157984" y="2679192"/>
            <a:ext cx="1097280" cy="274320"/>
          </a:xfrm>
          <a:prstGeom prst="rect">
            <a:avLst/>
          </a:prstGeom>
          <a:noFill/>
        </p:spPr>
        <p:txBody>
          <a:bodyPr wrap="square" anchor="t" lIns="0" rIns="0" tIns="0" bIns="0">
            <a:spAutoFit/>
          </a:bodyPr>
          <a:lstStyle/>
          <a:p>
            <a:pPr algn="l">
              <a:lnSpc>
                <a:spcPct val="118000"/>
              </a:lnSpc>
            </a:pPr>
            <a:r>
              <a:rPr sz="900" b="0">
                <a:solidFill>
                  <a:srgbClr val="F07000"/>
                </a:solidFill>
                <a:latin typeface="Menlo"/>
              </a:rPr>
              <a:t>ingest</a:t>
            </a:r>
          </a:p>
        </p:txBody>
      </p:sp>
      <p:sp>
        <p:nvSpPr>
          <p:cNvPr id="13" name="TextBox 12"/>
          <p:cNvSpPr txBox="1"/>
          <p:nvPr/>
        </p:nvSpPr>
        <p:spPr>
          <a:xfrm>
            <a:off x="2157984" y="2935224"/>
            <a:ext cx="1097280" cy="548640"/>
          </a:xfrm>
          <a:prstGeom prst="rect">
            <a:avLst/>
          </a:prstGeom>
          <a:noFill/>
        </p:spPr>
        <p:txBody>
          <a:bodyPr wrap="square" anchor="t" lIns="0" rIns="0" tIns="0" bIns="0">
            <a:spAutoFit/>
          </a:bodyPr>
          <a:lstStyle/>
          <a:p>
            <a:pPr algn="l">
              <a:lnSpc>
                <a:spcPct val="120000"/>
              </a:lnSpc>
            </a:pPr>
            <a:r>
              <a:rPr sz="900" b="0">
                <a:solidFill>
                  <a:srgbClr val="6B6963"/>
                </a:solidFill>
                <a:latin typeface="Helvetica Neue"/>
              </a:rPr>
              <a:t>raw items → signal records</a:t>
            </a:r>
          </a:p>
        </p:txBody>
      </p:sp>
      <p:sp>
        <p:nvSpPr>
          <p:cNvPr id="14" name="Rectangle 13"/>
          <p:cNvSpPr/>
          <p:nvPr/>
        </p:nvSpPr>
        <p:spPr>
          <a:xfrm>
            <a:off x="3410712" y="2148840"/>
            <a:ext cx="1316736" cy="132588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2295144"/>
            <a:ext cx="1097280" cy="365760"/>
          </a:xfrm>
          <a:prstGeom prst="rect">
            <a:avLst/>
          </a:prstGeom>
          <a:noFill/>
        </p:spPr>
        <p:txBody>
          <a:bodyPr wrap="square" anchor="t" lIns="0" rIns="0" tIns="0" bIns="0">
            <a:spAutoFit/>
          </a:bodyPr>
          <a:lstStyle/>
          <a:p>
            <a:pPr algn="l">
              <a:lnSpc>
                <a:spcPct val="118000"/>
              </a:lnSpc>
            </a:pPr>
            <a:r>
              <a:rPr sz="1150" b="1">
                <a:solidFill>
                  <a:srgbClr val="0B0B0B"/>
                </a:solidFill>
                <a:latin typeface="Helvetica Neue"/>
              </a:rPr>
              <a:t>3 Classify</a:t>
            </a:r>
          </a:p>
        </p:txBody>
      </p:sp>
      <p:sp>
        <p:nvSpPr>
          <p:cNvPr id="16" name="TextBox 15"/>
          <p:cNvSpPr txBox="1"/>
          <p:nvPr/>
        </p:nvSpPr>
        <p:spPr>
          <a:xfrm>
            <a:off x="3520440" y="2679192"/>
            <a:ext cx="1097280" cy="274320"/>
          </a:xfrm>
          <a:prstGeom prst="rect">
            <a:avLst/>
          </a:prstGeom>
          <a:noFill/>
        </p:spPr>
        <p:txBody>
          <a:bodyPr wrap="square" anchor="t" lIns="0" rIns="0" tIns="0" bIns="0">
            <a:spAutoFit/>
          </a:bodyPr>
          <a:lstStyle/>
          <a:p>
            <a:pPr algn="l">
              <a:lnSpc>
                <a:spcPct val="118000"/>
              </a:lnSpc>
            </a:pPr>
            <a:r>
              <a:rPr sz="900" b="0">
                <a:solidFill>
                  <a:srgbClr val="F07000"/>
                </a:solidFill>
                <a:latin typeface="Menlo"/>
              </a:rPr>
              <a:t>ingest</a:t>
            </a:r>
          </a:p>
        </p:txBody>
      </p:sp>
      <p:sp>
        <p:nvSpPr>
          <p:cNvPr id="17" name="TextBox 16"/>
          <p:cNvSpPr txBox="1"/>
          <p:nvPr/>
        </p:nvSpPr>
        <p:spPr>
          <a:xfrm>
            <a:off x="3520440" y="2935224"/>
            <a:ext cx="1097280" cy="548640"/>
          </a:xfrm>
          <a:prstGeom prst="rect">
            <a:avLst/>
          </a:prstGeom>
          <a:noFill/>
        </p:spPr>
        <p:txBody>
          <a:bodyPr wrap="square" anchor="t" lIns="0" rIns="0" tIns="0" bIns="0">
            <a:spAutoFit/>
          </a:bodyPr>
          <a:lstStyle/>
          <a:p>
            <a:pPr algn="l">
              <a:lnSpc>
                <a:spcPct val="120000"/>
              </a:lnSpc>
            </a:pPr>
            <a:r>
              <a:rPr sz="900" b="0">
                <a:solidFill>
                  <a:srgbClr val="6B6963"/>
                </a:solidFill>
                <a:latin typeface="Helvetica Neue"/>
              </a:rPr>
              <a:t>→ typed, tiered signals</a:t>
            </a:r>
          </a:p>
        </p:txBody>
      </p:sp>
      <p:sp>
        <p:nvSpPr>
          <p:cNvPr id="18" name="Rectangle 17"/>
          <p:cNvSpPr/>
          <p:nvPr/>
        </p:nvSpPr>
        <p:spPr>
          <a:xfrm>
            <a:off x="4773168" y="2148840"/>
            <a:ext cx="1316736" cy="132588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82896" y="2295144"/>
            <a:ext cx="1097280" cy="365760"/>
          </a:xfrm>
          <a:prstGeom prst="rect">
            <a:avLst/>
          </a:prstGeom>
          <a:noFill/>
        </p:spPr>
        <p:txBody>
          <a:bodyPr wrap="square" anchor="t" lIns="0" rIns="0" tIns="0" bIns="0">
            <a:spAutoFit/>
          </a:bodyPr>
          <a:lstStyle/>
          <a:p>
            <a:pPr algn="l">
              <a:lnSpc>
                <a:spcPct val="118000"/>
              </a:lnSpc>
            </a:pPr>
            <a:r>
              <a:rPr sz="1150" b="1">
                <a:solidFill>
                  <a:srgbClr val="0B0B0B"/>
                </a:solidFill>
                <a:latin typeface="Helvetica Neue"/>
              </a:rPr>
              <a:t>4 Themes</a:t>
            </a:r>
          </a:p>
        </p:txBody>
      </p:sp>
      <p:sp>
        <p:nvSpPr>
          <p:cNvPr id="20" name="TextBox 19"/>
          <p:cNvSpPr txBox="1"/>
          <p:nvPr/>
        </p:nvSpPr>
        <p:spPr>
          <a:xfrm>
            <a:off x="4882896" y="2679192"/>
            <a:ext cx="1097280" cy="274320"/>
          </a:xfrm>
          <a:prstGeom prst="rect">
            <a:avLst/>
          </a:prstGeom>
          <a:noFill/>
        </p:spPr>
        <p:txBody>
          <a:bodyPr wrap="square" anchor="t" lIns="0" rIns="0" tIns="0" bIns="0">
            <a:spAutoFit/>
          </a:bodyPr>
          <a:lstStyle/>
          <a:p>
            <a:pPr algn="l">
              <a:lnSpc>
                <a:spcPct val="118000"/>
              </a:lnSpc>
            </a:pPr>
            <a:r>
              <a:rPr sz="900" b="0">
                <a:solidFill>
                  <a:srgbClr val="F07000"/>
                </a:solidFill>
                <a:latin typeface="Menlo"/>
              </a:rPr>
              <a:t>themes</a:t>
            </a:r>
          </a:p>
        </p:txBody>
      </p:sp>
      <p:sp>
        <p:nvSpPr>
          <p:cNvPr id="21" name="TextBox 20"/>
          <p:cNvSpPr txBox="1"/>
          <p:nvPr/>
        </p:nvSpPr>
        <p:spPr>
          <a:xfrm>
            <a:off x="4882896" y="2935224"/>
            <a:ext cx="1097280" cy="548640"/>
          </a:xfrm>
          <a:prstGeom prst="rect">
            <a:avLst/>
          </a:prstGeom>
          <a:noFill/>
        </p:spPr>
        <p:txBody>
          <a:bodyPr wrap="square" anchor="t" lIns="0" rIns="0" tIns="0" bIns="0">
            <a:spAutoFit/>
          </a:bodyPr>
          <a:lstStyle/>
          <a:p>
            <a:pPr algn="l">
              <a:lnSpc>
                <a:spcPct val="120000"/>
              </a:lnSpc>
            </a:pPr>
            <a:r>
              <a:rPr sz="900" b="0">
                <a:solidFill>
                  <a:srgbClr val="6B6963"/>
                </a:solidFill>
                <a:latin typeface="Helvetica Neue"/>
              </a:rPr>
              <a:t>→ theme clusters</a:t>
            </a:r>
          </a:p>
        </p:txBody>
      </p:sp>
      <p:sp>
        <p:nvSpPr>
          <p:cNvPr id="22" name="Rectangle 21"/>
          <p:cNvSpPr/>
          <p:nvPr/>
        </p:nvSpPr>
        <p:spPr>
          <a:xfrm>
            <a:off x="6135624" y="2148840"/>
            <a:ext cx="1316736" cy="1325880"/>
          </a:xfrm>
          <a:prstGeom prst="rect">
            <a:avLst/>
          </a:prstGeom>
          <a:solidFill>
            <a:srgbClr val="0B0B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45352" y="2295144"/>
            <a:ext cx="1097280" cy="365760"/>
          </a:xfrm>
          <a:prstGeom prst="rect">
            <a:avLst/>
          </a:prstGeom>
          <a:noFill/>
        </p:spPr>
        <p:txBody>
          <a:bodyPr wrap="square" anchor="t" lIns="0" rIns="0" tIns="0" bIns="0">
            <a:spAutoFit/>
          </a:bodyPr>
          <a:lstStyle/>
          <a:p>
            <a:pPr algn="l">
              <a:lnSpc>
                <a:spcPct val="118000"/>
              </a:lnSpc>
            </a:pPr>
            <a:r>
              <a:rPr sz="1150" b="1">
                <a:solidFill>
                  <a:srgbClr val="FFFFFF"/>
                </a:solidFill>
                <a:latin typeface="Helvetica Neue"/>
              </a:rPr>
              <a:t>5 Synthesise</a:t>
            </a:r>
          </a:p>
        </p:txBody>
      </p:sp>
      <p:sp>
        <p:nvSpPr>
          <p:cNvPr id="24" name="TextBox 23"/>
          <p:cNvSpPr txBox="1"/>
          <p:nvPr/>
        </p:nvSpPr>
        <p:spPr>
          <a:xfrm>
            <a:off x="6245352" y="2679192"/>
            <a:ext cx="1097280" cy="274320"/>
          </a:xfrm>
          <a:prstGeom prst="rect">
            <a:avLst/>
          </a:prstGeom>
          <a:noFill/>
        </p:spPr>
        <p:txBody>
          <a:bodyPr wrap="square" anchor="t" lIns="0" rIns="0" tIns="0" bIns="0">
            <a:spAutoFit/>
          </a:bodyPr>
          <a:lstStyle/>
          <a:p>
            <a:pPr algn="l">
              <a:lnSpc>
                <a:spcPct val="118000"/>
              </a:lnSpc>
            </a:pPr>
            <a:r>
              <a:rPr sz="900" b="0">
                <a:solidFill>
                  <a:srgbClr val="F07000"/>
                </a:solidFill>
                <a:latin typeface="Menlo"/>
              </a:rPr>
              <a:t>synthesis</a:t>
            </a:r>
          </a:p>
        </p:txBody>
      </p:sp>
      <p:sp>
        <p:nvSpPr>
          <p:cNvPr id="25" name="TextBox 24"/>
          <p:cNvSpPr txBox="1"/>
          <p:nvPr/>
        </p:nvSpPr>
        <p:spPr>
          <a:xfrm>
            <a:off x="6245352" y="2935224"/>
            <a:ext cx="1097280" cy="548640"/>
          </a:xfrm>
          <a:prstGeom prst="rect">
            <a:avLst/>
          </a:prstGeom>
          <a:noFill/>
        </p:spPr>
        <p:txBody>
          <a:bodyPr wrap="square" anchor="t" lIns="0" rIns="0" tIns="0" bIns="0">
            <a:spAutoFit/>
          </a:bodyPr>
          <a:lstStyle/>
          <a:p>
            <a:pPr algn="l">
              <a:lnSpc>
                <a:spcPct val="120000"/>
              </a:lnSpc>
            </a:pPr>
            <a:r>
              <a:rPr sz="900" b="0">
                <a:solidFill>
                  <a:srgbClr val="C3C2B7"/>
                </a:solidFill>
                <a:latin typeface="Helvetica Neue"/>
              </a:rPr>
              <a:t>→ candidate spaces</a:t>
            </a:r>
          </a:p>
        </p:txBody>
      </p:sp>
      <p:sp>
        <p:nvSpPr>
          <p:cNvPr id="26" name="Rectangle 25"/>
          <p:cNvSpPr/>
          <p:nvPr/>
        </p:nvSpPr>
        <p:spPr>
          <a:xfrm>
            <a:off x="7498080" y="2148840"/>
            <a:ext cx="1316736" cy="1325880"/>
          </a:xfrm>
          <a:prstGeom prst="rect">
            <a:avLst/>
          </a:prstGeom>
          <a:solidFill>
            <a:srgbClr val="0B0B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07808" y="2295144"/>
            <a:ext cx="1097280" cy="365760"/>
          </a:xfrm>
          <a:prstGeom prst="rect">
            <a:avLst/>
          </a:prstGeom>
          <a:noFill/>
        </p:spPr>
        <p:txBody>
          <a:bodyPr wrap="square" anchor="t" lIns="0" rIns="0" tIns="0" bIns="0">
            <a:spAutoFit/>
          </a:bodyPr>
          <a:lstStyle/>
          <a:p>
            <a:pPr algn="l">
              <a:lnSpc>
                <a:spcPct val="118000"/>
              </a:lnSpc>
            </a:pPr>
            <a:r>
              <a:rPr sz="1150" b="1">
                <a:solidFill>
                  <a:srgbClr val="FFFFFF"/>
                </a:solidFill>
                <a:latin typeface="Helvetica Neue"/>
              </a:rPr>
              <a:t>5b Enrich</a:t>
            </a:r>
          </a:p>
        </p:txBody>
      </p:sp>
      <p:sp>
        <p:nvSpPr>
          <p:cNvPr id="28" name="TextBox 27"/>
          <p:cNvSpPr txBox="1"/>
          <p:nvPr/>
        </p:nvSpPr>
        <p:spPr>
          <a:xfrm>
            <a:off x="7607808" y="2679192"/>
            <a:ext cx="1097280" cy="274320"/>
          </a:xfrm>
          <a:prstGeom prst="rect">
            <a:avLst/>
          </a:prstGeom>
          <a:noFill/>
        </p:spPr>
        <p:txBody>
          <a:bodyPr wrap="square" anchor="t" lIns="0" rIns="0" tIns="0" bIns="0">
            <a:spAutoFit/>
          </a:bodyPr>
          <a:lstStyle/>
          <a:p>
            <a:pPr algn="l">
              <a:lnSpc>
                <a:spcPct val="118000"/>
              </a:lnSpc>
            </a:pPr>
            <a:r>
              <a:rPr sz="900" b="0">
                <a:solidFill>
                  <a:srgbClr val="F07000"/>
                </a:solidFill>
                <a:latin typeface="Menlo"/>
              </a:rPr>
              <a:t>enrich</a:t>
            </a:r>
          </a:p>
        </p:txBody>
      </p:sp>
      <p:sp>
        <p:nvSpPr>
          <p:cNvPr id="29" name="TextBox 28"/>
          <p:cNvSpPr txBox="1"/>
          <p:nvPr/>
        </p:nvSpPr>
        <p:spPr>
          <a:xfrm>
            <a:off x="7607808" y="2935224"/>
            <a:ext cx="1097280" cy="548640"/>
          </a:xfrm>
          <a:prstGeom prst="rect">
            <a:avLst/>
          </a:prstGeom>
          <a:noFill/>
        </p:spPr>
        <p:txBody>
          <a:bodyPr wrap="square" anchor="t" lIns="0" rIns="0" tIns="0" bIns="0">
            <a:spAutoFit/>
          </a:bodyPr>
          <a:lstStyle/>
          <a:p>
            <a:pPr algn="l">
              <a:lnSpc>
                <a:spcPct val="120000"/>
              </a:lnSpc>
            </a:pPr>
            <a:r>
              <a:rPr sz="900" b="0">
                <a:solidFill>
                  <a:srgbClr val="C3C2B7"/>
                </a:solidFill>
                <a:latin typeface="Helvetica Neue"/>
              </a:rPr>
              <a:t>→ more evidence per topic</a:t>
            </a:r>
          </a:p>
        </p:txBody>
      </p:sp>
      <p:sp>
        <p:nvSpPr>
          <p:cNvPr id="30" name="Rectangle 29"/>
          <p:cNvSpPr/>
          <p:nvPr/>
        </p:nvSpPr>
        <p:spPr>
          <a:xfrm>
            <a:off x="8860536" y="2148840"/>
            <a:ext cx="1316736" cy="1325880"/>
          </a:xfrm>
          <a:prstGeom prst="rect">
            <a:avLst/>
          </a:prstGeom>
          <a:solidFill>
            <a:srgbClr val="0B0B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70264" y="2295144"/>
            <a:ext cx="1097280" cy="365760"/>
          </a:xfrm>
          <a:prstGeom prst="rect">
            <a:avLst/>
          </a:prstGeom>
          <a:noFill/>
        </p:spPr>
        <p:txBody>
          <a:bodyPr wrap="square" anchor="t" lIns="0" rIns="0" tIns="0" bIns="0">
            <a:spAutoFit/>
          </a:bodyPr>
          <a:lstStyle/>
          <a:p>
            <a:pPr algn="l">
              <a:lnSpc>
                <a:spcPct val="118000"/>
              </a:lnSpc>
            </a:pPr>
            <a:r>
              <a:rPr sz="1150" b="1">
                <a:solidFill>
                  <a:srgbClr val="FFFFFF"/>
                </a:solidFill>
                <a:latin typeface="Helvetica Neue"/>
              </a:rPr>
              <a:t>6 Score</a:t>
            </a:r>
          </a:p>
        </p:txBody>
      </p:sp>
      <p:sp>
        <p:nvSpPr>
          <p:cNvPr id="32" name="TextBox 31"/>
          <p:cNvSpPr txBox="1"/>
          <p:nvPr/>
        </p:nvSpPr>
        <p:spPr>
          <a:xfrm>
            <a:off x="8970264" y="2679192"/>
            <a:ext cx="1097280" cy="274320"/>
          </a:xfrm>
          <a:prstGeom prst="rect">
            <a:avLst/>
          </a:prstGeom>
          <a:noFill/>
        </p:spPr>
        <p:txBody>
          <a:bodyPr wrap="square" anchor="t" lIns="0" rIns="0" tIns="0" bIns="0">
            <a:spAutoFit/>
          </a:bodyPr>
          <a:lstStyle/>
          <a:p>
            <a:pPr algn="l">
              <a:lnSpc>
                <a:spcPct val="118000"/>
              </a:lnSpc>
            </a:pPr>
            <a:r>
              <a:rPr sz="900" b="0">
                <a:solidFill>
                  <a:srgbClr val="F07000"/>
                </a:solidFill>
                <a:latin typeface="Menlo"/>
              </a:rPr>
              <a:t>graph + scoring</a:t>
            </a:r>
          </a:p>
        </p:txBody>
      </p:sp>
      <p:sp>
        <p:nvSpPr>
          <p:cNvPr id="33" name="TextBox 32"/>
          <p:cNvSpPr txBox="1"/>
          <p:nvPr/>
        </p:nvSpPr>
        <p:spPr>
          <a:xfrm>
            <a:off x="8970264" y="2935224"/>
            <a:ext cx="1097280" cy="548640"/>
          </a:xfrm>
          <a:prstGeom prst="rect">
            <a:avLst/>
          </a:prstGeom>
          <a:noFill/>
        </p:spPr>
        <p:txBody>
          <a:bodyPr wrap="square" anchor="t" lIns="0" rIns="0" tIns="0" bIns="0">
            <a:spAutoFit/>
          </a:bodyPr>
          <a:lstStyle/>
          <a:p>
            <a:pPr algn="l">
              <a:lnSpc>
                <a:spcPct val="120000"/>
              </a:lnSpc>
            </a:pPr>
            <a:r>
              <a:rPr sz="900" b="0">
                <a:solidFill>
                  <a:srgbClr val="C3C2B7"/>
                </a:solidFill>
                <a:latin typeface="Helvetica Neue"/>
              </a:rPr>
              <a:t>→ ranked spaces</a:t>
            </a:r>
          </a:p>
        </p:txBody>
      </p:sp>
      <p:sp>
        <p:nvSpPr>
          <p:cNvPr id="34" name="Rectangle 33"/>
          <p:cNvSpPr/>
          <p:nvPr/>
        </p:nvSpPr>
        <p:spPr>
          <a:xfrm>
            <a:off x="10222992" y="2148840"/>
            <a:ext cx="1316736" cy="132588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0" y="2295144"/>
            <a:ext cx="1097280" cy="365760"/>
          </a:xfrm>
          <a:prstGeom prst="rect">
            <a:avLst/>
          </a:prstGeom>
          <a:noFill/>
        </p:spPr>
        <p:txBody>
          <a:bodyPr wrap="square" anchor="t" lIns="0" rIns="0" tIns="0" bIns="0">
            <a:spAutoFit/>
          </a:bodyPr>
          <a:lstStyle/>
          <a:p>
            <a:pPr algn="l">
              <a:lnSpc>
                <a:spcPct val="118000"/>
              </a:lnSpc>
            </a:pPr>
            <a:r>
              <a:rPr sz="1150" b="1">
                <a:solidFill>
                  <a:srgbClr val="0B0B0B"/>
                </a:solidFill>
                <a:latin typeface="Helvetica Neue"/>
              </a:rPr>
              <a:t>7 Serve</a:t>
            </a:r>
          </a:p>
        </p:txBody>
      </p:sp>
      <p:sp>
        <p:nvSpPr>
          <p:cNvPr id="36" name="TextBox 35"/>
          <p:cNvSpPr txBox="1"/>
          <p:nvPr/>
        </p:nvSpPr>
        <p:spPr>
          <a:xfrm>
            <a:off x="10332720" y="2679192"/>
            <a:ext cx="1097280" cy="274320"/>
          </a:xfrm>
          <a:prstGeom prst="rect">
            <a:avLst/>
          </a:prstGeom>
          <a:noFill/>
        </p:spPr>
        <p:txBody>
          <a:bodyPr wrap="square" anchor="t" lIns="0" rIns="0" tIns="0" bIns="0">
            <a:spAutoFit/>
          </a:bodyPr>
          <a:lstStyle/>
          <a:p>
            <a:pPr algn="l">
              <a:lnSpc>
                <a:spcPct val="118000"/>
              </a:lnSpc>
            </a:pPr>
            <a:r>
              <a:rPr sz="900" b="0">
                <a:solidFill>
                  <a:srgbClr val="F07000"/>
                </a:solidFill>
                <a:latin typeface="Menlo"/>
              </a:rPr>
              <a:t>readmodel + api</a:t>
            </a:r>
          </a:p>
        </p:txBody>
      </p:sp>
      <p:sp>
        <p:nvSpPr>
          <p:cNvPr id="37" name="TextBox 36"/>
          <p:cNvSpPr txBox="1"/>
          <p:nvPr/>
        </p:nvSpPr>
        <p:spPr>
          <a:xfrm>
            <a:off x="10332720" y="2935224"/>
            <a:ext cx="1097280" cy="548640"/>
          </a:xfrm>
          <a:prstGeom prst="rect">
            <a:avLst/>
          </a:prstGeom>
          <a:noFill/>
        </p:spPr>
        <p:txBody>
          <a:bodyPr wrap="square" anchor="t" lIns="0" rIns="0" tIns="0" bIns="0">
            <a:spAutoFit/>
          </a:bodyPr>
          <a:lstStyle/>
          <a:p>
            <a:pPr algn="l">
              <a:lnSpc>
                <a:spcPct val="120000"/>
              </a:lnSpc>
            </a:pPr>
            <a:r>
              <a:rPr sz="900" b="0">
                <a:solidFill>
                  <a:srgbClr val="6B6963"/>
                </a:solidFill>
                <a:latin typeface="Helvetica Neue"/>
              </a:rPr>
              <a:t>→ radar, briefs, API</a:t>
            </a:r>
          </a:p>
        </p:txBody>
      </p:sp>
      <p:sp>
        <p:nvSpPr>
          <p:cNvPr id="38" name="TextBox 37"/>
          <p:cNvSpPr txBox="1"/>
          <p:nvPr/>
        </p:nvSpPr>
        <p:spPr>
          <a:xfrm>
            <a:off x="685800" y="3721608"/>
            <a:ext cx="10881360" cy="365760"/>
          </a:xfrm>
          <a:prstGeom prst="rect">
            <a:avLst/>
          </a:prstGeom>
          <a:noFill/>
        </p:spPr>
        <p:txBody>
          <a:bodyPr wrap="square" anchor="t" lIns="0" rIns="0" tIns="0" bIns="0">
            <a:spAutoFit/>
          </a:bodyPr>
          <a:lstStyle/>
          <a:p>
            <a:pPr algn="l">
              <a:lnSpc>
                <a:spcPct val="118000"/>
              </a:lnSpc>
            </a:pPr>
            <a:r>
              <a:rPr sz="1500" b="1">
                <a:solidFill>
                  <a:srgbClr val="0B0B0B"/>
                </a:solidFill>
                <a:latin typeface="Helvetica Neue"/>
              </a:rPr>
              <a:t>A parallel, slower path maintains the Orange Business Graph</a:t>
            </a:r>
          </a:p>
        </p:txBody>
      </p:sp>
      <p:sp>
        <p:nvSpPr>
          <p:cNvPr id="39" name="TextBox 38"/>
          <p:cNvSpPr txBox="1"/>
          <p:nvPr/>
        </p:nvSpPr>
        <p:spPr>
          <a:xfrm>
            <a:off x="685800" y="4050792"/>
            <a:ext cx="10881360" cy="640080"/>
          </a:xfrm>
          <a:prstGeom prst="rect">
            <a:avLst/>
          </a:prstGeom>
          <a:noFill/>
        </p:spPr>
        <p:txBody>
          <a:bodyPr wrap="square" anchor="t" lIns="0" rIns="0" tIns="0" bIns="0">
            <a:spAutoFit/>
          </a:bodyPr>
          <a:lstStyle/>
          <a:p>
            <a:pPr algn="l">
              <a:lnSpc>
                <a:spcPct val="132000"/>
              </a:lnSpc>
            </a:pPr>
            <a:r>
              <a:rPr sz="1250" b="0">
                <a:solidFill>
                  <a:srgbClr val="6B6963"/>
                </a:solidFill>
                <a:latin typeface="Helvetica Neue"/>
              </a:rPr>
              <a:t>Offers, references, partners with tiers, certifications, analyst positions, capability pools and research assets. It joins at stage 6, so right-to-win can be improved without re-running discovery. Links are typed L0–L4 and carry the evidence that justified them.</a:t>
            </a:r>
          </a:p>
        </p:txBody>
      </p:sp>
      <p:sp>
        <p:nvSpPr>
          <p:cNvPr id="40" name="TextBox 39"/>
          <p:cNvSpPr txBox="1"/>
          <p:nvPr/>
        </p:nvSpPr>
        <p:spPr>
          <a:xfrm>
            <a:off x="685800" y="4672584"/>
            <a:ext cx="10881360" cy="365760"/>
          </a:xfrm>
          <a:prstGeom prst="rect">
            <a:avLst/>
          </a:prstGeom>
          <a:noFill/>
        </p:spPr>
        <p:txBody>
          <a:bodyPr wrap="square" anchor="t" lIns="0" rIns="0" tIns="0" bIns="0">
            <a:spAutoFit/>
          </a:bodyPr>
          <a:lstStyle/>
          <a:p>
            <a:pPr algn="l">
              <a:lnSpc>
                <a:spcPct val="118000"/>
              </a:lnSpc>
            </a:pPr>
            <a:r>
              <a:rPr sz="1500" b="1">
                <a:solidFill>
                  <a:srgbClr val="0B0B0B"/>
                </a:solidFill>
                <a:latin typeface="Helvetica Neue"/>
              </a:rPr>
              <a:t>And two subsystems sit BESIDE the pipeline rather than in it</a:t>
            </a:r>
          </a:p>
        </p:txBody>
      </p:sp>
      <p:sp>
        <p:nvSpPr>
          <p:cNvPr id="41" name="Rectangle 40"/>
          <p:cNvSpPr/>
          <p:nvPr/>
        </p:nvSpPr>
        <p:spPr>
          <a:xfrm>
            <a:off x="685800" y="4983480"/>
            <a:ext cx="5303520" cy="1207008"/>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05256" y="5138928"/>
            <a:ext cx="484632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THE PLANNER</a:t>
            </a:r>
          </a:p>
        </p:txBody>
      </p:sp>
      <p:sp>
        <p:nvSpPr>
          <p:cNvPr id="43" name="TextBox 42"/>
          <p:cNvSpPr txBox="1"/>
          <p:nvPr/>
        </p:nvSpPr>
        <p:spPr>
          <a:xfrm>
            <a:off x="905256" y="5394960"/>
            <a:ext cx="4846320" cy="228600"/>
          </a:xfrm>
          <a:prstGeom prst="rect">
            <a:avLst/>
          </a:prstGeom>
          <a:noFill/>
        </p:spPr>
        <p:txBody>
          <a:bodyPr wrap="square" anchor="t" lIns="0" rIns="0" tIns="0" bIns="0">
            <a:spAutoFit/>
          </a:bodyPr>
          <a:lstStyle/>
          <a:p>
            <a:pPr algn="l">
              <a:lnSpc>
                <a:spcPct val="118000"/>
              </a:lnSpc>
            </a:pPr>
            <a:r>
              <a:rPr sz="900" b="0">
                <a:solidFill>
                  <a:srgbClr val="6B6963"/>
                </a:solidFill>
                <a:latin typeface="Menlo"/>
              </a:rPr>
              <a:t>planner.py · plan_report.py</a:t>
            </a:r>
          </a:p>
        </p:txBody>
      </p:sp>
      <p:sp>
        <p:nvSpPr>
          <p:cNvPr id="44" name="TextBox 43"/>
          <p:cNvSpPr txBox="1"/>
          <p:nvPr/>
        </p:nvSpPr>
        <p:spPr>
          <a:xfrm>
            <a:off x="905256" y="5632704"/>
            <a:ext cx="4846320" cy="640080"/>
          </a:xfrm>
          <a:prstGeom prst="rect">
            <a:avLst/>
          </a:prstGeom>
          <a:noFill/>
        </p:spPr>
        <p:txBody>
          <a:bodyPr wrap="square" anchor="t" lIns="0" rIns="0" tIns="0" bIns="0">
            <a:spAutoFit/>
          </a:bodyPr>
          <a:lstStyle/>
          <a:p>
            <a:pPr algn="l">
              <a:lnSpc>
                <a:spcPct val="128000"/>
              </a:lnSpc>
            </a:pPr>
            <a:r>
              <a:rPr sz="1050" b="0">
                <a:solidFill>
                  <a:srgbClr val="6B6963"/>
                </a:solidFill>
                <a:latin typeface="Helvetica Neue"/>
              </a:rPr>
              <a:t>Reads the read model and an assumptions file. Selects a set, schedules it, projects five years, writes one PDF. One model call, after every number is fixed.</a:t>
            </a:r>
          </a:p>
        </p:txBody>
      </p:sp>
      <p:sp>
        <p:nvSpPr>
          <p:cNvPr id="45" name="Rectangle 44"/>
          <p:cNvSpPr/>
          <p:nvPr/>
        </p:nvSpPr>
        <p:spPr>
          <a:xfrm>
            <a:off x="6263640" y="4983480"/>
            <a:ext cx="5303520" cy="1207008"/>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83096" y="5138928"/>
            <a:ext cx="4846320" cy="274320"/>
          </a:xfrm>
          <a:prstGeom prst="rect">
            <a:avLst/>
          </a:prstGeom>
          <a:noFill/>
        </p:spPr>
        <p:txBody>
          <a:bodyPr wrap="square" anchor="t" lIns="0" rIns="0" tIns="0" bIns="0">
            <a:spAutoFit/>
          </a:bodyPr>
          <a:lstStyle/>
          <a:p>
            <a:pPr algn="l">
              <a:lnSpc>
                <a:spcPct val="118000"/>
              </a:lnSpc>
            </a:pPr>
            <a:r>
              <a:rPr sz="1050" b="1">
                <a:solidFill>
                  <a:srgbClr val="F07000"/>
                </a:solidFill>
                <a:latin typeface="Helvetica Neue"/>
              </a:rPr>
              <a:t>PRE-SALES COLLATERAL</a:t>
            </a:r>
          </a:p>
        </p:txBody>
      </p:sp>
      <p:sp>
        <p:nvSpPr>
          <p:cNvPr id="47" name="TextBox 46"/>
          <p:cNvSpPr txBox="1"/>
          <p:nvPr/>
        </p:nvSpPr>
        <p:spPr>
          <a:xfrm>
            <a:off x="6483096" y="5394960"/>
            <a:ext cx="4846320" cy="228600"/>
          </a:xfrm>
          <a:prstGeom prst="rect">
            <a:avLst/>
          </a:prstGeom>
          <a:noFill/>
        </p:spPr>
        <p:txBody>
          <a:bodyPr wrap="square" anchor="t" lIns="0" rIns="0" tIns="0" bIns="0">
            <a:spAutoFit/>
          </a:bodyPr>
          <a:lstStyle/>
          <a:p>
            <a:pPr algn="l">
              <a:lnSpc>
                <a:spcPct val="118000"/>
              </a:lnSpc>
            </a:pPr>
            <a:r>
              <a:rPr sz="900" b="0">
                <a:solidFill>
                  <a:srgbClr val="6B6963"/>
                </a:solidFill>
                <a:latin typeface="Menlo"/>
              </a:rPr>
              <a:t>presales/</a:t>
            </a:r>
          </a:p>
        </p:txBody>
      </p:sp>
      <p:sp>
        <p:nvSpPr>
          <p:cNvPr id="48" name="TextBox 47"/>
          <p:cNvSpPr txBox="1"/>
          <p:nvPr/>
        </p:nvSpPr>
        <p:spPr>
          <a:xfrm>
            <a:off x="6483096" y="5632704"/>
            <a:ext cx="4846320" cy="640080"/>
          </a:xfrm>
          <a:prstGeom prst="rect">
            <a:avLst/>
          </a:prstGeom>
          <a:noFill/>
        </p:spPr>
        <p:txBody>
          <a:bodyPr wrap="square" anchor="t" lIns="0" rIns="0" tIns="0" bIns="0">
            <a:spAutoFit/>
          </a:bodyPr>
          <a:lstStyle/>
          <a:p>
            <a:pPr algn="l">
              <a:lnSpc>
                <a:spcPct val="128000"/>
              </a:lnSpc>
            </a:pPr>
            <a:r>
              <a:rPr sz="1050" b="0">
                <a:solidFill>
                  <a:srgbClr val="6B6963"/>
                </a:solidFill>
                <a:latin typeface="Helvetica Neue"/>
              </a:rPr>
              <a:t>Reads ONE snapshot of a space and emits twelve artefacts in five formats — so nothing in a pack can disagree with anything else in it.</a:t>
            </a:r>
          </a:p>
        </p:txBody>
      </p:sp>
      <p:sp>
        <p:nvSpPr>
          <p:cNvPr id="49" name="TextBox 48"/>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50" name="TextBox 49"/>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ARCHITECTURE</a:t>
            </a:r>
          </a:p>
        </p:txBody>
      </p:sp>
      <p:sp>
        <p:nvSpPr>
          <p:cNvPr id="4" name="TextBox 3"/>
          <p:cNvSpPr txBox="1"/>
          <p:nvPr/>
        </p:nvSpPr>
        <p:spPr>
          <a:xfrm>
            <a:off x="685800" y="777240"/>
            <a:ext cx="10789920" cy="640080"/>
          </a:xfrm>
          <a:prstGeom prst="rect">
            <a:avLst/>
          </a:prstGeom>
          <a:noFill/>
        </p:spPr>
        <p:txBody>
          <a:bodyPr wrap="square" anchor="t" lIns="0" rIns="0" tIns="0" bIns="0">
            <a:spAutoFit/>
          </a:bodyPr>
          <a:lstStyle/>
          <a:p>
            <a:pPr algn="l">
              <a:lnSpc>
                <a:spcPct val="118000"/>
              </a:lnSpc>
            </a:pPr>
            <a:r>
              <a:rPr sz="3200" b="1">
                <a:solidFill>
                  <a:srgbClr val="0B0B0B"/>
                </a:solidFill>
                <a:latin typeface="Helvetica Neue"/>
              </a:rPr>
              <a:t>Stack and separation of concerns</a:t>
            </a:r>
          </a:p>
        </p:txBody>
      </p:sp>
      <p:sp>
        <p:nvSpPr>
          <p:cNvPr id="5" name="Rectangle 4"/>
          <p:cNvSpPr/>
          <p:nvPr/>
        </p:nvSpPr>
        <p:spPr>
          <a:xfrm>
            <a:off x="685800" y="1737360"/>
            <a:ext cx="3520440" cy="32004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737360"/>
            <a:ext cx="3520440" cy="64008"/>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2011680"/>
            <a:ext cx="3008376"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INGESTION</a:t>
            </a:r>
          </a:p>
        </p:txBody>
      </p:sp>
      <p:sp>
        <p:nvSpPr>
          <p:cNvPr id="8" name="TextBox 7"/>
          <p:cNvSpPr txBox="1"/>
          <p:nvPr/>
        </p:nvSpPr>
        <p:spPr>
          <a:xfrm>
            <a:off x="941832" y="2395728"/>
            <a:ext cx="3008376" cy="2377440"/>
          </a:xfrm>
          <a:prstGeom prst="rect">
            <a:avLst/>
          </a:prstGeom>
          <a:noFill/>
        </p:spPr>
        <p:txBody>
          <a:bodyPr wrap="square" anchor="t" lIns="0" rIns="0" tIns="0" bIns="0">
            <a:spAutoFit/>
          </a:bodyPr>
          <a:lstStyle/>
          <a:p>
            <a:pPr algn="l">
              <a:lnSpc>
                <a:spcPct val="132000"/>
              </a:lnSpc>
            </a:pPr>
            <a:r>
              <a:rPr sz="1150" b="0">
                <a:solidFill>
                  <a:srgbClr val="0B0B0B"/>
                </a:solidFill>
                <a:latin typeface="Helvetica Neue"/>
              </a:rPr>
              <a:t>33 enabled sources across 17 connector
types: TED, BOAMP, UK Contracts,
EUR-Lex SPARQL, Have-your-say, GDELT,
news RSS (EN/FR), Hacker News, OpenAlex,
Crossref, arXiv, CORDIS, NIST, CERT-FR
Parallel fetch · circuit breaker ·
per-host pacing · replay-safe dates</a:t>
            </a:r>
          </a:p>
        </p:txBody>
      </p:sp>
      <p:sp>
        <p:nvSpPr>
          <p:cNvPr id="9" name="Rectangle 8"/>
          <p:cNvSpPr/>
          <p:nvPr/>
        </p:nvSpPr>
        <p:spPr>
          <a:xfrm>
            <a:off x="4462272" y="1737360"/>
            <a:ext cx="3520440" cy="32004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62272" y="1737360"/>
            <a:ext cx="3520440" cy="64008"/>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18304" y="2011680"/>
            <a:ext cx="3008376"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INTELLIGENCE</a:t>
            </a:r>
          </a:p>
        </p:txBody>
      </p:sp>
      <p:sp>
        <p:nvSpPr>
          <p:cNvPr id="12" name="TextBox 11"/>
          <p:cNvSpPr txBox="1"/>
          <p:nvPr/>
        </p:nvSpPr>
        <p:spPr>
          <a:xfrm>
            <a:off x="4718304" y="2395728"/>
            <a:ext cx="3008376" cy="2377440"/>
          </a:xfrm>
          <a:prstGeom prst="rect">
            <a:avLst/>
          </a:prstGeom>
          <a:noFill/>
        </p:spPr>
        <p:txBody>
          <a:bodyPr wrap="square" anchor="t" lIns="0" rIns="0" tIns="0" bIns="0">
            <a:spAutoFit/>
          </a:bodyPr>
          <a:lstStyle/>
          <a:p>
            <a:pPr algn="l">
              <a:lnSpc>
                <a:spcPct val="132000"/>
              </a:lnSpc>
            </a:pPr>
            <a:r>
              <a:rPr sz="1150" b="0">
                <a:solidFill>
                  <a:srgbClr val="0B0B0B"/>
                </a:solidFill>
                <a:latin typeface="Helvetica Neue"/>
              </a:rPr>
              <a:t>DeepSeek behind a provider-agnostic
client (swap to Ollama via .env alone)
Local sentence-transformers for
embeddings and clustering
Deterministic where possible,
generative only where it earns its place</a:t>
            </a:r>
          </a:p>
        </p:txBody>
      </p:sp>
      <p:sp>
        <p:nvSpPr>
          <p:cNvPr id="13" name="Rectangle 12"/>
          <p:cNvSpPr/>
          <p:nvPr/>
        </p:nvSpPr>
        <p:spPr>
          <a:xfrm>
            <a:off x="8238744" y="1737360"/>
            <a:ext cx="3520440" cy="32004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38744" y="1737360"/>
            <a:ext cx="3520440" cy="64008"/>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94776" y="2011680"/>
            <a:ext cx="3008376"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SERVING</a:t>
            </a:r>
          </a:p>
        </p:txBody>
      </p:sp>
      <p:sp>
        <p:nvSpPr>
          <p:cNvPr id="16" name="TextBox 15"/>
          <p:cNvSpPr txBox="1"/>
          <p:nvPr/>
        </p:nvSpPr>
        <p:spPr>
          <a:xfrm>
            <a:off x="8494776" y="2395728"/>
            <a:ext cx="3008376" cy="2377440"/>
          </a:xfrm>
          <a:prstGeom prst="rect">
            <a:avLst/>
          </a:prstGeom>
          <a:noFill/>
        </p:spPr>
        <p:txBody>
          <a:bodyPr wrap="square" anchor="t" lIns="0" rIns="0" tIns="0" bIns="0">
            <a:spAutoFit/>
          </a:bodyPr>
          <a:lstStyle/>
          <a:p>
            <a:pPr algn="l">
              <a:lnSpc>
                <a:spcPct val="132000"/>
              </a:lnSpc>
            </a:pPr>
            <a:r>
              <a:rPr sz="1150" b="0">
                <a:solidFill>
                  <a:srgbClr val="0B0B0B"/>
                </a:solidFill>
                <a:latin typeface="Helvetica Neue"/>
              </a:rPr>
              <a:t>SQLite — the graph is thousands of
nodes, not millions
FastAPI read API behind a session
guard applied to the whole app,
not route by route
React + Vite + TypeScript
Hand-drawn SVG radar, no chart library
scipy milp for portfolio selection
reportlab / python-pptx / python-docx
for every document it emits</a:t>
            </a:r>
          </a:p>
        </p:txBody>
      </p:sp>
      <p:sp>
        <p:nvSpPr>
          <p:cNvPr id="17" name="TextBox 16"/>
          <p:cNvSpPr txBox="1"/>
          <p:nvPr/>
        </p:nvSpPr>
        <p:spPr>
          <a:xfrm>
            <a:off x="685800" y="5212080"/>
            <a:ext cx="10881360" cy="731520"/>
          </a:xfrm>
          <a:prstGeom prst="rect">
            <a:avLst/>
          </a:prstGeom>
          <a:noFill/>
        </p:spPr>
        <p:txBody>
          <a:bodyPr wrap="square" anchor="t" lIns="0" rIns="0" tIns="0" bIns="0">
            <a:spAutoFit/>
          </a:bodyPr>
          <a:lstStyle/>
          <a:p>
            <a:pPr algn="l">
              <a:lnSpc>
                <a:spcPct val="135000"/>
              </a:lnSpc>
            </a:pPr>
            <a:r>
              <a:rPr sz="1250" b="0">
                <a:solidFill>
                  <a:srgbClr val="6B6963"/>
                </a:solidFill>
                <a:latin typeface="Helvetica Neue"/>
              </a:rPr>
              <a:t>Taxonomies, weights, thresholds, sources, the business graph and the crosswalks are all configuration, not code — and are validated at load time, so a dangling id is a startup error rather than a wrong number three stages later.</a:t>
            </a:r>
          </a:p>
        </p:txBody>
      </p:sp>
      <p:sp>
        <p:nvSpPr>
          <p:cNvPr id="18" name="TextBox 17"/>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19" name="TextBox 18"/>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ARCHITECTURE</a:t>
            </a:r>
          </a:p>
        </p:txBody>
      </p:sp>
      <p:sp>
        <p:nvSpPr>
          <p:cNvPr id="4" name="TextBox 3"/>
          <p:cNvSpPr txBox="1"/>
          <p:nvPr/>
        </p:nvSpPr>
        <p:spPr>
          <a:xfrm>
            <a:off x="685800" y="777240"/>
            <a:ext cx="10789920" cy="640080"/>
          </a:xfrm>
          <a:prstGeom prst="rect">
            <a:avLst/>
          </a:prstGeom>
          <a:noFill/>
        </p:spPr>
        <p:txBody>
          <a:bodyPr wrap="square" anchor="t" lIns="0" rIns="0" tIns="0" bIns="0">
            <a:spAutoFit/>
          </a:bodyPr>
          <a:lstStyle/>
          <a:p>
            <a:pPr algn="l">
              <a:lnSpc>
                <a:spcPct val="118000"/>
              </a:lnSpc>
            </a:pPr>
            <a:r>
              <a:rPr sz="3200" b="1">
                <a:solidFill>
                  <a:srgbClr val="0B0B0B"/>
                </a:solidFill>
                <a:latin typeface="Helvetica Neue"/>
              </a:rPr>
              <a:t>What makes the numbers defensible</a:t>
            </a:r>
          </a:p>
        </p:txBody>
      </p:sp>
      <p:sp>
        <p:nvSpPr>
          <p:cNvPr id="5" name="TextBox 4"/>
          <p:cNvSpPr txBox="1"/>
          <p:nvPr/>
        </p:nvSpPr>
        <p:spPr>
          <a:xfrm>
            <a:off x="685800" y="1481328"/>
            <a:ext cx="10058400" cy="457200"/>
          </a:xfrm>
          <a:prstGeom prst="rect">
            <a:avLst/>
          </a:prstGeom>
          <a:noFill/>
        </p:spPr>
        <p:txBody>
          <a:bodyPr wrap="square" anchor="t" lIns="0" rIns="0" tIns="0" bIns="0">
            <a:spAutoFit/>
          </a:bodyPr>
          <a:lstStyle/>
          <a:p>
            <a:pPr algn="l">
              <a:lnSpc>
                <a:spcPct val="118000"/>
              </a:lnSpc>
            </a:pPr>
            <a:r>
              <a:rPr sz="1500" b="0">
                <a:solidFill>
                  <a:srgbClr val="6B6963"/>
                </a:solidFill>
                <a:latin typeface="Helvetica Neue"/>
              </a:rPr>
              <a:t>The governing constraint: if a user cannot explain why a topic is ranked where it is, the scoring is not good enough.</a:t>
            </a:r>
          </a:p>
        </p:txBody>
      </p:sp>
      <p:sp>
        <p:nvSpPr>
          <p:cNvPr id="6" name="Rectangle 5"/>
          <p:cNvSpPr/>
          <p:nvPr/>
        </p:nvSpPr>
        <p:spPr>
          <a:xfrm>
            <a:off x="685800" y="2203704"/>
            <a:ext cx="50292" cy="566928"/>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148840"/>
            <a:ext cx="5120640" cy="274320"/>
          </a:xfrm>
          <a:prstGeom prst="rect">
            <a:avLst/>
          </a:prstGeom>
          <a:noFill/>
        </p:spPr>
        <p:txBody>
          <a:bodyPr wrap="square" anchor="t" lIns="0" rIns="0" tIns="0" bIns="0">
            <a:spAutoFit/>
          </a:bodyPr>
          <a:lstStyle/>
          <a:p>
            <a:pPr algn="l">
              <a:lnSpc>
                <a:spcPct val="118000"/>
              </a:lnSpc>
            </a:pPr>
            <a:r>
              <a:rPr sz="1500" b="1">
                <a:solidFill>
                  <a:srgbClr val="0B0B0B"/>
                </a:solidFill>
                <a:latin typeface="Helvetica Neue"/>
              </a:rPr>
              <a:t>Decomposable</a:t>
            </a:r>
          </a:p>
        </p:txBody>
      </p:sp>
      <p:sp>
        <p:nvSpPr>
          <p:cNvPr id="8" name="TextBox 7"/>
          <p:cNvSpPr txBox="1"/>
          <p:nvPr/>
        </p:nvSpPr>
        <p:spPr>
          <a:xfrm>
            <a:off x="905256" y="2423160"/>
            <a:ext cx="5120640" cy="548640"/>
          </a:xfrm>
          <a:prstGeom prst="rect">
            <a:avLst/>
          </a:prstGeom>
          <a:noFill/>
        </p:spPr>
        <p:txBody>
          <a:bodyPr wrap="square" anchor="t" lIns="0" rIns="0" tIns="0" bIns="0">
            <a:spAutoFit/>
          </a:bodyPr>
          <a:lstStyle/>
          <a:p>
            <a:pPr algn="l">
              <a:lnSpc>
                <a:spcPct val="130000"/>
              </a:lnSpc>
            </a:pPr>
            <a:r>
              <a:rPr sz="1150" b="0">
                <a:solidFill>
                  <a:srgbClr val="6B6963"/>
                </a:solidFill>
                <a:latin typeface="Helvetica Neue"/>
              </a:rPr>
              <a:t>Every displayed number breaks into named components; no opaque scores.</a:t>
            </a:r>
          </a:p>
        </p:txBody>
      </p:sp>
      <p:sp>
        <p:nvSpPr>
          <p:cNvPr id="9" name="Rectangle 8"/>
          <p:cNvSpPr/>
          <p:nvPr/>
        </p:nvSpPr>
        <p:spPr>
          <a:xfrm>
            <a:off x="6355080" y="2203704"/>
            <a:ext cx="50292" cy="566928"/>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4536" y="2148840"/>
            <a:ext cx="5120640" cy="274320"/>
          </a:xfrm>
          <a:prstGeom prst="rect">
            <a:avLst/>
          </a:prstGeom>
          <a:noFill/>
        </p:spPr>
        <p:txBody>
          <a:bodyPr wrap="square" anchor="t" lIns="0" rIns="0" tIns="0" bIns="0">
            <a:spAutoFit/>
          </a:bodyPr>
          <a:lstStyle/>
          <a:p>
            <a:pPr algn="l">
              <a:lnSpc>
                <a:spcPct val="118000"/>
              </a:lnSpc>
            </a:pPr>
            <a:r>
              <a:rPr sz="1500" b="1">
                <a:solidFill>
                  <a:srgbClr val="0B0B0B"/>
                </a:solidFill>
                <a:latin typeface="Helvetica Neue"/>
              </a:rPr>
              <a:t>Reproducible</a:t>
            </a:r>
          </a:p>
        </p:txBody>
      </p:sp>
      <p:sp>
        <p:nvSpPr>
          <p:cNvPr id="11" name="TextBox 10"/>
          <p:cNvSpPr txBox="1"/>
          <p:nvPr/>
        </p:nvSpPr>
        <p:spPr>
          <a:xfrm>
            <a:off x="6574536" y="2423160"/>
            <a:ext cx="5120640" cy="548640"/>
          </a:xfrm>
          <a:prstGeom prst="rect">
            <a:avLst/>
          </a:prstGeom>
          <a:noFill/>
        </p:spPr>
        <p:txBody>
          <a:bodyPr wrap="square" anchor="t" lIns="0" rIns="0" tIns="0" bIns="0">
            <a:spAutoFit/>
          </a:bodyPr>
          <a:lstStyle/>
          <a:p>
            <a:pPr algn="l">
              <a:lnSpc>
                <a:spcPct val="130000"/>
              </a:lnSpc>
            </a:pPr>
            <a:r>
              <a:rPr sz="1150" b="0">
                <a:solidFill>
                  <a:srgbClr val="6B6963"/>
                </a:solidFill>
                <a:latin typeface="Helvetica Neue"/>
              </a:rPr>
              <a:t>Every component stores the inputs used to compute it, so any number can be re-derived.</a:t>
            </a:r>
          </a:p>
        </p:txBody>
      </p:sp>
      <p:sp>
        <p:nvSpPr>
          <p:cNvPr id="12" name="Rectangle 11"/>
          <p:cNvSpPr/>
          <p:nvPr/>
        </p:nvSpPr>
        <p:spPr>
          <a:xfrm>
            <a:off x="685800" y="3118104"/>
            <a:ext cx="50292" cy="566928"/>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3063240"/>
            <a:ext cx="5120640" cy="274320"/>
          </a:xfrm>
          <a:prstGeom prst="rect">
            <a:avLst/>
          </a:prstGeom>
          <a:noFill/>
        </p:spPr>
        <p:txBody>
          <a:bodyPr wrap="square" anchor="t" lIns="0" rIns="0" tIns="0" bIns="0">
            <a:spAutoFit/>
          </a:bodyPr>
          <a:lstStyle/>
          <a:p>
            <a:pPr algn="l">
              <a:lnSpc>
                <a:spcPct val="118000"/>
              </a:lnSpc>
            </a:pPr>
            <a:r>
              <a:rPr sz="1500" b="1">
                <a:solidFill>
                  <a:srgbClr val="0B0B0B"/>
                </a:solidFill>
                <a:latin typeface="Helvetica Neue"/>
              </a:rPr>
              <a:t>Traceable</a:t>
            </a:r>
          </a:p>
        </p:txBody>
      </p:sp>
      <p:sp>
        <p:nvSpPr>
          <p:cNvPr id="14" name="TextBox 13"/>
          <p:cNvSpPr txBox="1"/>
          <p:nvPr/>
        </p:nvSpPr>
        <p:spPr>
          <a:xfrm>
            <a:off x="905256" y="3337560"/>
            <a:ext cx="5120640" cy="548640"/>
          </a:xfrm>
          <a:prstGeom prst="rect">
            <a:avLst/>
          </a:prstGeom>
          <a:noFill/>
        </p:spPr>
        <p:txBody>
          <a:bodyPr wrap="square" anchor="t" lIns="0" rIns="0" tIns="0" bIns="0">
            <a:spAutoFit/>
          </a:bodyPr>
          <a:lstStyle/>
          <a:p>
            <a:pPr algn="l">
              <a:lnSpc>
                <a:spcPct val="130000"/>
              </a:lnSpc>
            </a:pPr>
            <a:r>
              <a:rPr sz="1150" b="0">
                <a:solidFill>
                  <a:srgbClr val="6B6963"/>
                </a:solidFill>
                <a:latin typeface="Helvetica Neue"/>
              </a:rPr>
              <a:t>Full lineage from a displayed claim back to the raw ingested item, including prompt and model version.</a:t>
            </a:r>
          </a:p>
        </p:txBody>
      </p:sp>
      <p:sp>
        <p:nvSpPr>
          <p:cNvPr id="15" name="Rectangle 14"/>
          <p:cNvSpPr/>
          <p:nvPr/>
        </p:nvSpPr>
        <p:spPr>
          <a:xfrm>
            <a:off x="6355080" y="3118104"/>
            <a:ext cx="50292" cy="566928"/>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74536" y="3063240"/>
            <a:ext cx="5120640" cy="274320"/>
          </a:xfrm>
          <a:prstGeom prst="rect">
            <a:avLst/>
          </a:prstGeom>
          <a:noFill/>
        </p:spPr>
        <p:txBody>
          <a:bodyPr wrap="square" anchor="t" lIns="0" rIns="0" tIns="0" bIns="0">
            <a:spAutoFit/>
          </a:bodyPr>
          <a:lstStyle/>
          <a:p>
            <a:pPr algn="l">
              <a:lnSpc>
                <a:spcPct val="118000"/>
              </a:lnSpc>
            </a:pPr>
            <a:r>
              <a:rPr sz="1500" b="1">
                <a:solidFill>
                  <a:srgbClr val="0B0B0B"/>
                </a:solidFill>
                <a:latin typeface="Helvetica Neue"/>
              </a:rPr>
              <a:t>Versioned</a:t>
            </a:r>
          </a:p>
        </p:txBody>
      </p:sp>
      <p:sp>
        <p:nvSpPr>
          <p:cNvPr id="17" name="TextBox 16"/>
          <p:cNvSpPr txBox="1"/>
          <p:nvPr/>
        </p:nvSpPr>
        <p:spPr>
          <a:xfrm>
            <a:off x="6574536" y="3337560"/>
            <a:ext cx="5120640" cy="548640"/>
          </a:xfrm>
          <a:prstGeom prst="rect">
            <a:avLst/>
          </a:prstGeom>
          <a:noFill/>
        </p:spPr>
        <p:txBody>
          <a:bodyPr wrap="square" anchor="t" lIns="0" rIns="0" tIns="0" bIns="0">
            <a:spAutoFit/>
          </a:bodyPr>
          <a:lstStyle/>
          <a:p>
            <a:pPr algn="l">
              <a:lnSpc>
                <a:spcPct val="130000"/>
              </a:lnSpc>
            </a:pPr>
            <a:r>
              <a:rPr sz="1150" b="0">
                <a:solidFill>
                  <a:srgbClr val="6B6963"/>
                </a:solidFill>
                <a:latin typeface="Helvetica Neue"/>
              </a:rPr>
              <a:t>Every score records its weight set. Trajectories are never plotted across a boundary silently.</a:t>
            </a:r>
          </a:p>
        </p:txBody>
      </p:sp>
      <p:sp>
        <p:nvSpPr>
          <p:cNvPr id="18" name="Rectangle 17"/>
          <p:cNvSpPr/>
          <p:nvPr/>
        </p:nvSpPr>
        <p:spPr>
          <a:xfrm>
            <a:off x="685800" y="4032504"/>
            <a:ext cx="50292" cy="566928"/>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3977640"/>
            <a:ext cx="5120640" cy="274320"/>
          </a:xfrm>
          <a:prstGeom prst="rect">
            <a:avLst/>
          </a:prstGeom>
          <a:noFill/>
        </p:spPr>
        <p:txBody>
          <a:bodyPr wrap="square" anchor="t" lIns="0" rIns="0" tIns="0" bIns="0">
            <a:spAutoFit/>
          </a:bodyPr>
          <a:lstStyle/>
          <a:p>
            <a:pPr algn="l">
              <a:lnSpc>
                <a:spcPct val="118000"/>
              </a:lnSpc>
            </a:pPr>
            <a:r>
              <a:rPr sz="1500" b="1">
                <a:solidFill>
                  <a:srgbClr val="0B0B0B"/>
                </a:solidFill>
                <a:latin typeface="Helvetica Neue"/>
              </a:rPr>
              <a:t>Auditable</a:t>
            </a:r>
          </a:p>
        </p:txBody>
      </p:sp>
      <p:sp>
        <p:nvSpPr>
          <p:cNvPr id="20" name="TextBox 19"/>
          <p:cNvSpPr txBox="1"/>
          <p:nvPr/>
        </p:nvSpPr>
        <p:spPr>
          <a:xfrm>
            <a:off x="905256" y="4251960"/>
            <a:ext cx="5120640" cy="548640"/>
          </a:xfrm>
          <a:prstGeom prst="rect">
            <a:avLst/>
          </a:prstGeom>
          <a:noFill/>
        </p:spPr>
        <p:txBody>
          <a:bodyPr wrap="square" anchor="t" lIns="0" rIns="0" tIns="0" bIns="0">
            <a:spAutoFit/>
          </a:bodyPr>
          <a:lstStyle/>
          <a:p>
            <a:pPr algn="l">
              <a:lnSpc>
                <a:spcPct val="130000"/>
              </a:lnSpc>
            </a:pPr>
            <a:r>
              <a:rPr sz="1150" b="0">
                <a:solidFill>
                  <a:srgbClr val="6B6963"/>
                </a:solidFill>
                <a:latin typeface="Helvetica Neue"/>
              </a:rPr>
              <a:t>A reviewer outside the project can reconstruct why any topic holds its rank.</a:t>
            </a:r>
          </a:p>
        </p:txBody>
      </p:sp>
      <p:sp>
        <p:nvSpPr>
          <p:cNvPr id="21" name="Rectangle 20"/>
          <p:cNvSpPr/>
          <p:nvPr/>
        </p:nvSpPr>
        <p:spPr>
          <a:xfrm>
            <a:off x="6355080" y="4032504"/>
            <a:ext cx="50292" cy="566928"/>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74536" y="3977640"/>
            <a:ext cx="5120640" cy="274320"/>
          </a:xfrm>
          <a:prstGeom prst="rect">
            <a:avLst/>
          </a:prstGeom>
          <a:noFill/>
        </p:spPr>
        <p:txBody>
          <a:bodyPr wrap="square" anchor="t" lIns="0" rIns="0" tIns="0" bIns="0">
            <a:spAutoFit/>
          </a:bodyPr>
          <a:lstStyle/>
          <a:p>
            <a:pPr algn="l">
              <a:lnSpc>
                <a:spcPct val="118000"/>
              </a:lnSpc>
            </a:pPr>
            <a:r>
              <a:rPr sz="1500" b="1">
                <a:solidFill>
                  <a:srgbClr val="0B0B0B"/>
                </a:solidFill>
                <a:latin typeface="Helvetica Neue"/>
              </a:rPr>
              <a:t>Bounded</a:t>
            </a:r>
          </a:p>
        </p:txBody>
      </p:sp>
      <p:sp>
        <p:nvSpPr>
          <p:cNvPr id="23" name="TextBox 22"/>
          <p:cNvSpPr txBox="1"/>
          <p:nvPr/>
        </p:nvSpPr>
        <p:spPr>
          <a:xfrm>
            <a:off x="6574536" y="4251960"/>
            <a:ext cx="5120640" cy="548640"/>
          </a:xfrm>
          <a:prstGeom prst="rect">
            <a:avLst/>
          </a:prstGeom>
          <a:noFill/>
        </p:spPr>
        <p:txBody>
          <a:bodyPr wrap="square" anchor="t" lIns="0" rIns="0" tIns="0" bIns="0">
            <a:spAutoFit/>
          </a:bodyPr>
          <a:lstStyle/>
          <a:p>
            <a:pPr algn="l">
              <a:lnSpc>
                <a:spcPct val="130000"/>
              </a:lnSpc>
            </a:pPr>
            <a:r>
              <a:rPr sz="1150" b="0">
                <a:solidFill>
                  <a:srgbClr val="6B6963"/>
                </a:solidFill>
                <a:latin typeface="Helvetica Neue"/>
              </a:rPr>
              <a:t>Counting, diversity, recency and momentum are arithmetic — never a model. A model asked to count is unverifiable.</a:t>
            </a:r>
          </a:p>
        </p:txBody>
      </p:sp>
      <p:sp>
        <p:nvSpPr>
          <p:cNvPr id="24" name="TextBox 23"/>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25" name="TextBox 24"/>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STATUS</a:t>
            </a:r>
          </a:p>
        </p:txBody>
      </p:sp>
      <p:sp>
        <p:nvSpPr>
          <p:cNvPr id="4" name="TextBox 3"/>
          <p:cNvSpPr txBox="1"/>
          <p:nvPr/>
        </p:nvSpPr>
        <p:spPr>
          <a:xfrm>
            <a:off x="685800" y="777240"/>
            <a:ext cx="10789920" cy="640080"/>
          </a:xfrm>
          <a:prstGeom prst="rect">
            <a:avLst/>
          </a:prstGeom>
          <a:noFill/>
        </p:spPr>
        <p:txBody>
          <a:bodyPr wrap="square" anchor="t" lIns="0" rIns="0" tIns="0" bIns="0">
            <a:spAutoFit/>
          </a:bodyPr>
          <a:lstStyle/>
          <a:p>
            <a:pPr algn="l">
              <a:lnSpc>
                <a:spcPct val="118000"/>
              </a:lnSpc>
            </a:pPr>
            <a:r>
              <a:rPr sz="3200" b="1">
                <a:solidFill>
                  <a:srgbClr val="0B0B0B"/>
                </a:solidFill>
                <a:latin typeface="Helvetica Neue"/>
              </a:rPr>
              <a:t>What is deliberately not built — and what needs a decision</a:t>
            </a:r>
          </a:p>
        </p:txBody>
      </p:sp>
      <p:sp>
        <p:nvSpPr>
          <p:cNvPr id="5" name="TextBox 4"/>
          <p:cNvSpPr txBox="1"/>
          <p:nvPr/>
        </p:nvSpPr>
        <p:spPr>
          <a:xfrm>
            <a:off x="685800" y="1737360"/>
            <a:ext cx="5394960" cy="274320"/>
          </a:xfrm>
          <a:prstGeom prst="rect">
            <a:avLst/>
          </a:prstGeom>
          <a:noFill/>
        </p:spPr>
        <p:txBody>
          <a:bodyPr wrap="square" anchor="t" lIns="0" rIns="0" tIns="0" bIns="0">
            <a:spAutoFit/>
          </a:bodyPr>
          <a:lstStyle/>
          <a:p>
            <a:pPr algn="l">
              <a:lnSpc>
                <a:spcPct val="118000"/>
              </a:lnSpc>
            </a:pPr>
            <a:r>
              <a:rPr sz="1100" b="1">
                <a:solidFill>
                  <a:srgbClr val="F07000"/>
                </a:solidFill>
                <a:latin typeface="Helvetica Neue"/>
              </a:rPr>
              <a:t>NOT BUILT, WITH THE REASON</a:t>
            </a:r>
          </a:p>
        </p:txBody>
      </p:sp>
      <p:sp>
        <p:nvSpPr>
          <p:cNvPr id="6" name="Rectangle 5"/>
          <p:cNvSpPr/>
          <p:nvPr/>
        </p:nvSpPr>
        <p:spPr>
          <a:xfrm>
            <a:off x="685800" y="2189988"/>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3544" y="2121408"/>
            <a:ext cx="5029200" cy="365760"/>
          </a:xfrm>
          <a:prstGeom prst="rect">
            <a:avLst/>
          </a:prstGeom>
          <a:noFill/>
        </p:spPr>
        <p:txBody>
          <a:bodyPr wrap="square" anchor="t" lIns="0" rIns="0" tIns="0" bIns="0">
            <a:spAutoFit/>
          </a:bodyPr>
          <a:lstStyle/>
          <a:p>
            <a:pPr algn="l">
              <a:lnSpc>
                <a:spcPct val="118000"/>
              </a:lnSpc>
            </a:pPr>
            <a:r>
              <a:rPr sz="1250" b="1">
                <a:solidFill>
                  <a:srgbClr val="0B0B0B"/>
                </a:solidFill>
                <a:latin typeface="Helvetica Neue"/>
              </a:rPr>
              <a:t>CRM integration  </a:t>
            </a:r>
            <a:r>
              <a:rPr sz="1250" b="0">
                <a:solidFill>
                  <a:srgbClr val="6B6963"/>
                </a:solidFill>
                <a:latin typeface="Helvetica Neue"/>
              </a:rPr>
              <a:t>deferred; public assets give a sufficient right-to-win proxy</a:t>
            </a:r>
          </a:p>
        </p:txBody>
      </p:sp>
      <p:sp>
        <p:nvSpPr>
          <p:cNvPr id="8" name="Rectangle 7"/>
          <p:cNvSpPr/>
          <p:nvPr/>
        </p:nvSpPr>
        <p:spPr>
          <a:xfrm>
            <a:off x="685800" y="2692908"/>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2624328"/>
            <a:ext cx="5029200" cy="365760"/>
          </a:xfrm>
          <a:prstGeom prst="rect">
            <a:avLst/>
          </a:prstGeom>
          <a:noFill/>
        </p:spPr>
        <p:txBody>
          <a:bodyPr wrap="square" anchor="t" lIns="0" rIns="0" tIns="0" bIns="0">
            <a:spAutoFit/>
          </a:bodyPr>
          <a:lstStyle/>
          <a:p>
            <a:pPr algn="l">
              <a:lnSpc>
                <a:spcPct val="118000"/>
              </a:lnSpc>
            </a:pPr>
            <a:r>
              <a:rPr sz="1250" b="1">
                <a:solidFill>
                  <a:srgbClr val="0B0B0B"/>
                </a:solidFill>
                <a:latin typeface="Helvetica Neue"/>
              </a:rPr>
              <a:t>Learned scoring models  </a:t>
            </a:r>
            <a:r>
              <a:rPr sz="1250" b="0">
                <a:solidFill>
                  <a:srgbClr val="6B6963"/>
                </a:solidFill>
                <a:latin typeface="Helvetica Neue"/>
              </a:rPr>
              <a:t>no labels exist on day one; the capture and replay harness ships instead</a:t>
            </a:r>
          </a:p>
        </p:txBody>
      </p:sp>
      <p:sp>
        <p:nvSpPr>
          <p:cNvPr id="10" name="Rectangle 9"/>
          <p:cNvSpPr/>
          <p:nvPr/>
        </p:nvSpPr>
        <p:spPr>
          <a:xfrm>
            <a:off x="685800" y="3195828"/>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3544" y="3127248"/>
            <a:ext cx="5029200" cy="365760"/>
          </a:xfrm>
          <a:prstGeom prst="rect">
            <a:avLst/>
          </a:prstGeom>
          <a:noFill/>
        </p:spPr>
        <p:txBody>
          <a:bodyPr wrap="square" anchor="t" lIns="0" rIns="0" tIns="0" bIns="0">
            <a:spAutoFit/>
          </a:bodyPr>
          <a:lstStyle/>
          <a:p>
            <a:pPr algn="l">
              <a:lnSpc>
                <a:spcPct val="118000"/>
              </a:lnSpc>
            </a:pPr>
            <a:r>
              <a:rPr sz="1250" b="1">
                <a:solidFill>
                  <a:srgbClr val="0B0B0B"/>
                </a:solidFill>
                <a:latin typeface="Helvetica Neue"/>
              </a:rPr>
              <a:t>Patent connector  </a:t>
            </a:r>
            <a:r>
              <a:rPr sz="1250" b="0">
                <a:solidFill>
                  <a:srgbClr val="6B6963"/>
                </a:solidFill>
                <a:latin typeface="Helvetica Neue"/>
              </a:rPr>
              <a:t>needs EPO registration; technology ownership uses a portfolio-level prior</a:t>
            </a:r>
          </a:p>
        </p:txBody>
      </p:sp>
      <p:sp>
        <p:nvSpPr>
          <p:cNvPr id="12" name="Rectangle 11"/>
          <p:cNvSpPr/>
          <p:nvPr/>
        </p:nvSpPr>
        <p:spPr>
          <a:xfrm>
            <a:off x="685800" y="3698748"/>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3630168"/>
            <a:ext cx="5029200" cy="365760"/>
          </a:xfrm>
          <a:prstGeom prst="rect">
            <a:avLst/>
          </a:prstGeom>
          <a:noFill/>
        </p:spPr>
        <p:txBody>
          <a:bodyPr wrap="square" anchor="t" lIns="0" rIns="0" tIns="0" bIns="0">
            <a:spAutoFit/>
          </a:bodyPr>
          <a:lstStyle/>
          <a:p>
            <a:pPr algn="l">
              <a:lnSpc>
                <a:spcPct val="118000"/>
              </a:lnSpc>
            </a:pPr>
            <a:r>
              <a:rPr sz="1250" b="1">
                <a:solidFill>
                  <a:srgbClr val="0B0B0B"/>
                </a:solidFill>
                <a:latin typeface="Helvetica Neue"/>
              </a:rPr>
              <a:t>Learned ranking per role  </a:t>
            </a:r>
            <a:r>
              <a:rPr sz="1250" b="0">
                <a:solidFill>
                  <a:srgbClr val="6B6963"/>
                </a:solidFill>
                <a:latin typeface="Helvetica Neue"/>
              </a:rPr>
              <a:t>needs 300-600 expert comparisons; the capture widget ships first</a:t>
            </a:r>
          </a:p>
        </p:txBody>
      </p:sp>
      <p:sp>
        <p:nvSpPr>
          <p:cNvPr id="14" name="Rectangle 13"/>
          <p:cNvSpPr/>
          <p:nvPr/>
        </p:nvSpPr>
        <p:spPr>
          <a:xfrm>
            <a:off x="685800" y="4201668"/>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 y="4133088"/>
            <a:ext cx="5029200" cy="365760"/>
          </a:xfrm>
          <a:prstGeom prst="rect">
            <a:avLst/>
          </a:prstGeom>
          <a:noFill/>
        </p:spPr>
        <p:txBody>
          <a:bodyPr wrap="square" anchor="t" lIns="0" rIns="0" tIns="0" bIns="0">
            <a:spAutoFit/>
          </a:bodyPr>
          <a:lstStyle/>
          <a:p>
            <a:pPr algn="l">
              <a:lnSpc>
                <a:spcPct val="118000"/>
              </a:lnSpc>
            </a:pPr>
            <a:r>
              <a:rPr sz="1250" b="1">
                <a:solidFill>
                  <a:srgbClr val="0B0B0B"/>
                </a:solidFill>
                <a:latin typeface="Helvetica Neue"/>
              </a:rPr>
              <a:t>ROI on a plan  </a:t>
            </a:r>
            <a:r>
              <a:rPr sz="1250" b="0">
                <a:solidFill>
                  <a:srgbClr val="6B6963"/>
                </a:solidFill>
                <a:latin typeface="Helvetica Neue"/>
              </a:rPr>
              <a:t>there is no cost data at the granularity a space needs, anywhere the pipeline can reach</a:t>
            </a:r>
          </a:p>
        </p:txBody>
      </p:sp>
      <p:sp>
        <p:nvSpPr>
          <p:cNvPr id="16" name="Rectangle 15"/>
          <p:cNvSpPr/>
          <p:nvPr/>
        </p:nvSpPr>
        <p:spPr>
          <a:xfrm>
            <a:off x="685800" y="4704588"/>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 y="4636008"/>
            <a:ext cx="5029200" cy="365760"/>
          </a:xfrm>
          <a:prstGeom prst="rect">
            <a:avLst/>
          </a:prstGeom>
          <a:noFill/>
        </p:spPr>
        <p:txBody>
          <a:bodyPr wrap="square" anchor="t" lIns="0" rIns="0" tIns="0" bIns="0">
            <a:spAutoFit/>
          </a:bodyPr>
          <a:lstStyle/>
          <a:p>
            <a:pPr algn="l">
              <a:lnSpc>
                <a:spcPct val="118000"/>
              </a:lnSpc>
            </a:pPr>
            <a:r>
              <a:rPr sz="1250" b="1">
                <a:solidFill>
                  <a:srgbClr val="0B0B0B"/>
                </a:solidFill>
                <a:latin typeface="Helvetica Neue"/>
              </a:rPr>
              <a:t>Per-role authorisation  </a:t>
            </a:r>
            <a:r>
              <a:rPr sz="1250" b="0">
                <a:solidFill>
                  <a:srgbClr val="6B6963"/>
                </a:solidFill>
                <a:latin typeface="Helvetica Neue"/>
              </a:rPr>
              <a:t>sign-in answers WHO; it does not yet answer MAY THEY</a:t>
            </a:r>
          </a:p>
        </p:txBody>
      </p:sp>
      <p:sp>
        <p:nvSpPr>
          <p:cNvPr id="18" name="TextBox 17"/>
          <p:cNvSpPr txBox="1"/>
          <p:nvPr/>
        </p:nvSpPr>
        <p:spPr>
          <a:xfrm>
            <a:off x="6400800" y="1737360"/>
            <a:ext cx="5120640" cy="274320"/>
          </a:xfrm>
          <a:prstGeom prst="rect">
            <a:avLst/>
          </a:prstGeom>
          <a:noFill/>
        </p:spPr>
        <p:txBody>
          <a:bodyPr wrap="square" anchor="t" lIns="0" rIns="0" tIns="0" bIns="0">
            <a:spAutoFit/>
          </a:bodyPr>
          <a:lstStyle/>
          <a:p>
            <a:pPr algn="l">
              <a:lnSpc>
                <a:spcPct val="118000"/>
              </a:lnSpc>
            </a:pPr>
            <a:r>
              <a:rPr sz="1100" b="1">
                <a:solidFill>
                  <a:srgbClr val="D03B3B"/>
                </a:solidFill>
                <a:latin typeface="Helvetica Neue"/>
              </a:rPr>
              <a:t>NEEDS A DECISION FROM ORANGE</a:t>
            </a:r>
          </a:p>
        </p:txBody>
      </p:sp>
      <p:sp>
        <p:nvSpPr>
          <p:cNvPr id="19" name="Rectangle 18"/>
          <p:cNvSpPr/>
          <p:nvPr/>
        </p:nvSpPr>
        <p:spPr>
          <a:xfrm>
            <a:off x="6400800" y="2189988"/>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38544" y="2121408"/>
            <a:ext cx="4937760" cy="365760"/>
          </a:xfrm>
          <a:prstGeom prst="rect">
            <a:avLst/>
          </a:prstGeom>
          <a:noFill/>
        </p:spPr>
        <p:txBody>
          <a:bodyPr wrap="square" anchor="t" lIns="0" rIns="0" tIns="0" bIns="0">
            <a:spAutoFit/>
          </a:bodyPr>
          <a:lstStyle/>
          <a:p>
            <a:pPr algn="l">
              <a:lnSpc>
                <a:spcPct val="118000"/>
              </a:lnSpc>
            </a:pPr>
            <a:r>
              <a:rPr sz="1250" b="1">
                <a:solidFill>
                  <a:srgbClr val="0B0B0B"/>
                </a:solidFill>
                <a:latin typeface="Helvetica Neue"/>
              </a:rPr>
              <a:t>Who is the curator?  </a:t>
            </a:r>
            <a:r>
              <a:rPr sz="1250" b="0">
                <a:solidFill>
                  <a:srgbClr val="6B6963"/>
                </a:solidFill>
                <a:latin typeface="Helvetica Neue"/>
              </a:rPr>
              <a:t>4,832 links are machine-proposed and unconfirmed</a:t>
            </a:r>
          </a:p>
        </p:txBody>
      </p:sp>
      <p:sp>
        <p:nvSpPr>
          <p:cNvPr id="21" name="Rectangle 20"/>
          <p:cNvSpPr/>
          <p:nvPr/>
        </p:nvSpPr>
        <p:spPr>
          <a:xfrm>
            <a:off x="6400800" y="2692908"/>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38544" y="2624328"/>
            <a:ext cx="4937760" cy="365760"/>
          </a:xfrm>
          <a:prstGeom prst="rect">
            <a:avLst/>
          </a:prstGeom>
          <a:noFill/>
        </p:spPr>
        <p:txBody>
          <a:bodyPr wrap="square" anchor="t" lIns="0" rIns="0" tIns="0" bIns="0">
            <a:spAutoFit/>
          </a:bodyPr>
          <a:lstStyle/>
          <a:p>
            <a:pPr algn="l">
              <a:lnSpc>
                <a:spcPct val="118000"/>
              </a:lnSpc>
            </a:pPr>
            <a:r>
              <a:rPr sz="1250" b="1">
                <a:solidFill>
                  <a:srgbClr val="0B0B0B"/>
                </a:solidFill>
                <a:latin typeface="Helvetica Neue"/>
              </a:rPr>
              <a:t>Margin by portfolio distance  </a:t>
            </a:r>
            <a:r>
              <a:rPr sz="1250" b="0">
                <a:solidFill>
                  <a:srgbClr val="6B6963"/>
                </a:solidFill>
                <a:latin typeface="Helvetica Neue"/>
              </a:rPr>
              <a:t>one table from Orange finance moves five-year profit by 1.66x</a:t>
            </a:r>
          </a:p>
        </p:txBody>
      </p:sp>
      <p:sp>
        <p:nvSpPr>
          <p:cNvPr id="23" name="Rectangle 22"/>
          <p:cNvSpPr/>
          <p:nvPr/>
        </p:nvSpPr>
        <p:spPr>
          <a:xfrm>
            <a:off x="6400800" y="3195828"/>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38544" y="3127248"/>
            <a:ext cx="4937760" cy="365760"/>
          </a:xfrm>
          <a:prstGeom prst="rect">
            <a:avLst/>
          </a:prstGeom>
          <a:noFill/>
        </p:spPr>
        <p:txBody>
          <a:bodyPr wrap="square" anchor="t" lIns="0" rIns="0" tIns="0" bIns="0">
            <a:spAutoFit/>
          </a:bodyPr>
          <a:lstStyle/>
          <a:p>
            <a:pPr algn="l">
              <a:lnSpc>
                <a:spcPct val="118000"/>
              </a:lnSpc>
            </a:pPr>
            <a:r>
              <a:rPr sz="1250" b="1">
                <a:solidFill>
                  <a:srgbClr val="0B0B0B"/>
                </a:solidFill>
                <a:latin typeface="Helvetica Neue"/>
              </a:rPr>
              <a:t>Headcount free for new work  </a:t>
            </a:r>
            <a:r>
              <a:rPr sz="1250" b="0">
                <a:solidFill>
                  <a:srgbClr val="6B6963"/>
                </a:solidFill>
                <a:latin typeface="Helvetica Neue"/>
              </a:rPr>
              <a:t>the constraint that binds first in most plans is currently a guess</a:t>
            </a:r>
          </a:p>
        </p:txBody>
      </p:sp>
      <p:sp>
        <p:nvSpPr>
          <p:cNvPr id="25" name="Rectangle 24"/>
          <p:cNvSpPr/>
          <p:nvPr/>
        </p:nvSpPr>
        <p:spPr>
          <a:xfrm>
            <a:off x="6400800" y="3698748"/>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38544" y="3630168"/>
            <a:ext cx="4937760" cy="365760"/>
          </a:xfrm>
          <a:prstGeom prst="rect">
            <a:avLst/>
          </a:prstGeom>
          <a:noFill/>
        </p:spPr>
        <p:txBody>
          <a:bodyPr wrap="square" anchor="t" lIns="0" rIns="0" tIns="0" bIns="0">
            <a:spAutoFit/>
          </a:bodyPr>
          <a:lstStyle/>
          <a:p>
            <a:pPr algn="l">
              <a:lnSpc>
                <a:spcPct val="118000"/>
              </a:lnSpc>
            </a:pPr>
            <a:r>
              <a:rPr sz="1250" b="1">
                <a:solidFill>
                  <a:srgbClr val="0B0B0B"/>
                </a:solidFill>
                <a:latin typeface="Helvetica Neue"/>
              </a:rPr>
              <a:t>Terms of use  </a:t>
            </a:r>
            <a:r>
              <a:rPr sz="1250" b="0">
                <a:solidFill>
                  <a:srgbClr val="6B6963"/>
                </a:solidFill>
                <a:latin typeface="Helvetica Neue"/>
              </a:rPr>
              <a:t>unconfirmed for several enabled sources — a Sprint 0 blocker</a:t>
            </a:r>
          </a:p>
        </p:txBody>
      </p:sp>
      <p:sp>
        <p:nvSpPr>
          <p:cNvPr id="27" name="Rectangle 26"/>
          <p:cNvSpPr/>
          <p:nvPr/>
        </p:nvSpPr>
        <p:spPr>
          <a:xfrm>
            <a:off x="6400800" y="4201668"/>
            <a:ext cx="82296" cy="82296"/>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8544" y="4133088"/>
            <a:ext cx="4937760" cy="365760"/>
          </a:xfrm>
          <a:prstGeom prst="rect">
            <a:avLst/>
          </a:prstGeom>
          <a:noFill/>
        </p:spPr>
        <p:txBody>
          <a:bodyPr wrap="square" anchor="t" lIns="0" rIns="0" tIns="0" bIns="0">
            <a:spAutoFit/>
          </a:bodyPr>
          <a:lstStyle/>
          <a:p>
            <a:pPr algn="l">
              <a:lnSpc>
                <a:spcPct val="118000"/>
              </a:lnSpc>
            </a:pPr>
            <a:r>
              <a:rPr sz="1250" b="1">
                <a:solidFill>
                  <a:srgbClr val="0B0B0B"/>
                </a:solidFill>
                <a:latin typeface="Helvetica Neue"/>
              </a:rPr>
              <a:t>Refresh cadence  </a:t>
            </a:r>
            <a:r>
              <a:rPr sz="1250" b="0">
                <a:solidFill>
                  <a:srgbClr val="6B6963"/>
                </a:solidFill>
                <a:latin typeface="Helvetica Neue"/>
              </a:rPr>
              <a:t>drives connector design and cost more than any other choice</a:t>
            </a:r>
          </a:p>
        </p:txBody>
      </p:sp>
      <p:sp>
        <p:nvSpPr>
          <p:cNvPr id="29" name="TextBox 28"/>
          <p:cNvSpPr txBox="1"/>
          <p:nvPr/>
        </p:nvSpPr>
        <p:spPr>
          <a:xfrm>
            <a:off x="685800" y="4800600"/>
            <a:ext cx="10881360" cy="457200"/>
          </a:xfrm>
          <a:prstGeom prst="rect">
            <a:avLst/>
          </a:prstGeom>
          <a:noFill/>
        </p:spPr>
        <p:txBody>
          <a:bodyPr wrap="square" anchor="t" lIns="0" rIns="0" tIns="0" bIns="0">
            <a:spAutoFit/>
          </a:bodyPr>
          <a:lstStyle/>
          <a:p>
            <a:pPr algn="l">
              <a:lnSpc>
                <a:spcPct val="118000"/>
              </a:lnSpc>
            </a:pPr>
            <a:r>
              <a:rPr sz="1250" b="0">
                <a:solidFill>
                  <a:srgbClr val="6B6963"/>
                </a:solidFill>
                <a:latin typeface="Helvetica Neue"/>
              </a:rPr>
              <a:t>The radar reports its own gaps rather than hiding them: evidence-gap warnings, language coverage, unconfirmed links, skipped sources, unsized spaces and an over-committed capability pool are all surfaced in the interface rather than left to be discovered.</a:t>
            </a:r>
          </a:p>
        </p:txBody>
      </p:sp>
      <p:sp>
        <p:nvSpPr>
          <p:cNvPr id="30" name="TextBox 29"/>
          <p:cNvSpPr txBox="1"/>
          <p:nvPr/>
        </p:nvSpPr>
        <p:spPr>
          <a:xfrm>
            <a:off x="685800" y="6355080"/>
            <a:ext cx="7315200" cy="274320"/>
          </a:xfrm>
          <a:prstGeom prst="rect">
            <a:avLst/>
          </a:prstGeom>
          <a:noFill/>
        </p:spPr>
        <p:txBody>
          <a:bodyPr wrap="square" anchor="t" lIns="0" rIns="0" tIns="0" bIns="0">
            <a:spAutoFit/>
          </a:bodyPr>
          <a:lstStyle/>
          <a:p>
            <a:pPr algn="l">
              <a:lnSpc>
                <a:spcPct val="118000"/>
              </a:lnSpc>
            </a:pPr>
            <a:r>
              <a:rPr sz="900" b="0">
                <a:solidFill>
                  <a:srgbClr val="6B6963"/>
                </a:solidFill>
                <a:latin typeface="Helvetica Neue"/>
              </a:rPr>
              <a:t>Orange Business · Opportunity Spaces / Innovation Radar</a:t>
            </a:r>
          </a:p>
        </p:txBody>
      </p:sp>
      <p:sp>
        <p:nvSpPr>
          <p:cNvPr id="31" name="TextBox 30"/>
          <p:cNvSpPr txBox="1"/>
          <p:nvPr/>
        </p:nvSpPr>
        <p:spPr>
          <a:xfrm>
            <a:off x="10607040" y="6355080"/>
            <a:ext cx="914400" cy="274320"/>
          </a:xfrm>
          <a:prstGeom prst="rect">
            <a:avLst/>
          </a:prstGeom>
          <a:noFill/>
        </p:spPr>
        <p:txBody>
          <a:bodyPr wrap="square" anchor="t" lIns="0" rIns="0" tIns="0" bIns="0">
            <a:spAutoFit/>
          </a:bodyPr>
          <a:lstStyle/>
          <a:p>
            <a:pPr algn="r">
              <a:lnSpc>
                <a:spcPct val="118000"/>
              </a:lnSpc>
            </a:pPr>
            <a:r>
              <a:rPr sz="900" b="0">
                <a:solidFill>
                  <a:srgbClr val="6B6963"/>
                </a:solidFill>
                <a:latin typeface="Menlo"/>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7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103120"/>
            <a:ext cx="10058400" cy="822960"/>
          </a:xfrm>
          <a:prstGeom prst="rect">
            <a:avLst/>
          </a:prstGeom>
          <a:noFill/>
        </p:spPr>
        <p:txBody>
          <a:bodyPr wrap="square" anchor="t" lIns="0" rIns="0" tIns="0" bIns="0">
            <a:spAutoFit/>
          </a:bodyPr>
          <a:lstStyle/>
          <a:p>
            <a:pPr algn="l">
              <a:lnSpc>
                <a:spcPct val="118000"/>
              </a:lnSpc>
            </a:pPr>
            <a:r>
              <a:rPr sz="4000" b="1">
                <a:solidFill>
                  <a:srgbClr val="FFFFFF"/>
                </a:solidFill>
                <a:latin typeface="Helvetica Neue"/>
              </a:rPr>
              <a:t>The join is the product</a:t>
            </a:r>
          </a:p>
        </p:txBody>
      </p:sp>
      <p:sp>
        <p:nvSpPr>
          <p:cNvPr id="5" name="TextBox 4"/>
          <p:cNvSpPr txBox="1"/>
          <p:nvPr/>
        </p:nvSpPr>
        <p:spPr>
          <a:xfrm>
            <a:off x="1005840" y="3108960"/>
            <a:ext cx="9326880" cy="1280160"/>
          </a:xfrm>
          <a:prstGeom prst="rect">
            <a:avLst/>
          </a:prstGeom>
          <a:noFill/>
        </p:spPr>
        <p:txBody>
          <a:bodyPr wrap="square" anchor="t" lIns="0" rIns="0" tIns="0" bIns="0">
            <a:spAutoFit/>
          </a:bodyPr>
          <a:lstStyle/>
          <a:p>
            <a:pPr algn="l">
              <a:lnSpc>
                <a:spcPct val="135000"/>
              </a:lnSpc>
            </a:pPr>
            <a:r>
              <a:rPr sz="1700" b="0">
                <a:solidFill>
                  <a:srgbClr val="C3C2B7"/>
                </a:solidFill>
                <a:latin typeface="Helvetica Neue"/>
              </a:rPr>
              <a:t>Without it the radar is a competent trend feed, and trend feeds already exist. With it, the radar answers a question nobody else can answer for Orange.</a:t>
            </a:r>
          </a:p>
        </p:txBody>
      </p:sp>
      <p:sp>
        <p:nvSpPr>
          <p:cNvPr id="6" name="TextBox 5"/>
          <p:cNvSpPr txBox="1"/>
          <p:nvPr/>
        </p:nvSpPr>
        <p:spPr>
          <a:xfrm>
            <a:off x="1005840" y="4663440"/>
            <a:ext cx="10058400" cy="365760"/>
          </a:xfrm>
          <a:prstGeom prst="rect">
            <a:avLst/>
          </a:prstGeom>
          <a:noFill/>
        </p:spPr>
        <p:txBody>
          <a:bodyPr wrap="square" anchor="t" lIns="0" rIns="0" tIns="0" bIns="0">
            <a:spAutoFit/>
          </a:bodyPr>
          <a:lstStyle/>
          <a:p>
            <a:pPr algn="l">
              <a:lnSpc>
                <a:spcPct val="118000"/>
              </a:lnSpc>
            </a:pPr>
            <a:r>
              <a:rPr sz="1300" b="0">
                <a:solidFill>
                  <a:srgbClr val="F07000"/>
                </a:solidFill>
                <a:latin typeface="Menlo"/>
              </a:rPr>
              <a:t>418 opportunity spaces  ·  11,354 signals  ·  34 live sources  ·  4,832 named asset links</a:t>
            </a:r>
          </a:p>
        </p:txBody>
      </p:sp>
      <p:sp>
        <p:nvSpPr>
          <p:cNvPr id="7" name="TextBox 6"/>
          <p:cNvSpPr txBox="1"/>
          <p:nvPr/>
        </p:nvSpPr>
        <p:spPr>
          <a:xfrm>
            <a:off x="1005840" y="5029200"/>
            <a:ext cx="10058400" cy="365760"/>
          </a:xfrm>
          <a:prstGeom prst="rect">
            <a:avLst/>
          </a:prstGeom>
          <a:noFill/>
        </p:spPr>
        <p:txBody>
          <a:bodyPr wrap="square" anchor="t" lIns="0" rIns="0" tIns="0" bIns="0">
            <a:spAutoFit/>
          </a:bodyPr>
          <a:lstStyle/>
          <a:p>
            <a:pPr algn="l">
              <a:lnSpc>
                <a:spcPct val="118000"/>
              </a:lnSpc>
            </a:pPr>
            <a:r>
              <a:rPr sz="1300" b="0">
                <a:solidFill>
                  <a:srgbClr val="6B6963"/>
                </a:solidFill>
                <a:latin typeface="Menlo"/>
              </a:rPr>
              <a:t>314 sized bottom-up  ·  174 sales briefs  ·  12 pre-sales artefacts per space  ·  8 portfolio plans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