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201170" cy="6858000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1005839" y="1965960"/>
            <a:ext cx="10058401" cy="198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3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005839" y="2377439"/>
            <a:ext cx="10058401" cy="1491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04999"/>
              </a:lnSpc>
              <a:defRPr b="1" sz="48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Opportunity Spaces</a:t>
            </a:r>
          </a:p>
          <a:p>
            <a:pPr>
              <a:lnSpc>
                <a:spcPct val="104999"/>
              </a:lnSpc>
              <a:defRPr b="1" sz="48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Innovation Radar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005839" y="3977638"/>
            <a:ext cx="9144001" cy="464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regularly refreshed view of specific innovation opportunities — each scored on how attractive it is, how urgent the window is, and how strong Orange's right to win is.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005839" y="5120640"/>
            <a:ext cx="100584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MVP walkthrough</a:t>
            </a:r>
            <a:r>
              <a:rPr b="0">
                <a:solidFill>
                  <a:srgbClr val="6B6963"/>
                </a:solidFill>
              </a:rPr>
              <a:t>   ·   concepts · functionality · planning · architecture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 txBox="1"/>
          <p:nvPr/>
        </p:nvSpPr>
        <p:spPr>
          <a:xfrm>
            <a:off x="548639" y="256031"/>
            <a:ext cx="17373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</a:t>
            </a:r>
          </a:p>
        </p:txBody>
      </p:sp>
      <p:sp>
        <p:nvSpPr>
          <p:cNvPr id="102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 is not a shortage of information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548639" y="1188719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difference is specificity: from generic technology themes to an opportunity a salesperson can use.</a:t>
            </a:r>
          </a:p>
        </p:txBody>
      </p:sp>
      <p:sp>
        <p:nvSpPr>
          <p:cNvPr id="104" name="Rounded Rectangle 4"/>
          <p:cNvSpPr/>
          <p:nvPr/>
        </p:nvSpPr>
        <p:spPr>
          <a:xfrm>
            <a:off x="594359" y="1783079"/>
            <a:ext cx="5257801" cy="41605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5240"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Rounded Rectangle 5"/>
          <p:cNvSpPr/>
          <p:nvPr/>
        </p:nvSpPr>
        <p:spPr>
          <a:xfrm>
            <a:off x="868680" y="2011679"/>
            <a:ext cx="1691640" cy="329185"/>
          </a:xfrm>
          <a:prstGeom prst="roundRect">
            <a:avLst>
              <a:gd name="adj" fmla="val 8000"/>
            </a:avLst>
          </a:prstGeom>
          <a:solidFill>
            <a:srgbClr val="B9372D"/>
          </a:solidFill>
          <a:ln>
            <a:solidFill>
              <a:srgbClr val="B9372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6"/>
          <p:cNvSpPr txBox="1"/>
          <p:nvPr/>
        </p:nvSpPr>
        <p:spPr>
          <a:xfrm>
            <a:off x="914400" y="2061972"/>
            <a:ext cx="160020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REJECTED AS TOPICS</a:t>
            </a:r>
          </a:p>
        </p:txBody>
      </p:sp>
      <p:sp>
        <p:nvSpPr>
          <p:cNvPr id="107" name="TextBox 7"/>
          <p:cNvSpPr txBox="1"/>
          <p:nvPr/>
        </p:nvSpPr>
        <p:spPr>
          <a:xfrm>
            <a:off x="914400" y="2542032"/>
            <a:ext cx="4434840" cy="77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Generic, undated, unsourced — and disconnected from what Orange can actually sell.</a:t>
            </a:r>
          </a:p>
        </p:txBody>
      </p:sp>
      <p:sp>
        <p:nvSpPr>
          <p:cNvPr id="108" name="TextBox 8"/>
          <p:cNvSpPr txBox="1"/>
          <p:nvPr/>
        </p:nvSpPr>
        <p:spPr>
          <a:xfrm>
            <a:off x="960119" y="3401567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09" name="TextBox 9"/>
          <p:cNvSpPr txBox="1"/>
          <p:nvPr/>
        </p:nvSpPr>
        <p:spPr>
          <a:xfrm>
            <a:off x="1344167" y="3401567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“AI”</a:t>
            </a:r>
          </a:p>
        </p:txBody>
      </p:sp>
      <p:sp>
        <p:nvSpPr>
          <p:cNvPr id="110" name="TextBox 10"/>
          <p:cNvSpPr txBox="1"/>
          <p:nvPr/>
        </p:nvSpPr>
        <p:spPr>
          <a:xfrm>
            <a:off x="960119" y="3840479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11" name="TextBox 11"/>
          <p:cNvSpPr txBox="1"/>
          <p:nvPr/>
        </p:nvSpPr>
        <p:spPr>
          <a:xfrm>
            <a:off x="1344167" y="3840479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“Cloud”</a:t>
            </a:r>
          </a:p>
        </p:txBody>
      </p:sp>
      <p:sp>
        <p:nvSpPr>
          <p:cNvPr id="112" name="TextBox 12"/>
          <p:cNvSpPr txBox="1"/>
          <p:nvPr/>
        </p:nvSpPr>
        <p:spPr>
          <a:xfrm>
            <a:off x="960119" y="4279391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13" name="TextBox 13"/>
          <p:cNvSpPr txBox="1"/>
          <p:nvPr/>
        </p:nvSpPr>
        <p:spPr>
          <a:xfrm>
            <a:off x="1344167" y="4279391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“Cybersecurity”</a:t>
            </a:r>
          </a:p>
        </p:txBody>
      </p:sp>
      <p:sp>
        <p:nvSpPr>
          <p:cNvPr id="114" name="TextBox 14"/>
          <p:cNvSpPr txBox="1"/>
          <p:nvPr/>
        </p:nvSpPr>
        <p:spPr>
          <a:xfrm>
            <a:off x="960119" y="4718303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15" name="TextBox 15"/>
          <p:cNvSpPr txBox="1"/>
          <p:nvPr/>
        </p:nvSpPr>
        <p:spPr>
          <a:xfrm>
            <a:off x="1344167" y="4718303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“Digital transformation in retail”</a:t>
            </a:r>
          </a:p>
        </p:txBody>
      </p:sp>
      <p:sp>
        <p:nvSpPr>
          <p:cNvPr id="116" name="Rounded Rectangle 16"/>
          <p:cNvSpPr/>
          <p:nvPr/>
        </p:nvSpPr>
        <p:spPr>
          <a:xfrm>
            <a:off x="6263640" y="1783079"/>
            <a:ext cx="5321809" cy="41605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 w="15240"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Rounded Rectangle 17"/>
          <p:cNvSpPr/>
          <p:nvPr/>
        </p:nvSpPr>
        <p:spPr>
          <a:xfrm>
            <a:off x="6537959" y="2011679"/>
            <a:ext cx="2240281" cy="329185"/>
          </a:xfrm>
          <a:prstGeom prst="roundRect">
            <a:avLst>
              <a:gd name="adj" fmla="val 8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18"/>
          <p:cNvSpPr txBox="1"/>
          <p:nvPr/>
        </p:nvSpPr>
        <p:spPr>
          <a:xfrm>
            <a:off x="6583679" y="2061972"/>
            <a:ext cx="214884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WHAT A TOPIC MUST LOOK LIKE</a:t>
            </a:r>
          </a:p>
        </p:txBody>
      </p:sp>
      <p:sp>
        <p:nvSpPr>
          <p:cNvPr id="119" name="TextBox 19"/>
          <p:cNvSpPr txBox="1"/>
          <p:nvPr/>
        </p:nvSpPr>
        <p:spPr>
          <a:xfrm>
            <a:off x="6583679" y="2578607"/>
            <a:ext cx="4663441" cy="692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Private 5G plus edge vision for safety compliance in mining</a:t>
            </a:r>
          </a:p>
        </p:txBody>
      </p:sp>
      <p:sp>
        <p:nvSpPr>
          <p:cNvPr id="120" name="TextBox 20"/>
          <p:cNvSpPr txBox="1"/>
          <p:nvPr/>
        </p:nvSpPr>
        <p:spPr>
          <a:xfrm>
            <a:off x="6611111" y="365760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</a:t>
            </a:r>
          </a:p>
        </p:txBody>
      </p:sp>
      <p:sp>
        <p:nvSpPr>
          <p:cNvPr id="121" name="TextBox 21"/>
          <p:cNvSpPr txBox="1"/>
          <p:nvPr/>
        </p:nvSpPr>
        <p:spPr>
          <a:xfrm>
            <a:off x="7799831" y="365760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Private 5G + edge vision</a:t>
            </a:r>
          </a:p>
        </p:txBody>
      </p:sp>
      <p:sp>
        <p:nvSpPr>
          <p:cNvPr id="122" name="TextBox 22"/>
          <p:cNvSpPr txBox="1"/>
          <p:nvPr/>
        </p:nvSpPr>
        <p:spPr>
          <a:xfrm>
            <a:off x="6611111" y="416052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USE CASE</a:t>
            </a:r>
          </a:p>
        </p:txBody>
      </p:sp>
      <p:sp>
        <p:nvSpPr>
          <p:cNvPr id="123" name="TextBox 23"/>
          <p:cNvSpPr txBox="1"/>
          <p:nvPr/>
        </p:nvSpPr>
        <p:spPr>
          <a:xfrm>
            <a:off x="7799831" y="416052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Safety compliance</a:t>
            </a:r>
          </a:p>
        </p:txBody>
      </p:sp>
      <p:sp>
        <p:nvSpPr>
          <p:cNvPr id="124" name="TextBox 24"/>
          <p:cNvSpPr txBox="1"/>
          <p:nvPr/>
        </p:nvSpPr>
        <p:spPr>
          <a:xfrm>
            <a:off x="6611111" y="466344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VERTICAL</a:t>
            </a:r>
          </a:p>
        </p:txBody>
      </p:sp>
      <p:sp>
        <p:nvSpPr>
          <p:cNvPr id="125" name="TextBox 25"/>
          <p:cNvSpPr txBox="1"/>
          <p:nvPr/>
        </p:nvSpPr>
        <p:spPr>
          <a:xfrm>
            <a:off x="7799831" y="466344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Mining</a:t>
            </a:r>
          </a:p>
        </p:txBody>
      </p:sp>
      <p:sp>
        <p:nvSpPr>
          <p:cNvPr id="126" name="TextBox 26"/>
          <p:cNvSpPr txBox="1"/>
          <p:nvPr/>
        </p:nvSpPr>
        <p:spPr>
          <a:xfrm>
            <a:off x="6583679" y="5321808"/>
            <a:ext cx="4526281" cy="276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Specific enough for a salesperson to use in a meeting</a:t>
            </a:r>
          </a:p>
        </p:txBody>
      </p:sp>
      <p:sp>
        <p:nvSpPr>
          <p:cNvPr id="127" name="TextBox 29"/>
          <p:cNvSpPr txBox="1"/>
          <p:nvPr/>
        </p:nvSpPr>
        <p:spPr>
          <a:xfrm>
            <a:off x="11475719" y="6528816"/>
            <a:ext cx="1828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7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8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TextBox 19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685799" y="7899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An opportunity space is a triple</a:t>
            </a:r>
          </a:p>
        </p:txBody>
      </p:sp>
      <p:sp>
        <p:nvSpPr>
          <p:cNvPr id="134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Identity is the triple. The statement is a rendering of it — both are stored.</a:t>
            </a:r>
          </a:p>
        </p:txBody>
      </p:sp>
      <p:sp>
        <p:nvSpPr>
          <p:cNvPr id="135" name="TextBox 18"/>
          <p:cNvSpPr txBox="1"/>
          <p:nvPr/>
        </p:nvSpPr>
        <p:spPr>
          <a:xfrm>
            <a:off x="685800" y="5261068"/>
            <a:ext cx="10881360" cy="382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triple gives deduplication and filtering. The statement gives the specificity a salesperson needs. A candidate that does not resolve to exactly one of each fails validation.</a:t>
            </a:r>
          </a:p>
        </p:txBody>
      </p:sp>
      <p:sp>
        <p:nvSpPr>
          <p:cNvPr id="136" name="TextBox 19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8" name="TextBox 4"/>
          <p:cNvSpPr txBox="1"/>
          <p:nvPr/>
        </p:nvSpPr>
        <p:spPr>
          <a:xfrm>
            <a:off x="694943" y="1917000"/>
            <a:ext cx="22860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9" name="TextBox 7"/>
          <p:cNvSpPr txBox="1"/>
          <p:nvPr/>
        </p:nvSpPr>
        <p:spPr>
          <a:xfrm>
            <a:off x="642154" y="1947919"/>
            <a:ext cx="21945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STRUCTURED IDENTITY</a:t>
            </a:r>
          </a:p>
        </p:txBody>
      </p:sp>
      <p:sp>
        <p:nvSpPr>
          <p:cNvPr id="140" name="Rounded Rectangle 8"/>
          <p:cNvSpPr/>
          <p:nvPr/>
        </p:nvSpPr>
        <p:spPr>
          <a:xfrm>
            <a:off x="667511" y="2340303"/>
            <a:ext cx="3246121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9"/>
          <p:cNvSpPr txBox="1"/>
          <p:nvPr/>
        </p:nvSpPr>
        <p:spPr>
          <a:xfrm>
            <a:off x="877822" y="2550615"/>
            <a:ext cx="2816353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VERTICAL</a:t>
            </a:r>
          </a:p>
        </p:txBody>
      </p:sp>
      <p:sp>
        <p:nvSpPr>
          <p:cNvPr id="142" name="TextBox 10"/>
          <p:cNvSpPr txBox="1"/>
          <p:nvPr/>
        </p:nvSpPr>
        <p:spPr>
          <a:xfrm>
            <a:off x="877822" y="2943807"/>
            <a:ext cx="2816353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Retail</a:t>
            </a:r>
          </a:p>
        </p:txBody>
      </p:sp>
      <p:sp>
        <p:nvSpPr>
          <p:cNvPr id="143" name="TextBox 11"/>
          <p:cNvSpPr txBox="1"/>
          <p:nvPr/>
        </p:nvSpPr>
        <p:spPr>
          <a:xfrm>
            <a:off x="4078223" y="2788359"/>
            <a:ext cx="256033" cy="424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3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44" name="Rounded Rectangle 12"/>
          <p:cNvSpPr/>
          <p:nvPr/>
        </p:nvSpPr>
        <p:spPr>
          <a:xfrm>
            <a:off x="4489702" y="2340303"/>
            <a:ext cx="3246122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13"/>
          <p:cNvSpPr txBox="1"/>
          <p:nvPr/>
        </p:nvSpPr>
        <p:spPr>
          <a:xfrm>
            <a:off x="4700014" y="2550615"/>
            <a:ext cx="2816354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USE CASE</a:t>
            </a:r>
          </a:p>
        </p:txBody>
      </p:sp>
      <p:sp>
        <p:nvSpPr>
          <p:cNvPr id="146" name="TextBox 14"/>
          <p:cNvSpPr txBox="1"/>
          <p:nvPr/>
        </p:nvSpPr>
        <p:spPr>
          <a:xfrm>
            <a:off x="4606194" y="2943807"/>
            <a:ext cx="304057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Contact centre automation</a:t>
            </a:r>
          </a:p>
        </p:txBody>
      </p:sp>
      <p:sp>
        <p:nvSpPr>
          <p:cNvPr id="147" name="TextBox 15"/>
          <p:cNvSpPr txBox="1"/>
          <p:nvPr/>
        </p:nvSpPr>
        <p:spPr>
          <a:xfrm>
            <a:off x="7900415" y="2788359"/>
            <a:ext cx="256033" cy="424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3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148" name="Rounded Rectangle 16"/>
          <p:cNvSpPr/>
          <p:nvPr/>
        </p:nvSpPr>
        <p:spPr>
          <a:xfrm>
            <a:off x="8311896" y="2340303"/>
            <a:ext cx="3246121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17"/>
          <p:cNvSpPr txBox="1"/>
          <p:nvPr/>
        </p:nvSpPr>
        <p:spPr>
          <a:xfrm>
            <a:off x="8522207" y="2550615"/>
            <a:ext cx="2816353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</a:t>
            </a:r>
          </a:p>
        </p:txBody>
      </p:sp>
      <p:sp>
        <p:nvSpPr>
          <p:cNvPr id="150" name="TextBox 18"/>
          <p:cNvSpPr txBox="1"/>
          <p:nvPr/>
        </p:nvSpPr>
        <p:spPr>
          <a:xfrm>
            <a:off x="8522207" y="2943807"/>
            <a:ext cx="2816353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Agentic AI</a:t>
            </a:r>
          </a:p>
        </p:txBody>
      </p:sp>
      <p:sp>
        <p:nvSpPr>
          <p:cNvPr id="151" name="Rounded Rectangle 24"/>
          <p:cNvSpPr/>
          <p:nvPr/>
        </p:nvSpPr>
        <p:spPr>
          <a:xfrm>
            <a:off x="640080" y="4028249"/>
            <a:ext cx="10881360" cy="9601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TextBox 25"/>
          <p:cNvSpPr txBox="1"/>
          <p:nvPr/>
        </p:nvSpPr>
        <p:spPr>
          <a:xfrm>
            <a:off x="719565" y="4339121"/>
            <a:ext cx="10722390" cy="33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Deploy industry-specific agentic AI agents to automate retail contact center interactions.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 txBox="1"/>
          <p:nvPr/>
        </p:nvSpPr>
        <p:spPr>
          <a:xfrm>
            <a:off x="548639" y="256031"/>
            <a:ext cx="17373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155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How each opportunity is scored</a:t>
            </a:r>
          </a:p>
        </p:txBody>
      </p:sp>
      <p:sp>
        <p:nvSpPr>
          <p:cNvPr id="156" name="TextBox 3"/>
          <p:cNvSpPr txBox="1"/>
          <p:nvPr/>
        </p:nvSpPr>
        <p:spPr>
          <a:xfrm>
            <a:off x="548639" y="1170432"/>
            <a:ext cx="108813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three scores stay separate.</a:t>
            </a:r>
          </a:p>
        </p:txBody>
      </p:sp>
      <p:sp>
        <p:nvSpPr>
          <p:cNvPr id="157" name="Rounded Rectangle 4"/>
          <p:cNvSpPr/>
          <p:nvPr/>
        </p:nvSpPr>
        <p:spPr>
          <a:xfrm>
            <a:off x="629919" y="1719072"/>
            <a:ext cx="3310130" cy="44988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5"/>
          <p:cNvSpPr txBox="1"/>
          <p:nvPr/>
        </p:nvSpPr>
        <p:spPr>
          <a:xfrm>
            <a:off x="840231" y="1920239"/>
            <a:ext cx="2889506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ATTRACTIVENESS</a:t>
            </a:r>
          </a:p>
        </p:txBody>
      </p:sp>
      <p:sp>
        <p:nvSpPr>
          <p:cNvPr id="159" name="TextBox 6"/>
          <p:cNvSpPr txBox="1"/>
          <p:nvPr/>
        </p:nvSpPr>
        <p:spPr>
          <a:xfrm>
            <a:off x="858520" y="2258567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 the world moving?</a:t>
            </a:r>
          </a:p>
        </p:txBody>
      </p:sp>
      <p:sp>
        <p:nvSpPr>
          <p:cNvPr id="160" name="Rounded Rectangle 7"/>
          <p:cNvSpPr/>
          <p:nvPr/>
        </p:nvSpPr>
        <p:spPr>
          <a:xfrm>
            <a:off x="4452334" y="1711598"/>
            <a:ext cx="3310129" cy="4498849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TextBox 8"/>
          <p:cNvSpPr txBox="1"/>
          <p:nvPr/>
        </p:nvSpPr>
        <p:spPr>
          <a:xfrm>
            <a:off x="4662646" y="1912766"/>
            <a:ext cx="2889505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RIGHT TO WIN</a:t>
            </a:r>
          </a:p>
        </p:txBody>
      </p:sp>
      <p:sp>
        <p:nvSpPr>
          <p:cNvPr id="162" name="TextBox 9"/>
          <p:cNvSpPr txBox="1"/>
          <p:nvPr/>
        </p:nvSpPr>
        <p:spPr>
          <a:xfrm>
            <a:off x="4680934" y="2251094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Can Orange play &amp; win?</a:t>
            </a:r>
          </a:p>
        </p:txBody>
      </p:sp>
      <p:sp>
        <p:nvSpPr>
          <p:cNvPr id="163" name="Rounded Rectangle 10"/>
          <p:cNvSpPr/>
          <p:nvPr/>
        </p:nvSpPr>
        <p:spPr>
          <a:xfrm>
            <a:off x="8261224" y="1719072"/>
            <a:ext cx="3310129" cy="4498848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4" name="TextBox 11"/>
          <p:cNvSpPr txBox="1"/>
          <p:nvPr/>
        </p:nvSpPr>
        <p:spPr>
          <a:xfrm>
            <a:off x="8471535" y="1920239"/>
            <a:ext cx="2889505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CONVICTION</a:t>
            </a:r>
          </a:p>
        </p:txBody>
      </p:sp>
      <p:sp>
        <p:nvSpPr>
          <p:cNvPr id="165" name="TextBox 12"/>
          <p:cNvSpPr txBox="1"/>
          <p:nvPr/>
        </p:nvSpPr>
        <p:spPr>
          <a:xfrm>
            <a:off x="8489822" y="2258567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 our own people believe it?</a:t>
            </a:r>
          </a:p>
        </p:txBody>
      </p:sp>
      <p:sp>
        <p:nvSpPr>
          <p:cNvPr id="166" name="TextBox 13"/>
          <p:cNvSpPr txBox="1"/>
          <p:nvPr/>
        </p:nvSpPr>
        <p:spPr>
          <a:xfrm>
            <a:off x="922528" y="2761488"/>
            <a:ext cx="43891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30%</a:t>
            </a:r>
          </a:p>
        </p:txBody>
      </p:sp>
      <p:sp>
        <p:nvSpPr>
          <p:cNvPr id="167" name="TextBox 14"/>
          <p:cNvSpPr txBox="1"/>
          <p:nvPr/>
        </p:nvSpPr>
        <p:spPr>
          <a:xfrm>
            <a:off x="2513203" y="2761487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Signal strength</a:t>
            </a:r>
          </a:p>
        </p:txBody>
      </p:sp>
      <p:sp>
        <p:nvSpPr>
          <p:cNvPr id="168" name="TextBox 15"/>
          <p:cNvSpPr txBox="1"/>
          <p:nvPr/>
        </p:nvSpPr>
        <p:spPr>
          <a:xfrm>
            <a:off x="922528" y="3154679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169" name="TextBox 16"/>
          <p:cNvSpPr txBox="1"/>
          <p:nvPr/>
        </p:nvSpPr>
        <p:spPr>
          <a:xfrm>
            <a:off x="2513203" y="3154679"/>
            <a:ext cx="19659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Source diversity</a:t>
            </a:r>
          </a:p>
        </p:txBody>
      </p:sp>
      <p:sp>
        <p:nvSpPr>
          <p:cNvPr id="170" name="TextBox 17"/>
          <p:cNvSpPr txBox="1"/>
          <p:nvPr/>
        </p:nvSpPr>
        <p:spPr>
          <a:xfrm>
            <a:off x="922528" y="3547871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171" name="TextBox 18"/>
          <p:cNvSpPr txBox="1"/>
          <p:nvPr/>
        </p:nvSpPr>
        <p:spPr>
          <a:xfrm>
            <a:off x="2513203" y="3547871"/>
            <a:ext cx="19659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Evidence quality</a:t>
            </a:r>
          </a:p>
        </p:txBody>
      </p:sp>
      <p:sp>
        <p:nvSpPr>
          <p:cNvPr id="172" name="TextBox 19"/>
          <p:cNvSpPr txBox="1"/>
          <p:nvPr/>
        </p:nvSpPr>
        <p:spPr>
          <a:xfrm>
            <a:off x="922528" y="3941064"/>
            <a:ext cx="43891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15%</a:t>
            </a:r>
          </a:p>
        </p:txBody>
      </p:sp>
      <p:sp>
        <p:nvSpPr>
          <p:cNvPr id="173" name="TextBox 20"/>
          <p:cNvSpPr txBox="1"/>
          <p:nvPr/>
        </p:nvSpPr>
        <p:spPr>
          <a:xfrm>
            <a:off x="2513203" y="3941063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Novelty / momentum</a:t>
            </a:r>
          </a:p>
        </p:txBody>
      </p:sp>
      <p:sp>
        <p:nvSpPr>
          <p:cNvPr id="174" name="TextBox 21"/>
          <p:cNvSpPr txBox="1"/>
          <p:nvPr/>
        </p:nvSpPr>
        <p:spPr>
          <a:xfrm>
            <a:off x="922528" y="4334255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15%</a:t>
            </a:r>
          </a:p>
        </p:txBody>
      </p:sp>
      <p:sp>
        <p:nvSpPr>
          <p:cNvPr id="175" name="TextBox 22"/>
          <p:cNvSpPr txBox="1"/>
          <p:nvPr/>
        </p:nvSpPr>
        <p:spPr>
          <a:xfrm>
            <a:off x="2513203" y="4334255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Strategic relevance</a:t>
            </a:r>
          </a:p>
        </p:txBody>
      </p:sp>
      <p:sp>
        <p:nvSpPr>
          <p:cNvPr id="176" name="Rounded Rectangle 24"/>
          <p:cNvSpPr/>
          <p:nvPr/>
        </p:nvSpPr>
        <p:spPr>
          <a:xfrm>
            <a:off x="1242567" y="5102352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25"/>
          <p:cNvSpPr txBox="1"/>
          <p:nvPr/>
        </p:nvSpPr>
        <p:spPr>
          <a:xfrm>
            <a:off x="1288287" y="5212079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EXAMPLE SCORE</a:t>
            </a:r>
          </a:p>
        </p:txBody>
      </p:sp>
      <p:sp>
        <p:nvSpPr>
          <p:cNvPr id="178" name="TextBox 26"/>
          <p:cNvSpPr txBox="1"/>
          <p:nvPr/>
        </p:nvSpPr>
        <p:spPr>
          <a:xfrm>
            <a:off x="1338770" y="5393296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61.23 / 100</a:t>
            </a:r>
          </a:p>
        </p:txBody>
      </p:sp>
      <p:sp>
        <p:nvSpPr>
          <p:cNvPr id="179" name="Rounded Rectangle 42"/>
          <p:cNvSpPr/>
          <p:nvPr/>
        </p:nvSpPr>
        <p:spPr>
          <a:xfrm>
            <a:off x="5064982" y="5094879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43"/>
          <p:cNvSpPr txBox="1"/>
          <p:nvPr/>
        </p:nvSpPr>
        <p:spPr>
          <a:xfrm>
            <a:off x="5110702" y="5204606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EXAMPLE SCORE</a:t>
            </a:r>
          </a:p>
        </p:txBody>
      </p:sp>
      <p:sp>
        <p:nvSpPr>
          <p:cNvPr id="181" name="TextBox 44"/>
          <p:cNvSpPr txBox="1"/>
          <p:nvPr/>
        </p:nvSpPr>
        <p:spPr>
          <a:xfrm>
            <a:off x="5110702" y="5367447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88.00 / 100</a:t>
            </a:r>
          </a:p>
        </p:txBody>
      </p:sp>
      <p:sp>
        <p:nvSpPr>
          <p:cNvPr id="182" name="TextBox 45"/>
          <p:cNvSpPr txBox="1"/>
          <p:nvPr/>
        </p:nvSpPr>
        <p:spPr>
          <a:xfrm>
            <a:off x="8572118" y="2788920"/>
            <a:ext cx="822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Strategy</a:t>
            </a:r>
          </a:p>
        </p:txBody>
      </p:sp>
      <p:sp>
        <p:nvSpPr>
          <p:cNvPr id="183" name="TextBox 46"/>
          <p:cNvSpPr txBox="1"/>
          <p:nvPr/>
        </p:nvSpPr>
        <p:spPr>
          <a:xfrm>
            <a:off x="10291828" y="2769075"/>
            <a:ext cx="13258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Strategic fit</a:t>
            </a:r>
          </a:p>
        </p:txBody>
      </p:sp>
      <p:sp>
        <p:nvSpPr>
          <p:cNvPr id="184" name="TextBox 49"/>
          <p:cNvSpPr txBox="1"/>
          <p:nvPr/>
        </p:nvSpPr>
        <p:spPr>
          <a:xfrm>
            <a:off x="8572118" y="3144036"/>
            <a:ext cx="822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Sales</a:t>
            </a:r>
          </a:p>
        </p:txBody>
      </p:sp>
      <p:sp>
        <p:nvSpPr>
          <p:cNvPr id="185" name="TextBox 50"/>
          <p:cNvSpPr txBox="1"/>
          <p:nvPr/>
        </p:nvSpPr>
        <p:spPr>
          <a:xfrm>
            <a:off x="10291828" y="3114886"/>
            <a:ext cx="132588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Customer demand</a:t>
            </a:r>
          </a:p>
        </p:txBody>
      </p:sp>
      <p:sp>
        <p:nvSpPr>
          <p:cNvPr id="186" name="TextBox 53"/>
          <p:cNvSpPr txBox="1"/>
          <p:nvPr/>
        </p:nvSpPr>
        <p:spPr>
          <a:xfrm>
            <a:off x="8572118" y="3499774"/>
            <a:ext cx="822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Presales</a:t>
            </a:r>
          </a:p>
        </p:txBody>
      </p:sp>
      <p:sp>
        <p:nvSpPr>
          <p:cNvPr id="187" name="TextBox 54"/>
          <p:cNvSpPr txBox="1"/>
          <p:nvPr/>
        </p:nvSpPr>
        <p:spPr>
          <a:xfrm>
            <a:off x="10291828" y="3468570"/>
            <a:ext cx="13258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Deliverability</a:t>
            </a:r>
          </a:p>
        </p:txBody>
      </p:sp>
      <p:sp>
        <p:nvSpPr>
          <p:cNvPr id="188" name="Rounded Rectangle 59"/>
          <p:cNvSpPr/>
          <p:nvPr/>
        </p:nvSpPr>
        <p:spPr>
          <a:xfrm>
            <a:off x="8965312" y="5102352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TextBox 60"/>
          <p:cNvSpPr txBox="1"/>
          <p:nvPr/>
        </p:nvSpPr>
        <p:spPr>
          <a:xfrm>
            <a:off x="9011031" y="5212079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EXAMPLE SCORE</a:t>
            </a:r>
          </a:p>
        </p:txBody>
      </p:sp>
      <p:sp>
        <p:nvSpPr>
          <p:cNvPr id="190" name="TextBox 61"/>
          <p:cNvSpPr txBox="1"/>
          <p:nvPr/>
        </p:nvSpPr>
        <p:spPr>
          <a:xfrm>
            <a:off x="9001887" y="5374920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75.6 / 100</a:t>
            </a:r>
          </a:p>
        </p:txBody>
      </p:sp>
      <p:sp>
        <p:nvSpPr>
          <p:cNvPr id="191" name="TextBox 62"/>
          <p:cNvSpPr txBox="1"/>
          <p:nvPr/>
        </p:nvSpPr>
        <p:spPr>
          <a:xfrm>
            <a:off x="1169796" y="5900049"/>
            <a:ext cx="187452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Market evidence</a:t>
            </a:r>
          </a:p>
        </p:txBody>
      </p:sp>
      <p:sp>
        <p:nvSpPr>
          <p:cNvPr id="192" name="TextBox 63"/>
          <p:cNvSpPr txBox="1"/>
          <p:nvPr/>
        </p:nvSpPr>
        <p:spPr>
          <a:xfrm>
            <a:off x="4978304" y="5892576"/>
            <a:ext cx="214884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Orange Business Graph</a:t>
            </a:r>
          </a:p>
        </p:txBody>
      </p:sp>
      <p:sp>
        <p:nvSpPr>
          <p:cNvPr id="193" name="TextBox 64"/>
          <p:cNvSpPr txBox="1"/>
          <p:nvPr/>
        </p:nvSpPr>
        <p:spPr>
          <a:xfrm>
            <a:off x="9047607" y="5900049"/>
            <a:ext cx="187452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Human assessment</a:t>
            </a:r>
          </a:p>
        </p:txBody>
      </p:sp>
      <p:sp>
        <p:nvSpPr>
          <p:cNvPr id="194" name="TextBox 65"/>
          <p:cNvSpPr txBox="1"/>
          <p:nvPr/>
        </p:nvSpPr>
        <p:spPr>
          <a:xfrm>
            <a:off x="548639" y="6528816"/>
            <a:ext cx="52120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195" name="TextBox 34"/>
          <p:cNvSpPr txBox="1"/>
          <p:nvPr/>
        </p:nvSpPr>
        <p:spPr>
          <a:xfrm>
            <a:off x="4781518" y="2718317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25%</a:t>
            </a:r>
          </a:p>
        </p:txBody>
      </p:sp>
      <p:sp>
        <p:nvSpPr>
          <p:cNvPr id="196" name="Rectangle 35"/>
          <p:cNvSpPr/>
          <p:nvPr/>
        </p:nvSpPr>
        <p:spPr>
          <a:xfrm>
            <a:off x="5348446" y="2745749"/>
            <a:ext cx="960121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36"/>
          <p:cNvSpPr txBox="1"/>
          <p:nvPr/>
        </p:nvSpPr>
        <p:spPr>
          <a:xfrm>
            <a:off x="6464014" y="2704602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Offer match</a:t>
            </a:r>
          </a:p>
        </p:txBody>
      </p:sp>
      <p:sp>
        <p:nvSpPr>
          <p:cNvPr id="198" name="TextBox 37"/>
          <p:cNvSpPr txBox="1"/>
          <p:nvPr/>
        </p:nvSpPr>
        <p:spPr>
          <a:xfrm>
            <a:off x="4781518" y="3029212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199" name="Rectangle 38"/>
          <p:cNvSpPr/>
          <p:nvPr/>
        </p:nvSpPr>
        <p:spPr>
          <a:xfrm>
            <a:off x="5348446" y="305664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TextBox 39"/>
          <p:cNvSpPr txBox="1"/>
          <p:nvPr/>
        </p:nvSpPr>
        <p:spPr>
          <a:xfrm>
            <a:off x="6464014" y="3015497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Reference density</a:t>
            </a:r>
          </a:p>
        </p:txBody>
      </p:sp>
      <p:sp>
        <p:nvSpPr>
          <p:cNvPr id="201" name="TextBox 40"/>
          <p:cNvSpPr txBox="1"/>
          <p:nvPr/>
        </p:nvSpPr>
        <p:spPr>
          <a:xfrm>
            <a:off x="4781518" y="3340108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15%</a:t>
            </a:r>
          </a:p>
        </p:txBody>
      </p:sp>
      <p:sp>
        <p:nvSpPr>
          <p:cNvPr id="202" name="Rectangle 41"/>
          <p:cNvSpPr/>
          <p:nvPr/>
        </p:nvSpPr>
        <p:spPr>
          <a:xfrm>
            <a:off x="5348446" y="3367541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3" name="TextBox 42"/>
          <p:cNvSpPr txBox="1"/>
          <p:nvPr/>
        </p:nvSpPr>
        <p:spPr>
          <a:xfrm>
            <a:off x="6464014" y="3326393"/>
            <a:ext cx="987553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Partner coverage</a:t>
            </a:r>
          </a:p>
        </p:txBody>
      </p:sp>
      <p:sp>
        <p:nvSpPr>
          <p:cNvPr id="204" name="TextBox 43"/>
          <p:cNvSpPr txBox="1"/>
          <p:nvPr/>
        </p:nvSpPr>
        <p:spPr>
          <a:xfrm>
            <a:off x="4781518" y="3651005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12%</a:t>
            </a:r>
          </a:p>
        </p:txBody>
      </p:sp>
      <p:sp>
        <p:nvSpPr>
          <p:cNvPr id="205" name="Rectangle 44"/>
          <p:cNvSpPr/>
          <p:nvPr/>
        </p:nvSpPr>
        <p:spPr>
          <a:xfrm>
            <a:off x="5348446" y="3678437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TextBox 45"/>
          <p:cNvSpPr txBox="1"/>
          <p:nvPr/>
        </p:nvSpPr>
        <p:spPr>
          <a:xfrm>
            <a:off x="6464014" y="363729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Compliance fit</a:t>
            </a:r>
          </a:p>
        </p:txBody>
      </p:sp>
      <p:sp>
        <p:nvSpPr>
          <p:cNvPr id="207" name="TextBox 46"/>
          <p:cNvSpPr txBox="1"/>
          <p:nvPr/>
        </p:nvSpPr>
        <p:spPr>
          <a:xfrm>
            <a:off x="4781518" y="3961902"/>
            <a:ext cx="411480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12%</a:t>
            </a:r>
          </a:p>
        </p:txBody>
      </p:sp>
      <p:sp>
        <p:nvSpPr>
          <p:cNvPr id="208" name="Rectangle 47"/>
          <p:cNvSpPr/>
          <p:nvPr/>
        </p:nvSpPr>
        <p:spPr>
          <a:xfrm>
            <a:off x="5348446" y="3989334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TextBox 48"/>
          <p:cNvSpPr txBox="1"/>
          <p:nvPr/>
        </p:nvSpPr>
        <p:spPr>
          <a:xfrm>
            <a:off x="6464014" y="3948185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Capability depth</a:t>
            </a:r>
          </a:p>
        </p:txBody>
      </p:sp>
      <p:sp>
        <p:nvSpPr>
          <p:cNvPr id="210" name="TextBox 49"/>
          <p:cNvSpPr txBox="1"/>
          <p:nvPr/>
        </p:nvSpPr>
        <p:spPr>
          <a:xfrm>
            <a:off x="4781518" y="4272797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8%</a:t>
            </a:r>
          </a:p>
        </p:txBody>
      </p:sp>
      <p:sp>
        <p:nvSpPr>
          <p:cNvPr id="211" name="Rectangle 50"/>
          <p:cNvSpPr/>
          <p:nvPr/>
        </p:nvSpPr>
        <p:spPr>
          <a:xfrm>
            <a:off x="5348446" y="4300229"/>
            <a:ext cx="307239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2" name="TextBox 51"/>
          <p:cNvSpPr txBox="1"/>
          <p:nvPr/>
        </p:nvSpPr>
        <p:spPr>
          <a:xfrm>
            <a:off x="6464014" y="4259081"/>
            <a:ext cx="987553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External validation</a:t>
            </a:r>
          </a:p>
        </p:txBody>
      </p:sp>
      <p:sp>
        <p:nvSpPr>
          <p:cNvPr id="213" name="TextBox 52"/>
          <p:cNvSpPr txBox="1"/>
          <p:nvPr/>
        </p:nvSpPr>
        <p:spPr>
          <a:xfrm>
            <a:off x="4781518" y="4583693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8%</a:t>
            </a:r>
          </a:p>
        </p:txBody>
      </p:sp>
      <p:sp>
        <p:nvSpPr>
          <p:cNvPr id="214" name="Rectangle 53"/>
          <p:cNvSpPr/>
          <p:nvPr/>
        </p:nvSpPr>
        <p:spPr>
          <a:xfrm>
            <a:off x="5348446" y="4611125"/>
            <a:ext cx="307239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5" name="TextBox 54"/>
          <p:cNvSpPr txBox="1"/>
          <p:nvPr/>
        </p:nvSpPr>
        <p:spPr>
          <a:xfrm>
            <a:off x="6464014" y="4569978"/>
            <a:ext cx="1176565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ownership</a:t>
            </a:r>
          </a:p>
        </p:txBody>
      </p:sp>
      <p:sp>
        <p:nvSpPr>
          <p:cNvPr id="216" name="Rectangle 35"/>
          <p:cNvSpPr/>
          <p:nvPr/>
        </p:nvSpPr>
        <p:spPr>
          <a:xfrm>
            <a:off x="1457261" y="2830974"/>
            <a:ext cx="960121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Rectangle 41"/>
          <p:cNvSpPr/>
          <p:nvPr/>
        </p:nvSpPr>
        <p:spPr>
          <a:xfrm>
            <a:off x="1457261" y="3606500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47"/>
          <p:cNvSpPr/>
          <p:nvPr/>
        </p:nvSpPr>
        <p:spPr>
          <a:xfrm>
            <a:off x="1459286" y="3996807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Rectangle 41"/>
          <p:cNvSpPr/>
          <p:nvPr/>
        </p:nvSpPr>
        <p:spPr>
          <a:xfrm>
            <a:off x="1457261" y="3218951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Rectangle 47"/>
          <p:cNvSpPr/>
          <p:nvPr/>
        </p:nvSpPr>
        <p:spPr>
          <a:xfrm>
            <a:off x="1459286" y="4392884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38"/>
          <p:cNvSpPr/>
          <p:nvPr/>
        </p:nvSpPr>
        <p:spPr>
          <a:xfrm>
            <a:off x="9354757" y="282011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Rectangle 38"/>
          <p:cNvSpPr/>
          <p:nvPr/>
        </p:nvSpPr>
        <p:spPr>
          <a:xfrm>
            <a:off x="9354757" y="3167372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Rectangle 38"/>
          <p:cNvSpPr/>
          <p:nvPr/>
        </p:nvSpPr>
        <p:spPr>
          <a:xfrm>
            <a:off x="9354757" y="350453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7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228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Evidence before generation</a:t>
            </a:r>
          </a:p>
        </p:txBody>
      </p:sp>
      <p:sp>
        <p:nvSpPr>
          <p:cNvPr id="229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model never invents a topic from its own knowledge. It reorganises retrieved, dated, attributable evidence.</a:t>
            </a:r>
          </a:p>
        </p:txBody>
      </p:sp>
      <p:sp>
        <p:nvSpPr>
          <p:cNvPr id="230" name="TextBox 20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231" name="TextBox 21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32" name="TextBox 18"/>
          <p:cNvSpPr txBox="1"/>
          <p:nvPr/>
        </p:nvSpPr>
        <p:spPr>
          <a:xfrm>
            <a:off x="2561990" y="5733562"/>
            <a:ext cx="7606763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separate critic prompt scores 1–5 as the MINIMUM across five tests, so one failure caps the whole score.</a:t>
            </a:r>
          </a:p>
        </p:txBody>
      </p:sp>
      <p:sp>
        <p:nvSpPr>
          <p:cNvPr id="233" name="Rounded Rectangle 6"/>
          <p:cNvSpPr/>
          <p:nvPr/>
        </p:nvSpPr>
        <p:spPr>
          <a:xfrm>
            <a:off x="457535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7"/>
          <p:cNvSpPr txBox="1"/>
          <p:nvPr/>
        </p:nvSpPr>
        <p:spPr>
          <a:xfrm>
            <a:off x="667846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EVIDENCE BINDING</a:t>
            </a:r>
          </a:p>
        </p:txBody>
      </p:sp>
      <p:sp>
        <p:nvSpPr>
          <p:cNvPr id="235" name="TextBox 8"/>
          <p:cNvSpPr txBox="1"/>
          <p:nvPr/>
        </p:nvSpPr>
        <p:spPr>
          <a:xfrm>
            <a:off x="686135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Every claim cites signal IDs</a:t>
            </a:r>
          </a:p>
        </p:txBody>
      </p:sp>
      <p:sp>
        <p:nvSpPr>
          <p:cNvPr id="236" name="TextBox 9"/>
          <p:cNvSpPr txBox="1"/>
          <p:nvPr/>
        </p:nvSpPr>
        <p:spPr>
          <a:xfrm>
            <a:off x="686135" y="3614102"/>
            <a:ext cx="2130553" cy="468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signal IDs must exist in the cluster that produced the candidate. Un-cited claims are stripped, not rewritten.</a:t>
            </a:r>
          </a:p>
        </p:txBody>
      </p:sp>
      <p:sp>
        <p:nvSpPr>
          <p:cNvPr id="237" name="TextBox 10"/>
          <p:cNvSpPr txBox="1"/>
          <p:nvPr/>
        </p:nvSpPr>
        <p:spPr>
          <a:xfrm>
            <a:off x="3109295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38" name="Rounded Rectangle 13"/>
          <p:cNvSpPr/>
          <p:nvPr/>
        </p:nvSpPr>
        <p:spPr>
          <a:xfrm>
            <a:off x="3365327" y="2169350"/>
            <a:ext cx="2587752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14"/>
          <p:cNvSpPr txBox="1"/>
          <p:nvPr/>
        </p:nvSpPr>
        <p:spPr>
          <a:xfrm>
            <a:off x="3575639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CLOSED VOCABULARY</a:t>
            </a:r>
          </a:p>
        </p:txBody>
      </p:sp>
      <p:sp>
        <p:nvSpPr>
          <p:cNvPr id="240" name="TextBox 15"/>
          <p:cNvSpPr txBox="1"/>
          <p:nvPr/>
        </p:nvSpPr>
        <p:spPr>
          <a:xfrm>
            <a:off x="3593927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Taxonomy values are validated</a:t>
            </a:r>
          </a:p>
        </p:txBody>
      </p:sp>
      <p:sp>
        <p:nvSpPr>
          <p:cNvPr id="241" name="TextBox 16"/>
          <p:cNvSpPr txBox="1"/>
          <p:nvPr/>
        </p:nvSpPr>
        <p:spPr>
          <a:xfrm>
            <a:off x="3593927" y="3614102"/>
            <a:ext cx="2130553" cy="468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Values must match the enumerations. A recognised synonym is repaired once; anything else is dropped.</a:t>
            </a:r>
          </a:p>
        </p:txBody>
      </p:sp>
      <p:sp>
        <p:nvSpPr>
          <p:cNvPr id="242" name="TextBox 17"/>
          <p:cNvSpPr txBox="1"/>
          <p:nvPr/>
        </p:nvSpPr>
        <p:spPr>
          <a:xfrm>
            <a:off x="6017087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43" name="Rounded Rectangle 20"/>
          <p:cNvSpPr/>
          <p:nvPr/>
        </p:nvSpPr>
        <p:spPr>
          <a:xfrm>
            <a:off x="6273119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TextBox 21"/>
          <p:cNvSpPr txBox="1"/>
          <p:nvPr/>
        </p:nvSpPr>
        <p:spPr>
          <a:xfrm>
            <a:off x="6483431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 GENERATED NUMBERS</a:t>
            </a:r>
          </a:p>
        </p:txBody>
      </p:sp>
      <p:sp>
        <p:nvSpPr>
          <p:cNvPr id="245" name="TextBox 22"/>
          <p:cNvSpPr txBox="1"/>
          <p:nvPr/>
        </p:nvSpPr>
        <p:spPr>
          <a:xfrm>
            <a:off x="6385038" y="2864294"/>
            <a:ext cx="2363915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Looked up + attributed, or absent</a:t>
            </a:r>
          </a:p>
        </p:txBody>
      </p:sp>
      <p:sp>
        <p:nvSpPr>
          <p:cNvPr id="246" name="TextBox 23"/>
          <p:cNvSpPr txBox="1"/>
          <p:nvPr/>
        </p:nvSpPr>
        <p:spPr>
          <a:xfrm>
            <a:off x="6434234" y="3614102"/>
            <a:ext cx="2265522" cy="595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Market sizes, growth rates and percentages are looked up and attributed, or they are absent. Backstopped by a regex.</a:t>
            </a:r>
          </a:p>
        </p:txBody>
      </p:sp>
      <p:sp>
        <p:nvSpPr>
          <p:cNvPr id="247" name="TextBox 24"/>
          <p:cNvSpPr txBox="1"/>
          <p:nvPr/>
        </p:nvSpPr>
        <p:spPr>
          <a:xfrm>
            <a:off x="8924878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48" name="Rounded Rectangle 27"/>
          <p:cNvSpPr/>
          <p:nvPr/>
        </p:nvSpPr>
        <p:spPr>
          <a:xfrm>
            <a:off x="9180911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TextBox 28"/>
          <p:cNvSpPr txBox="1"/>
          <p:nvPr/>
        </p:nvSpPr>
        <p:spPr>
          <a:xfrm>
            <a:off x="9391223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ENTAILMENT CHECK</a:t>
            </a:r>
          </a:p>
        </p:txBody>
      </p:sp>
      <p:sp>
        <p:nvSpPr>
          <p:cNvPr id="250" name="TextBox 29"/>
          <p:cNvSpPr txBox="1"/>
          <p:nvPr/>
        </p:nvSpPr>
        <p:spPr>
          <a:xfrm>
            <a:off x="9409511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Does the evidence support the claim?</a:t>
            </a:r>
          </a:p>
        </p:txBody>
      </p:sp>
      <p:sp>
        <p:nvSpPr>
          <p:cNvPr id="251" name="TextBox 30"/>
          <p:cNvSpPr txBox="1"/>
          <p:nvPr/>
        </p:nvSpPr>
        <p:spPr>
          <a:xfrm>
            <a:off x="9409511" y="3614102"/>
            <a:ext cx="2130553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second model pass verifies each claim against the cited span.</a:t>
            </a:r>
          </a:p>
        </p:txBody>
      </p:sp>
      <p:sp>
        <p:nvSpPr>
          <p:cNvPr id="252" name="Rounded Rectangle 32"/>
          <p:cNvSpPr/>
          <p:nvPr/>
        </p:nvSpPr>
        <p:spPr>
          <a:xfrm>
            <a:off x="2089668" y="4885633"/>
            <a:ext cx="7982184" cy="586176"/>
          </a:xfrm>
          <a:prstGeom prst="roundRect">
            <a:avLst>
              <a:gd name="adj" fmla="val 6396"/>
            </a:avLst>
          </a:prstGeom>
          <a:solidFill>
            <a:srgbClr val="FFFFFF"/>
          </a:solidFill>
          <a:ln>
            <a:solidFill>
              <a:srgbClr val="B9372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33"/>
          <p:cNvSpPr txBox="1"/>
          <p:nvPr/>
        </p:nvSpPr>
        <p:spPr>
          <a:xfrm>
            <a:off x="2629270" y="5067705"/>
            <a:ext cx="86868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LIVE RUN</a:t>
            </a:r>
          </a:p>
        </p:txBody>
      </p:sp>
      <p:sp>
        <p:nvSpPr>
          <p:cNvPr id="254" name="TextBox 34"/>
          <p:cNvSpPr txBox="1"/>
          <p:nvPr/>
        </p:nvSpPr>
        <p:spPr>
          <a:xfrm>
            <a:off x="3662895" y="5005867"/>
            <a:ext cx="3400899" cy="33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7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345 of 644 candidates rejected</a:t>
            </a:r>
          </a:p>
        </p:txBody>
      </p:sp>
      <p:sp>
        <p:nvSpPr>
          <p:cNvPr id="255" name="TextBox 35"/>
          <p:cNvSpPr txBox="1"/>
          <p:nvPr/>
        </p:nvSpPr>
        <p:spPr>
          <a:xfrm>
            <a:off x="7395932" y="5059369"/>
            <a:ext cx="1600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with specific, written reasons</a:t>
            </a:r>
          </a:p>
        </p:txBody>
      </p:sp>
      <p:sp>
        <p:nvSpPr>
          <p:cNvPr id="256" name="Oval 4"/>
          <p:cNvSpPr/>
          <p:nvPr/>
        </p:nvSpPr>
        <p:spPr>
          <a:xfrm>
            <a:off x="410636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7" name="TextBox 5"/>
          <p:cNvSpPr txBox="1"/>
          <p:nvPr/>
        </p:nvSpPr>
        <p:spPr>
          <a:xfrm>
            <a:off x="456356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58" name="Oval 11"/>
          <p:cNvSpPr/>
          <p:nvPr/>
        </p:nvSpPr>
        <p:spPr>
          <a:xfrm>
            <a:off x="3318428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TextBox 12"/>
          <p:cNvSpPr txBox="1"/>
          <p:nvPr/>
        </p:nvSpPr>
        <p:spPr>
          <a:xfrm>
            <a:off x="3364148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60" name="Oval 18"/>
          <p:cNvSpPr/>
          <p:nvPr/>
        </p:nvSpPr>
        <p:spPr>
          <a:xfrm>
            <a:off x="6226220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19"/>
          <p:cNvSpPr txBox="1"/>
          <p:nvPr/>
        </p:nvSpPr>
        <p:spPr>
          <a:xfrm>
            <a:off x="6271940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62" name="Oval 25"/>
          <p:cNvSpPr/>
          <p:nvPr/>
        </p:nvSpPr>
        <p:spPr>
          <a:xfrm>
            <a:off x="9134012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3" name="TextBox 26"/>
          <p:cNvSpPr txBox="1"/>
          <p:nvPr/>
        </p:nvSpPr>
        <p:spPr>
          <a:xfrm>
            <a:off x="9179732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26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Portfolio distance decides whose conversation it is</a:t>
            </a:r>
          </a:p>
        </p:txBody>
      </p:sp>
      <p:sp>
        <p:nvSpPr>
          <p:cNvPr id="268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shortest path from a topic to a configuration Orange could actually deliver.</a:t>
            </a:r>
          </a:p>
        </p:txBody>
      </p:sp>
      <p:sp>
        <p:nvSpPr>
          <p:cNvPr id="269" name="Rectangle 5"/>
          <p:cNvSpPr/>
          <p:nvPr/>
        </p:nvSpPr>
        <p:spPr>
          <a:xfrm>
            <a:off x="685800" y="2148839"/>
            <a:ext cx="566928" cy="457201"/>
          </a:xfrm>
          <a:prstGeom prst="rect">
            <a:avLst/>
          </a:prstGeom>
          <a:solidFill>
            <a:srgbClr val="86B6E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0" name="TextBox 6"/>
          <p:cNvSpPr txBox="1"/>
          <p:nvPr/>
        </p:nvSpPr>
        <p:spPr>
          <a:xfrm>
            <a:off x="685800" y="2290357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b="1" sz="13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L0</a:t>
            </a:r>
          </a:p>
        </p:txBody>
      </p:sp>
      <p:sp>
        <p:nvSpPr>
          <p:cNvPr id="271" name="TextBox 7"/>
          <p:cNvSpPr txBox="1"/>
          <p:nvPr/>
        </p:nvSpPr>
        <p:spPr>
          <a:xfrm>
            <a:off x="1398796" y="2272068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4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Direct</a:t>
            </a:r>
          </a:p>
        </p:txBody>
      </p:sp>
      <p:sp>
        <p:nvSpPr>
          <p:cNvPr id="272" name="TextBox 8"/>
          <p:cNvSpPr txBox="1"/>
          <p:nvPr/>
        </p:nvSpPr>
        <p:spPr>
          <a:xfrm>
            <a:off x="3410476" y="2290357"/>
            <a:ext cx="457200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An existing offer addresses it as it stands</a:t>
            </a:r>
          </a:p>
        </p:txBody>
      </p:sp>
      <p:sp>
        <p:nvSpPr>
          <p:cNvPr id="273" name="TextBox 9"/>
          <p:cNvSpPr txBox="1"/>
          <p:nvPr/>
        </p:nvSpPr>
        <p:spPr>
          <a:xfrm>
            <a:off x="8165355" y="2290357"/>
            <a:ext cx="338328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Sales — sell it</a:t>
            </a:r>
          </a:p>
        </p:txBody>
      </p:sp>
      <p:sp>
        <p:nvSpPr>
          <p:cNvPr id="274" name="Rectangle 10"/>
          <p:cNvSpPr/>
          <p:nvPr/>
        </p:nvSpPr>
        <p:spPr>
          <a:xfrm>
            <a:off x="685800" y="2715767"/>
            <a:ext cx="566928" cy="457201"/>
          </a:xfrm>
          <a:prstGeom prst="rect">
            <a:avLst/>
          </a:prstGeom>
          <a:solidFill>
            <a:srgbClr val="5598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11"/>
          <p:cNvSpPr txBox="1"/>
          <p:nvPr/>
        </p:nvSpPr>
        <p:spPr>
          <a:xfrm>
            <a:off x="685800" y="2857284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b="1" sz="13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L1</a:t>
            </a:r>
          </a:p>
        </p:txBody>
      </p:sp>
      <p:sp>
        <p:nvSpPr>
          <p:cNvPr id="276" name="TextBox 12"/>
          <p:cNvSpPr txBox="1"/>
          <p:nvPr/>
        </p:nvSpPr>
        <p:spPr>
          <a:xfrm>
            <a:off x="1398796" y="2838996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4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Bundle</a:t>
            </a:r>
          </a:p>
        </p:txBody>
      </p:sp>
      <p:sp>
        <p:nvSpPr>
          <p:cNvPr id="277" name="TextBox 13"/>
          <p:cNvSpPr txBox="1"/>
          <p:nvPr/>
        </p:nvSpPr>
        <p:spPr>
          <a:xfrm>
            <a:off x="3410476" y="2857284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Two or more existing offers combined</a:t>
            </a:r>
          </a:p>
        </p:txBody>
      </p:sp>
      <p:sp>
        <p:nvSpPr>
          <p:cNvPr id="278" name="TextBox 14"/>
          <p:cNvSpPr txBox="1"/>
          <p:nvPr/>
        </p:nvSpPr>
        <p:spPr>
          <a:xfrm>
            <a:off x="8165355" y="2857284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Presales — package it</a:t>
            </a:r>
          </a:p>
        </p:txBody>
      </p:sp>
      <p:sp>
        <p:nvSpPr>
          <p:cNvPr id="279" name="Rectangle 15"/>
          <p:cNvSpPr/>
          <p:nvPr/>
        </p:nvSpPr>
        <p:spPr>
          <a:xfrm>
            <a:off x="685800" y="3282696"/>
            <a:ext cx="566928" cy="457201"/>
          </a:xfrm>
          <a:prstGeom prst="rect">
            <a:avLst/>
          </a:prstGeom>
          <a:solidFill>
            <a:srgbClr val="2A78D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0" name="TextBox 16"/>
          <p:cNvSpPr txBox="1"/>
          <p:nvPr/>
        </p:nvSpPr>
        <p:spPr>
          <a:xfrm>
            <a:off x="685800" y="3424212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b="1" sz="13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L2</a:t>
            </a:r>
          </a:p>
        </p:txBody>
      </p:sp>
      <p:sp>
        <p:nvSpPr>
          <p:cNvPr id="281" name="TextBox 17"/>
          <p:cNvSpPr txBox="1"/>
          <p:nvPr/>
        </p:nvSpPr>
        <p:spPr>
          <a:xfrm>
            <a:off x="1398796" y="3405924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4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Partner-dependent</a:t>
            </a:r>
          </a:p>
        </p:txBody>
      </p:sp>
      <p:sp>
        <p:nvSpPr>
          <p:cNvPr id="282" name="TextBox 18"/>
          <p:cNvSpPr txBox="1"/>
          <p:nvPr/>
        </p:nvSpPr>
        <p:spPr>
          <a:xfrm>
            <a:off x="3410476" y="3424212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Needs a capability a partner already holds</a:t>
            </a:r>
          </a:p>
        </p:txBody>
      </p:sp>
      <p:sp>
        <p:nvSpPr>
          <p:cNvPr id="283" name="TextBox 19"/>
          <p:cNvSpPr txBox="1"/>
          <p:nvPr/>
        </p:nvSpPr>
        <p:spPr>
          <a:xfrm>
            <a:off x="8165355" y="3424212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Presales / alliances — assemble it</a:t>
            </a:r>
          </a:p>
        </p:txBody>
      </p:sp>
      <p:sp>
        <p:nvSpPr>
          <p:cNvPr id="284" name="Rectangle 20"/>
          <p:cNvSpPr/>
          <p:nvPr/>
        </p:nvSpPr>
        <p:spPr>
          <a:xfrm>
            <a:off x="685800" y="3849623"/>
            <a:ext cx="566928" cy="457201"/>
          </a:xfrm>
          <a:prstGeom prst="rect">
            <a:avLst/>
          </a:prstGeom>
          <a:solidFill>
            <a:srgbClr val="1C5CA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TextBox 21"/>
          <p:cNvSpPr txBox="1"/>
          <p:nvPr/>
        </p:nvSpPr>
        <p:spPr>
          <a:xfrm>
            <a:off x="685800" y="3991141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b="1" sz="13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L3</a:t>
            </a:r>
          </a:p>
        </p:txBody>
      </p:sp>
      <p:sp>
        <p:nvSpPr>
          <p:cNvPr id="286" name="TextBox 22"/>
          <p:cNvSpPr txBox="1"/>
          <p:nvPr/>
        </p:nvSpPr>
        <p:spPr>
          <a:xfrm>
            <a:off x="1398796" y="3972852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4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Adjacent</a:t>
            </a:r>
          </a:p>
        </p:txBody>
      </p:sp>
      <p:sp>
        <p:nvSpPr>
          <p:cNvPr id="287" name="TextBox 23"/>
          <p:cNvSpPr txBox="1"/>
          <p:nvPr/>
        </p:nvSpPr>
        <p:spPr>
          <a:xfrm>
            <a:off x="3410476" y="3991140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Needs one capability built; nearby assets exist</a:t>
            </a:r>
          </a:p>
        </p:txBody>
      </p:sp>
      <p:sp>
        <p:nvSpPr>
          <p:cNvPr id="288" name="TextBox 24"/>
          <p:cNvSpPr txBox="1"/>
          <p:nvPr/>
        </p:nvSpPr>
        <p:spPr>
          <a:xfrm>
            <a:off x="8165355" y="3991140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Strategy — study it</a:t>
            </a:r>
          </a:p>
        </p:txBody>
      </p:sp>
      <p:sp>
        <p:nvSpPr>
          <p:cNvPr id="289" name="Rectangle 25"/>
          <p:cNvSpPr/>
          <p:nvPr/>
        </p:nvSpPr>
        <p:spPr>
          <a:xfrm>
            <a:off x="685800" y="4416552"/>
            <a:ext cx="566928" cy="457201"/>
          </a:xfrm>
          <a:prstGeom prst="rect">
            <a:avLst/>
          </a:prstGeom>
          <a:solidFill>
            <a:srgbClr val="10428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0" name="TextBox 26"/>
          <p:cNvSpPr txBox="1"/>
          <p:nvPr/>
        </p:nvSpPr>
        <p:spPr>
          <a:xfrm>
            <a:off x="685800" y="4558068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b="1" sz="13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L4</a:t>
            </a:r>
          </a:p>
        </p:txBody>
      </p:sp>
      <p:sp>
        <p:nvSpPr>
          <p:cNvPr id="291" name="TextBox 27"/>
          <p:cNvSpPr txBox="1"/>
          <p:nvPr/>
        </p:nvSpPr>
        <p:spPr>
          <a:xfrm>
            <a:off x="1398796" y="4539780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4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White space</a:t>
            </a:r>
          </a:p>
        </p:txBody>
      </p:sp>
      <p:sp>
        <p:nvSpPr>
          <p:cNvPr id="292" name="TextBox 28"/>
          <p:cNvSpPr txBox="1"/>
          <p:nvPr/>
        </p:nvSpPr>
        <p:spPr>
          <a:xfrm>
            <a:off x="3410476" y="4558068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No plausible path from the current portfolio</a:t>
            </a:r>
          </a:p>
        </p:txBody>
      </p:sp>
      <p:sp>
        <p:nvSpPr>
          <p:cNvPr id="293" name="TextBox 29"/>
          <p:cNvSpPr txBox="1"/>
          <p:nvPr/>
        </p:nvSpPr>
        <p:spPr>
          <a:xfrm>
            <a:off x="8165355" y="4558068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Strategy — watch or reject</a:t>
            </a:r>
          </a:p>
        </p:txBody>
      </p:sp>
      <p:sp>
        <p:nvSpPr>
          <p:cNvPr id="294" name="TextBox 30"/>
          <p:cNvSpPr txBox="1"/>
          <p:nvPr/>
        </p:nvSpPr>
        <p:spPr>
          <a:xfrm>
            <a:off x="685800" y="5212079"/>
            <a:ext cx="10881360" cy="382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This is what drives the role modes — they are not arbitrary presets. A high-attractiveness L4 topic is exactly the strategist's innovation agenda, and exactly what a salesperson should never be shown.</a:t>
            </a:r>
          </a:p>
        </p:txBody>
      </p:sp>
      <p:sp>
        <p:nvSpPr>
          <p:cNvPr id="295" name="TextBox 31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296" name="TextBox 32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300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Sizing and competition, with the working shown</a:t>
            </a:r>
          </a:p>
        </p:txBody>
      </p:sp>
      <p:sp>
        <p:nvSpPr>
          <p:cNvPr id="301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Two questions a topic cannot be acted on without: how big is it, and who else is already there?</a:t>
            </a:r>
          </a:p>
        </p:txBody>
      </p:sp>
      <p:sp>
        <p:nvSpPr>
          <p:cNvPr id="302" name="TextBox 12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303" name="TextBox 13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04" name="Rounded Rectangle 4"/>
          <p:cNvSpPr/>
          <p:nvPr/>
        </p:nvSpPr>
        <p:spPr>
          <a:xfrm>
            <a:off x="498093" y="1803960"/>
            <a:ext cx="5532122" cy="3868391"/>
          </a:xfrm>
          <a:prstGeom prst="roundRect">
            <a:avLst>
              <a:gd name="adj" fmla="val 5673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ounded Rectangle 5"/>
          <p:cNvSpPr/>
          <p:nvPr/>
        </p:nvSpPr>
        <p:spPr>
          <a:xfrm>
            <a:off x="744981" y="2050848"/>
            <a:ext cx="31546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6"/>
          <p:cNvSpPr txBox="1"/>
          <p:nvPr/>
        </p:nvSpPr>
        <p:spPr>
          <a:xfrm>
            <a:off x="790701" y="2105712"/>
            <a:ext cx="306324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  MARKET SIZE — BOTTOM UP, NOT QUOTED</a:t>
            </a:r>
          </a:p>
        </p:txBody>
      </p:sp>
      <p:sp>
        <p:nvSpPr>
          <p:cNvPr id="307" name="TextBox 7"/>
          <p:cNvSpPr txBox="1"/>
          <p:nvPr/>
        </p:nvSpPr>
        <p:spPr>
          <a:xfrm>
            <a:off x="808990" y="2535480"/>
            <a:ext cx="219456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NOT QUOTE A HEADLINE?</a:t>
            </a:r>
          </a:p>
        </p:txBody>
      </p:sp>
      <p:sp>
        <p:nvSpPr>
          <p:cNvPr id="308" name="TextBox 8"/>
          <p:cNvSpPr txBox="1"/>
          <p:nvPr/>
        </p:nvSpPr>
        <p:spPr>
          <a:xfrm>
            <a:off x="808989" y="2791512"/>
            <a:ext cx="4800601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Paid research can be quoted without methodology and can conflict by an order of magnitude.</a:t>
            </a:r>
          </a:p>
        </p:txBody>
      </p:sp>
      <p:sp>
        <p:nvSpPr>
          <p:cNvPr id="309" name="TextBox 9"/>
          <p:cNvSpPr txBox="1"/>
          <p:nvPr/>
        </p:nvSpPr>
        <p:spPr>
          <a:xfrm>
            <a:off x="808990" y="3385872"/>
            <a:ext cx="219456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RADAR BUILDS ITS OWN</a:t>
            </a:r>
          </a:p>
        </p:txBody>
      </p:sp>
      <p:sp>
        <p:nvSpPr>
          <p:cNvPr id="310" name="Rounded Rectangle 10"/>
          <p:cNvSpPr/>
          <p:nvPr/>
        </p:nvSpPr>
        <p:spPr>
          <a:xfrm>
            <a:off x="754125" y="3705912"/>
            <a:ext cx="1417321" cy="828590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1" name="TextBox 11"/>
          <p:cNvSpPr txBox="1"/>
          <p:nvPr/>
        </p:nvSpPr>
        <p:spPr>
          <a:xfrm>
            <a:off x="891285" y="3879647"/>
            <a:ext cx="1143002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Enterprise counts</a:t>
            </a:r>
          </a:p>
        </p:txBody>
      </p:sp>
      <p:sp>
        <p:nvSpPr>
          <p:cNvPr id="312" name="TextBox 12"/>
          <p:cNvSpPr txBox="1"/>
          <p:nvPr/>
        </p:nvSpPr>
        <p:spPr>
          <a:xfrm>
            <a:off x="891285" y="4217975"/>
            <a:ext cx="114300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by sector + size class</a:t>
            </a:r>
          </a:p>
        </p:txBody>
      </p:sp>
      <p:sp>
        <p:nvSpPr>
          <p:cNvPr id="313" name="TextBox 13"/>
          <p:cNvSpPr txBox="1"/>
          <p:nvPr/>
        </p:nvSpPr>
        <p:spPr>
          <a:xfrm>
            <a:off x="2258313" y="3998769"/>
            <a:ext cx="2286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314" name="Rounded Rectangle 14"/>
          <p:cNvSpPr/>
          <p:nvPr/>
        </p:nvSpPr>
        <p:spPr>
          <a:xfrm>
            <a:off x="2573781" y="3705912"/>
            <a:ext cx="1417321" cy="828590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TextBox 15"/>
          <p:cNvSpPr txBox="1"/>
          <p:nvPr/>
        </p:nvSpPr>
        <p:spPr>
          <a:xfrm>
            <a:off x="2710941" y="3879647"/>
            <a:ext cx="1143002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Observed</a:t>
            </a:r>
          </a:p>
          <a:p>
            <a:pPr algn="ctr"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adoption rate</a:t>
            </a:r>
          </a:p>
        </p:txBody>
      </p:sp>
      <p:sp>
        <p:nvSpPr>
          <p:cNvPr id="316" name="TextBox 16"/>
          <p:cNvSpPr txBox="1"/>
          <p:nvPr/>
        </p:nvSpPr>
        <p:spPr>
          <a:xfrm>
            <a:off x="4077969" y="3998519"/>
            <a:ext cx="2286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317" name="Rounded Rectangle 17"/>
          <p:cNvSpPr/>
          <p:nvPr/>
        </p:nvSpPr>
        <p:spPr>
          <a:xfrm>
            <a:off x="4393438" y="3705341"/>
            <a:ext cx="1417321" cy="82973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TextBox 18"/>
          <p:cNvSpPr txBox="1"/>
          <p:nvPr/>
        </p:nvSpPr>
        <p:spPr>
          <a:xfrm>
            <a:off x="4530598" y="3879075"/>
            <a:ext cx="1143001" cy="3916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Plausible</a:t>
            </a:r>
          </a:p>
          <a:p>
            <a:pPr algn="ctr"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contract value</a:t>
            </a:r>
          </a:p>
        </p:txBody>
      </p:sp>
      <p:sp>
        <p:nvSpPr>
          <p:cNvPr id="319" name="TextBox 19"/>
          <p:cNvSpPr txBox="1"/>
          <p:nvPr/>
        </p:nvSpPr>
        <p:spPr>
          <a:xfrm>
            <a:off x="2913691" y="4731097"/>
            <a:ext cx="164593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=</a:t>
            </a:r>
          </a:p>
        </p:txBody>
      </p:sp>
      <p:sp>
        <p:nvSpPr>
          <p:cNvPr id="320" name="TextBox 20"/>
          <p:cNvSpPr txBox="1"/>
          <p:nvPr/>
        </p:nvSpPr>
        <p:spPr>
          <a:xfrm>
            <a:off x="3081464" y="4745025"/>
            <a:ext cx="822961" cy="3666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MARKET</a:t>
            </a:r>
          </a:p>
          <a:p>
            <a:pPr algn="ctr">
              <a:defRPr b="1" sz="10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ESTIMATE</a:t>
            </a:r>
          </a:p>
        </p:txBody>
      </p:sp>
      <p:sp>
        <p:nvSpPr>
          <p:cNvPr id="321" name="TextBox 21"/>
          <p:cNvSpPr txBox="1"/>
          <p:nvPr/>
        </p:nvSpPr>
        <p:spPr>
          <a:xfrm>
            <a:off x="808989" y="5168788"/>
            <a:ext cx="4800601" cy="366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Every estimate carries its method, inputs and a confidence label — and can be rejected on its arithmetic.</a:t>
            </a:r>
          </a:p>
        </p:txBody>
      </p:sp>
      <p:sp>
        <p:nvSpPr>
          <p:cNvPr id="322" name="Rounded Rectangle 22"/>
          <p:cNvSpPr/>
          <p:nvPr/>
        </p:nvSpPr>
        <p:spPr>
          <a:xfrm>
            <a:off x="6258814" y="1803960"/>
            <a:ext cx="5294376" cy="3868391"/>
          </a:xfrm>
          <a:prstGeom prst="roundRect">
            <a:avLst>
              <a:gd name="adj" fmla="val 5673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Rounded Rectangle 23"/>
          <p:cNvSpPr/>
          <p:nvPr/>
        </p:nvSpPr>
        <p:spPr>
          <a:xfrm>
            <a:off x="6505702" y="2050848"/>
            <a:ext cx="22402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24"/>
          <p:cNvSpPr txBox="1"/>
          <p:nvPr/>
        </p:nvSpPr>
        <p:spPr>
          <a:xfrm>
            <a:off x="6551421" y="2105712"/>
            <a:ext cx="214884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  COMPETITIVE INTENSITY</a:t>
            </a:r>
          </a:p>
        </p:txBody>
      </p:sp>
      <p:sp>
        <p:nvSpPr>
          <p:cNvPr id="325" name="TextBox 25"/>
          <p:cNvSpPr txBox="1"/>
          <p:nvPr/>
        </p:nvSpPr>
        <p:spPr>
          <a:xfrm>
            <a:off x="6560565" y="2544624"/>
            <a:ext cx="25146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VERSIONED COMPETITOR REGISTER</a:t>
            </a:r>
          </a:p>
        </p:txBody>
      </p:sp>
      <p:sp>
        <p:nvSpPr>
          <p:cNvPr id="326" name="TextBox 26"/>
          <p:cNvSpPr txBox="1"/>
          <p:nvPr/>
        </p:nvSpPr>
        <p:spPr>
          <a:xfrm>
            <a:off x="9230613" y="2544624"/>
            <a:ext cx="19202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+ evidence actually collected</a:t>
            </a:r>
          </a:p>
        </p:txBody>
      </p:sp>
      <p:sp>
        <p:nvSpPr>
          <p:cNvPr id="327" name="TextBox 27"/>
          <p:cNvSpPr txBox="1"/>
          <p:nvPr/>
        </p:nvSpPr>
        <p:spPr>
          <a:xfrm>
            <a:off x="8745981" y="2789054"/>
            <a:ext cx="32004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328" name="Rounded Rectangle 28"/>
          <p:cNvSpPr/>
          <p:nvPr/>
        </p:nvSpPr>
        <p:spPr>
          <a:xfrm>
            <a:off x="6780021" y="3175560"/>
            <a:ext cx="438912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9" name="TextBox 29"/>
          <p:cNvSpPr txBox="1"/>
          <p:nvPr/>
        </p:nvSpPr>
        <p:spPr>
          <a:xfrm>
            <a:off x="7008621" y="3376728"/>
            <a:ext cx="3931920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Who is visibly playing here?</a:t>
            </a:r>
          </a:p>
        </p:txBody>
      </p:sp>
      <p:sp>
        <p:nvSpPr>
          <p:cNvPr id="330" name="Rounded Rectangle 30"/>
          <p:cNvSpPr/>
          <p:nvPr/>
        </p:nvSpPr>
        <p:spPr>
          <a:xfrm>
            <a:off x="6560566" y="4117392"/>
            <a:ext cx="2267713" cy="12618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extBox 31"/>
          <p:cNvSpPr txBox="1"/>
          <p:nvPr/>
        </p:nvSpPr>
        <p:spPr>
          <a:xfrm>
            <a:off x="6770877" y="4327704"/>
            <a:ext cx="182880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CROWDED FIELD</a:t>
            </a:r>
          </a:p>
        </p:txBody>
      </p:sp>
      <p:sp>
        <p:nvSpPr>
          <p:cNvPr id="332" name="TextBox 32"/>
          <p:cNvSpPr txBox="1"/>
          <p:nvPr/>
        </p:nvSpPr>
        <p:spPr>
          <a:xfrm>
            <a:off x="6789165" y="4675175"/>
            <a:ext cx="1792225" cy="3666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Not a reason to walk away → win on a specific differentiator.</a:t>
            </a:r>
          </a:p>
        </p:txBody>
      </p:sp>
      <p:sp>
        <p:nvSpPr>
          <p:cNvPr id="333" name="Rounded Rectangle 33"/>
          <p:cNvSpPr/>
          <p:nvPr/>
        </p:nvSpPr>
        <p:spPr>
          <a:xfrm>
            <a:off x="9047733" y="4117392"/>
            <a:ext cx="2267713" cy="12618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TextBox 34"/>
          <p:cNvSpPr txBox="1"/>
          <p:nvPr/>
        </p:nvSpPr>
        <p:spPr>
          <a:xfrm>
            <a:off x="9239757" y="4327704"/>
            <a:ext cx="1883665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 COMPETITOR FOUND</a:t>
            </a:r>
          </a:p>
        </p:txBody>
      </p:sp>
      <p:sp>
        <p:nvSpPr>
          <p:cNvPr id="335" name="TextBox 35"/>
          <p:cNvSpPr txBox="1"/>
          <p:nvPr/>
        </p:nvSpPr>
        <p:spPr>
          <a:xfrm>
            <a:off x="9276333" y="4675175"/>
            <a:ext cx="1737361" cy="506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Reported as unverified — the register may simply have a gap.</a:t>
            </a:r>
          </a:p>
        </p:txBody>
      </p:sp>
      <p:sp>
        <p:nvSpPr>
          <p:cNvPr id="336" name="Rounded Rectangle 36"/>
          <p:cNvSpPr/>
          <p:nvPr/>
        </p:nvSpPr>
        <p:spPr>
          <a:xfrm>
            <a:off x="1120139" y="5878669"/>
            <a:ext cx="9921242" cy="32918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7" name="TextBox 37"/>
          <p:cNvSpPr txBox="1"/>
          <p:nvPr/>
        </p:nvSpPr>
        <p:spPr>
          <a:xfrm>
            <a:off x="1376171" y="5960965"/>
            <a:ext cx="233172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BOTH ARE FILTERABLE + SORTABLE</a:t>
            </a:r>
          </a:p>
        </p:txBody>
      </p:sp>
      <p:sp>
        <p:nvSpPr>
          <p:cNvPr id="338" name="TextBox 38"/>
          <p:cNvSpPr txBox="1"/>
          <p:nvPr/>
        </p:nvSpPr>
        <p:spPr>
          <a:xfrm>
            <a:off x="3817619" y="5960965"/>
            <a:ext cx="672084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 a strategist does not have to eyeball the number across 418 rows.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342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Two routes into a new opportunity space</a:t>
            </a:r>
          </a:p>
        </p:txBody>
      </p:sp>
      <p:sp>
        <p:nvSpPr>
          <p:cNvPr id="343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refresh answers the questions the corpus was already asked. These answer the one somebody has right now.</a:t>
            </a:r>
          </a:p>
        </p:txBody>
      </p:sp>
      <p:sp>
        <p:nvSpPr>
          <p:cNvPr id="344" name="TextBox 20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345" name="TextBox 21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346" name="Rounded Rectangle 4"/>
          <p:cNvSpPr/>
          <p:nvPr/>
        </p:nvSpPr>
        <p:spPr>
          <a:xfrm>
            <a:off x="498093" y="1831392"/>
            <a:ext cx="5440681" cy="2871217"/>
          </a:xfrm>
          <a:prstGeom prst="roundRect">
            <a:avLst>
              <a:gd name="adj" fmla="val 5494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Rounded Rectangle 5"/>
          <p:cNvSpPr/>
          <p:nvPr/>
        </p:nvSpPr>
        <p:spPr>
          <a:xfrm>
            <a:off x="744981" y="2050848"/>
            <a:ext cx="169164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TextBox 6"/>
          <p:cNvSpPr txBox="1"/>
          <p:nvPr/>
        </p:nvSpPr>
        <p:spPr>
          <a:xfrm>
            <a:off x="790702" y="2101140"/>
            <a:ext cx="16002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ROUTE 1 · PARAMETERS</a:t>
            </a:r>
          </a:p>
        </p:txBody>
      </p:sp>
      <p:sp>
        <p:nvSpPr>
          <p:cNvPr id="349" name="TextBox 7"/>
          <p:cNvSpPr txBox="1"/>
          <p:nvPr/>
        </p:nvSpPr>
        <p:spPr>
          <a:xfrm>
            <a:off x="790702" y="2508048"/>
            <a:ext cx="4617720" cy="301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For somebody who knows the taxonomy</a:t>
            </a:r>
          </a:p>
        </p:txBody>
      </p:sp>
      <p:sp>
        <p:nvSpPr>
          <p:cNvPr id="350" name="Rounded Rectangle 8"/>
          <p:cNvSpPr/>
          <p:nvPr/>
        </p:nvSpPr>
        <p:spPr>
          <a:xfrm>
            <a:off x="786130" y="2873167"/>
            <a:ext cx="1005841" cy="4754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9"/>
          <p:cNvSpPr txBox="1"/>
          <p:nvPr/>
        </p:nvSpPr>
        <p:spPr>
          <a:xfrm>
            <a:off x="831850" y="3019472"/>
            <a:ext cx="914400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VERTICAL</a:t>
            </a:r>
          </a:p>
        </p:txBody>
      </p:sp>
      <p:sp>
        <p:nvSpPr>
          <p:cNvPr id="352" name="Rounded Rectangle 10"/>
          <p:cNvSpPr/>
          <p:nvPr/>
        </p:nvSpPr>
        <p:spPr>
          <a:xfrm>
            <a:off x="1947417" y="2873167"/>
            <a:ext cx="1005841" cy="4754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3" name="TextBox 11"/>
          <p:cNvSpPr txBox="1"/>
          <p:nvPr/>
        </p:nvSpPr>
        <p:spPr>
          <a:xfrm>
            <a:off x="1993137" y="3019472"/>
            <a:ext cx="914400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USE CASE</a:t>
            </a:r>
          </a:p>
        </p:txBody>
      </p:sp>
      <p:sp>
        <p:nvSpPr>
          <p:cNvPr id="354" name="Rounded Rectangle 12"/>
          <p:cNvSpPr/>
          <p:nvPr/>
        </p:nvSpPr>
        <p:spPr>
          <a:xfrm>
            <a:off x="3108706" y="2873167"/>
            <a:ext cx="1005841" cy="4754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TextBox 13"/>
          <p:cNvSpPr txBox="1"/>
          <p:nvPr/>
        </p:nvSpPr>
        <p:spPr>
          <a:xfrm>
            <a:off x="3154426" y="3019472"/>
            <a:ext cx="914400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</a:t>
            </a:r>
          </a:p>
        </p:txBody>
      </p:sp>
      <p:sp>
        <p:nvSpPr>
          <p:cNvPr id="356" name="Rounded Rectangle 14"/>
          <p:cNvSpPr/>
          <p:nvPr/>
        </p:nvSpPr>
        <p:spPr>
          <a:xfrm>
            <a:off x="4269994" y="2873167"/>
            <a:ext cx="1005840" cy="4754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15"/>
          <p:cNvSpPr txBox="1"/>
          <p:nvPr/>
        </p:nvSpPr>
        <p:spPr>
          <a:xfrm>
            <a:off x="4315714" y="3019472"/>
            <a:ext cx="914400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HORIZON</a:t>
            </a:r>
          </a:p>
        </p:txBody>
      </p:sp>
      <p:sp>
        <p:nvSpPr>
          <p:cNvPr id="358" name="TextBox 16"/>
          <p:cNvSpPr txBox="1"/>
          <p:nvPr/>
        </p:nvSpPr>
        <p:spPr>
          <a:xfrm>
            <a:off x="2802382" y="3406106"/>
            <a:ext cx="4572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359" name="Rounded Rectangle 17"/>
          <p:cNvSpPr/>
          <p:nvPr/>
        </p:nvSpPr>
        <p:spPr>
          <a:xfrm>
            <a:off x="1069593" y="3795152"/>
            <a:ext cx="4297681" cy="409811"/>
          </a:xfrm>
          <a:prstGeom prst="roundRect">
            <a:avLst>
              <a:gd name="adj" fmla="val 7586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TextBox 18"/>
          <p:cNvSpPr txBox="1"/>
          <p:nvPr/>
        </p:nvSpPr>
        <p:spPr>
          <a:xfrm>
            <a:off x="1110551" y="3866609"/>
            <a:ext cx="4215766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Show spaces that ALREADY satisfy those criteria</a:t>
            </a:r>
          </a:p>
        </p:txBody>
      </p:sp>
      <p:sp>
        <p:nvSpPr>
          <p:cNvPr id="361" name="TextBox 19"/>
          <p:cNvSpPr txBox="1"/>
          <p:nvPr/>
        </p:nvSpPr>
        <p:spPr>
          <a:xfrm>
            <a:off x="1385062" y="4339092"/>
            <a:ext cx="329184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Before anything is spent</a:t>
            </a:r>
          </a:p>
        </p:txBody>
      </p:sp>
      <p:sp>
        <p:nvSpPr>
          <p:cNvPr id="362" name="Rounded Rectangle 20"/>
          <p:cNvSpPr/>
          <p:nvPr/>
        </p:nvSpPr>
        <p:spPr>
          <a:xfrm>
            <a:off x="6231382" y="1831392"/>
            <a:ext cx="5449825" cy="2871217"/>
          </a:xfrm>
          <a:prstGeom prst="roundRect">
            <a:avLst>
              <a:gd name="adj" fmla="val 5494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3" name="Rounded Rectangle 21"/>
          <p:cNvSpPr/>
          <p:nvPr/>
        </p:nvSpPr>
        <p:spPr>
          <a:xfrm>
            <a:off x="6487414" y="2050848"/>
            <a:ext cx="251460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TextBox 22"/>
          <p:cNvSpPr txBox="1"/>
          <p:nvPr/>
        </p:nvSpPr>
        <p:spPr>
          <a:xfrm>
            <a:off x="6533133" y="2101140"/>
            <a:ext cx="242316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ROUTE 2 · A SCOPING CONVERSATION</a:t>
            </a:r>
          </a:p>
        </p:txBody>
      </p:sp>
      <p:sp>
        <p:nvSpPr>
          <p:cNvPr id="365" name="TextBox 23"/>
          <p:cNvSpPr txBox="1"/>
          <p:nvPr/>
        </p:nvSpPr>
        <p:spPr>
          <a:xfrm>
            <a:off x="6533134" y="2508048"/>
            <a:ext cx="4617720" cy="301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For somebody who knows their market</a:t>
            </a:r>
          </a:p>
        </p:txBody>
      </p:sp>
      <p:sp>
        <p:nvSpPr>
          <p:cNvPr id="366" name="Rounded Rectangle 24"/>
          <p:cNvSpPr/>
          <p:nvPr/>
        </p:nvSpPr>
        <p:spPr>
          <a:xfrm>
            <a:off x="6542278" y="2873167"/>
            <a:ext cx="1298449" cy="5486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7" name="TextBox 25"/>
          <p:cNvSpPr txBox="1"/>
          <p:nvPr/>
        </p:nvSpPr>
        <p:spPr>
          <a:xfrm>
            <a:off x="6587997" y="2982895"/>
            <a:ext cx="1207009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Assistant</a:t>
            </a:r>
          </a:p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interviews</a:t>
            </a:r>
          </a:p>
        </p:txBody>
      </p:sp>
      <p:sp>
        <p:nvSpPr>
          <p:cNvPr id="368" name="TextBox 26"/>
          <p:cNvSpPr txBox="1"/>
          <p:nvPr/>
        </p:nvSpPr>
        <p:spPr>
          <a:xfrm>
            <a:off x="7895589" y="3001183"/>
            <a:ext cx="237745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69" name="Rounded Rectangle 27"/>
          <p:cNvSpPr/>
          <p:nvPr/>
        </p:nvSpPr>
        <p:spPr>
          <a:xfrm>
            <a:off x="8188197" y="2873167"/>
            <a:ext cx="1417321" cy="5486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TextBox 28"/>
          <p:cNvSpPr txBox="1"/>
          <p:nvPr/>
        </p:nvSpPr>
        <p:spPr>
          <a:xfrm>
            <a:off x="8233917" y="2982895"/>
            <a:ext cx="1325881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Whole transcript</a:t>
            </a:r>
          </a:p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re-embedded</a:t>
            </a:r>
          </a:p>
        </p:txBody>
      </p:sp>
      <p:sp>
        <p:nvSpPr>
          <p:cNvPr id="371" name="TextBox 29"/>
          <p:cNvSpPr txBox="1"/>
          <p:nvPr/>
        </p:nvSpPr>
        <p:spPr>
          <a:xfrm>
            <a:off x="9660381" y="3001183"/>
            <a:ext cx="237745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72" name="Rounded Rectangle 30"/>
          <p:cNvSpPr/>
          <p:nvPr/>
        </p:nvSpPr>
        <p:spPr>
          <a:xfrm>
            <a:off x="9952990" y="2873167"/>
            <a:ext cx="1417321" cy="5486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TextBox 31"/>
          <p:cNvSpPr txBox="1"/>
          <p:nvPr/>
        </p:nvSpPr>
        <p:spPr>
          <a:xfrm>
            <a:off x="9998709" y="2982895"/>
            <a:ext cx="1325881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Same signal</a:t>
            </a:r>
          </a:p>
          <a:p>
            <a:pPr algn="ctr">
              <a:defRPr b="1"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vectors</a:t>
            </a:r>
          </a:p>
        </p:txBody>
      </p:sp>
      <p:sp>
        <p:nvSpPr>
          <p:cNvPr id="374" name="TextBox 32"/>
          <p:cNvSpPr txBox="1"/>
          <p:nvPr/>
        </p:nvSpPr>
        <p:spPr>
          <a:xfrm>
            <a:off x="8727694" y="3431312"/>
            <a:ext cx="4572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375" name="Rounded Rectangle 33"/>
          <p:cNvSpPr/>
          <p:nvPr/>
        </p:nvSpPr>
        <p:spPr>
          <a:xfrm>
            <a:off x="6853173" y="3803907"/>
            <a:ext cx="4206242" cy="392300"/>
          </a:xfrm>
          <a:prstGeom prst="roundRect">
            <a:avLst>
              <a:gd name="adj" fmla="val 7925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6" name="TextBox 34"/>
          <p:cNvSpPr txBox="1"/>
          <p:nvPr/>
        </p:nvSpPr>
        <p:spPr>
          <a:xfrm>
            <a:off x="7100062" y="3857926"/>
            <a:ext cx="3703319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2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Show what came back: publisher · date · cosine</a:t>
            </a:r>
          </a:p>
        </p:txBody>
      </p:sp>
      <p:sp>
        <p:nvSpPr>
          <p:cNvPr id="377" name="TextBox 35"/>
          <p:cNvSpPr txBox="1"/>
          <p:nvPr/>
        </p:nvSpPr>
        <p:spPr>
          <a:xfrm>
            <a:off x="7836154" y="4339092"/>
            <a:ext cx="22402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beside the answer</a:t>
            </a:r>
          </a:p>
        </p:txBody>
      </p:sp>
      <p:sp>
        <p:nvSpPr>
          <p:cNvPr id="378" name="TextBox 36"/>
          <p:cNvSpPr txBox="1"/>
          <p:nvPr/>
        </p:nvSpPr>
        <p:spPr>
          <a:xfrm>
            <a:off x="731266" y="4854249"/>
            <a:ext cx="3611880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BOTH ROUTES GO THROUGH THE SAME GATE</a:t>
            </a:r>
          </a:p>
        </p:txBody>
      </p:sp>
      <p:sp>
        <p:nvSpPr>
          <p:cNvPr id="379" name="Rounded Rectangle 37"/>
          <p:cNvSpPr/>
          <p:nvPr/>
        </p:nvSpPr>
        <p:spPr>
          <a:xfrm>
            <a:off x="658114" y="5174288"/>
            <a:ext cx="10863072" cy="8229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B9372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0" name="TextBox 38"/>
          <p:cNvSpPr txBox="1"/>
          <p:nvPr/>
        </p:nvSpPr>
        <p:spPr>
          <a:xfrm>
            <a:off x="914146" y="5375457"/>
            <a:ext cx="164593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81" name="TextBox 39"/>
          <p:cNvSpPr txBox="1"/>
          <p:nvPr/>
        </p:nvSpPr>
        <p:spPr>
          <a:xfrm>
            <a:off x="1234186" y="5348025"/>
            <a:ext cx="1280161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Enough evidence?</a:t>
            </a:r>
          </a:p>
        </p:txBody>
      </p:sp>
      <p:sp>
        <p:nvSpPr>
          <p:cNvPr id="382" name="TextBox 40"/>
          <p:cNvSpPr txBox="1"/>
          <p:nvPr/>
        </p:nvSpPr>
        <p:spPr>
          <a:xfrm>
            <a:off x="2569210" y="5320593"/>
            <a:ext cx="2880361" cy="341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Brief must retrieve at least the run's own floor of signals using the run's own retrieval.</a:t>
            </a:r>
          </a:p>
        </p:txBody>
      </p:sp>
      <p:sp>
        <p:nvSpPr>
          <p:cNvPr id="383" name="TextBox 41"/>
          <p:cNvSpPr txBox="1"/>
          <p:nvPr/>
        </p:nvSpPr>
        <p:spPr>
          <a:xfrm>
            <a:off x="5696458" y="5375457"/>
            <a:ext cx="164593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84" name="TextBox 42"/>
          <p:cNvSpPr txBox="1"/>
          <p:nvPr/>
        </p:nvSpPr>
        <p:spPr>
          <a:xfrm>
            <a:off x="6016498" y="5348025"/>
            <a:ext cx="1481329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Independent support?</a:t>
            </a:r>
          </a:p>
        </p:txBody>
      </p:sp>
      <p:sp>
        <p:nvSpPr>
          <p:cNvPr id="385" name="TextBox 43"/>
          <p:cNvSpPr txBox="1"/>
          <p:nvPr/>
        </p:nvSpPr>
        <p:spPr>
          <a:xfrm>
            <a:off x="7543544" y="5320593"/>
            <a:ext cx="3520441" cy="341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 second reason is required on the use case or technology </a:t>
            </a:r>
          </a:p>
          <a:p>
            <a:pPr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never just the vertical.</a:t>
            </a:r>
          </a:p>
        </p:txBody>
      </p:sp>
      <p:sp>
        <p:nvSpPr>
          <p:cNvPr id="386" name="TextBox 44"/>
          <p:cNvSpPr txBox="1"/>
          <p:nvPr/>
        </p:nvSpPr>
        <p:spPr>
          <a:xfrm>
            <a:off x="4023105" y="6042969"/>
            <a:ext cx="4160520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100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corpus holds the gate — not the model.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Box 1"/>
          <p:cNvSpPr txBox="1"/>
          <p:nvPr/>
        </p:nvSpPr>
        <p:spPr>
          <a:xfrm>
            <a:off x="548639" y="256031"/>
            <a:ext cx="35661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FUNCTIONALITY</a:t>
            </a:r>
          </a:p>
        </p:txBody>
      </p:sp>
      <p:sp>
        <p:nvSpPr>
          <p:cNvPr id="389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7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MVP</a:t>
            </a:r>
          </a:p>
        </p:txBody>
      </p:sp>
      <p:sp>
        <p:nvSpPr>
          <p:cNvPr id="390" name="TextBox 3"/>
          <p:cNvSpPr txBox="1"/>
          <p:nvPr/>
        </p:nvSpPr>
        <p:spPr>
          <a:xfrm>
            <a:off x="548639" y="1207008"/>
            <a:ext cx="108813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Use the product for the functionality that was previously explained across separate slides.</a:t>
            </a:r>
          </a:p>
        </p:txBody>
      </p:sp>
      <p:sp>
        <p:nvSpPr>
          <p:cNvPr id="391" name="Rounded Rectangle 4"/>
          <p:cNvSpPr/>
          <p:nvPr/>
        </p:nvSpPr>
        <p:spPr>
          <a:xfrm>
            <a:off x="4572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2" name="TextBox 21"/>
          <p:cNvSpPr txBox="1"/>
          <p:nvPr/>
        </p:nvSpPr>
        <p:spPr>
          <a:xfrm>
            <a:off x="548639" y="6528816"/>
            <a:ext cx="52120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393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4" name="Rounded Rectangle 18"/>
          <p:cNvSpPr/>
          <p:nvPr/>
        </p:nvSpPr>
        <p:spPr>
          <a:xfrm>
            <a:off x="619954" y="324374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5" name="TextBox 19"/>
          <p:cNvSpPr txBox="1"/>
          <p:nvPr/>
        </p:nvSpPr>
        <p:spPr>
          <a:xfrm>
            <a:off x="665673" y="3298606"/>
            <a:ext cx="210312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Radar view</a:t>
            </a:r>
          </a:p>
        </p:txBody>
      </p:sp>
      <p:pic>
        <p:nvPicPr>
          <p:cNvPr id="396" name="Picture 6" descr="Picture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60558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sp>
        <p:nvSpPr>
          <p:cNvPr id="397" name="Rounded Rectangle 4"/>
          <p:cNvSpPr/>
          <p:nvPr/>
        </p:nvSpPr>
        <p:spPr>
          <a:xfrm>
            <a:off x="90805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Rounded Rectangle 12"/>
          <p:cNvSpPr/>
          <p:nvPr/>
        </p:nvSpPr>
        <p:spPr>
          <a:xfrm>
            <a:off x="9243254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TextBox 13"/>
          <p:cNvSpPr txBox="1"/>
          <p:nvPr/>
        </p:nvSpPr>
        <p:spPr>
          <a:xfrm>
            <a:off x="9288974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Generate</a:t>
            </a:r>
          </a:p>
        </p:txBody>
      </p:sp>
      <p:sp>
        <p:nvSpPr>
          <p:cNvPr id="400" name="Rounded Rectangle 4"/>
          <p:cNvSpPr/>
          <p:nvPr/>
        </p:nvSpPr>
        <p:spPr>
          <a:xfrm>
            <a:off x="62357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Rounded Rectangle 12"/>
          <p:cNvSpPr/>
          <p:nvPr/>
        </p:nvSpPr>
        <p:spPr>
          <a:xfrm>
            <a:off x="6398454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2" name="TextBox 13"/>
          <p:cNvSpPr txBox="1"/>
          <p:nvPr/>
        </p:nvSpPr>
        <p:spPr>
          <a:xfrm>
            <a:off x="6444174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Topic detail</a:t>
            </a:r>
          </a:p>
        </p:txBody>
      </p:sp>
      <p:sp>
        <p:nvSpPr>
          <p:cNvPr id="403" name="Rounded Rectangle 4"/>
          <p:cNvSpPr/>
          <p:nvPr/>
        </p:nvSpPr>
        <p:spPr>
          <a:xfrm>
            <a:off x="3370677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4" name="Rounded Rectangle 12"/>
          <p:cNvSpPr/>
          <p:nvPr/>
        </p:nvSpPr>
        <p:spPr>
          <a:xfrm>
            <a:off x="3533431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5" name="TextBox 13"/>
          <p:cNvSpPr txBox="1"/>
          <p:nvPr/>
        </p:nvSpPr>
        <p:spPr>
          <a:xfrm>
            <a:off x="3579150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Role-ranked list</a:t>
            </a:r>
          </a:p>
        </p:txBody>
      </p:sp>
      <p:sp>
        <p:nvSpPr>
          <p:cNvPr id="406" name="Rounded Rectangle 4"/>
          <p:cNvSpPr/>
          <p:nvPr/>
        </p:nvSpPr>
        <p:spPr>
          <a:xfrm>
            <a:off x="4166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7" name="Rounded Rectangle 12"/>
          <p:cNvSpPr/>
          <p:nvPr/>
        </p:nvSpPr>
        <p:spPr>
          <a:xfrm>
            <a:off x="579375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8" name="TextBox 13"/>
          <p:cNvSpPr txBox="1"/>
          <p:nvPr/>
        </p:nvSpPr>
        <p:spPr>
          <a:xfrm>
            <a:off x="625095" y="5496186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Analytics</a:t>
            </a:r>
          </a:p>
        </p:txBody>
      </p:sp>
      <p:sp>
        <p:nvSpPr>
          <p:cNvPr id="409" name="Rounded Rectangle 4"/>
          <p:cNvSpPr/>
          <p:nvPr/>
        </p:nvSpPr>
        <p:spPr>
          <a:xfrm>
            <a:off x="90399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0" name="Rounded Rectangle 12"/>
          <p:cNvSpPr/>
          <p:nvPr/>
        </p:nvSpPr>
        <p:spPr>
          <a:xfrm>
            <a:off x="9202676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1" name="TextBox 13"/>
          <p:cNvSpPr txBox="1"/>
          <p:nvPr/>
        </p:nvSpPr>
        <p:spPr>
          <a:xfrm>
            <a:off x="9248395" y="5496186"/>
            <a:ext cx="2103122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Planner</a:t>
            </a:r>
          </a:p>
        </p:txBody>
      </p:sp>
      <p:sp>
        <p:nvSpPr>
          <p:cNvPr id="412" name="Rounded Rectangle 4"/>
          <p:cNvSpPr/>
          <p:nvPr/>
        </p:nvSpPr>
        <p:spPr>
          <a:xfrm>
            <a:off x="61951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Rounded Rectangle 12"/>
          <p:cNvSpPr/>
          <p:nvPr/>
        </p:nvSpPr>
        <p:spPr>
          <a:xfrm>
            <a:off x="6357875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4" name="TextBox 13"/>
          <p:cNvSpPr txBox="1"/>
          <p:nvPr/>
        </p:nvSpPr>
        <p:spPr>
          <a:xfrm>
            <a:off x="6403595" y="5496186"/>
            <a:ext cx="2103122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Workflow</a:t>
            </a:r>
          </a:p>
        </p:txBody>
      </p:sp>
      <p:sp>
        <p:nvSpPr>
          <p:cNvPr id="415" name="Rounded Rectangle 4"/>
          <p:cNvSpPr/>
          <p:nvPr/>
        </p:nvSpPr>
        <p:spPr>
          <a:xfrm>
            <a:off x="3330099" y="4014858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6" name="Rounded Rectangle 12"/>
          <p:cNvSpPr/>
          <p:nvPr/>
        </p:nvSpPr>
        <p:spPr>
          <a:xfrm>
            <a:off x="3492852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7" name="TextBox 13"/>
          <p:cNvSpPr txBox="1"/>
          <p:nvPr/>
        </p:nvSpPr>
        <p:spPr>
          <a:xfrm>
            <a:off x="3538572" y="5496186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Coverage</a:t>
            </a:r>
          </a:p>
        </p:txBody>
      </p:sp>
      <p:pic>
        <p:nvPicPr>
          <p:cNvPr id="418" name="Picture 6" descr="Picture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87114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19" name="Picture 6" descr="Picture 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31914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0" name="Picture 6" descr="Picture 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25095" y="4120615"/>
            <a:ext cx="2103121" cy="1183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1" name="Picture 6" descr="Picture 6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243279" y="4120615"/>
            <a:ext cx="2115381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2" name="Picture 6" descr="Picture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439058" y="4120615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Image" descr="Image"/>
          <p:cNvPicPr>
            <a:picLocks noChangeAspect="1"/>
          </p:cNvPicPr>
          <p:nvPr/>
        </p:nvPicPr>
        <p:blipFill>
          <a:blip r:embed="rId8">
            <a:extLst/>
          </a:blip>
          <a:srcRect l="0" t="0" r="0" b="0"/>
          <a:stretch>
            <a:fillRect/>
          </a:stretch>
        </p:blipFill>
        <p:spPr>
          <a:xfrm>
            <a:off x="3554509" y="4120615"/>
            <a:ext cx="2107415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4" name="Image" descr="Image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9266590" y="1952258"/>
            <a:ext cx="2095202" cy="1183006"/>
          </a:xfrm>
          <a:prstGeom prst="rect">
            <a:avLst/>
          </a:prstGeom>
          <a:ln w="12700">
            <a:miter lim="400000"/>
          </a:ln>
        </p:spPr>
      </p:pic>
      <p:sp>
        <p:nvSpPr>
          <p:cNvPr id="425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STATUS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685799" y="7899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What the MVP has actually produced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Every figure below is read from the live database, not typed into this deck.</a:t>
            </a:r>
          </a:p>
        </p:txBody>
      </p:sp>
      <p:sp>
        <p:nvSpPr>
          <p:cNvPr id="431" name="TextBox 25"/>
          <p:cNvSpPr txBox="1"/>
          <p:nvPr/>
        </p:nvSpPr>
        <p:spPr>
          <a:xfrm>
            <a:off x="685800" y="3630167"/>
            <a:ext cx="10881360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Coverage of the evidenced grid</a:t>
            </a:r>
          </a:p>
        </p:txBody>
      </p:sp>
      <p:sp>
        <p:nvSpPr>
          <p:cNvPr id="432" name="Rectangle 26"/>
          <p:cNvSpPr/>
          <p:nvPr/>
        </p:nvSpPr>
        <p:spPr>
          <a:xfrm>
            <a:off x="685800" y="41193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3" name="TextBox 27"/>
          <p:cNvSpPr txBox="1"/>
          <p:nvPr/>
        </p:nvSpPr>
        <p:spPr>
          <a:xfrm>
            <a:off x="923544" y="40507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47 of 59 use cases, 33 of 38 technologies  </a:t>
            </a:r>
            <a:r>
              <a:rPr b="0">
                <a:solidFill>
                  <a:srgbClr val="6B6963"/>
                </a:solidFill>
              </a:rPr>
              <a:t>appear in at least one topic — the grid is sparse by design.</a:t>
            </a:r>
          </a:p>
        </p:txBody>
      </p:sp>
      <p:sp>
        <p:nvSpPr>
          <p:cNvPr id="434" name="Rectangle 28"/>
          <p:cNvSpPr/>
          <p:nvPr/>
        </p:nvSpPr>
        <p:spPr>
          <a:xfrm>
            <a:off x="685800" y="45765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5" name="TextBox 29"/>
          <p:cNvSpPr txBox="1"/>
          <p:nvPr/>
        </p:nvSpPr>
        <p:spPr>
          <a:xfrm>
            <a:off x="923544" y="45079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7,267 tier-1 signals  </a:t>
            </a:r>
            <a:r>
              <a:rPr b="0">
                <a:solidFill>
                  <a:srgbClr val="6B6963"/>
                </a:solidFill>
              </a:rPr>
              <a:t>from regulators, procurement portals, standards bodies and official statistics.</a:t>
            </a:r>
          </a:p>
        </p:txBody>
      </p:sp>
      <p:sp>
        <p:nvSpPr>
          <p:cNvPr id="436" name="Rectangle 30"/>
          <p:cNvSpPr/>
          <p:nvPr/>
        </p:nvSpPr>
        <p:spPr>
          <a:xfrm>
            <a:off x="685800" y="50337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7" name="TextBox 31"/>
          <p:cNvSpPr txBox="1"/>
          <p:nvPr/>
        </p:nvSpPr>
        <p:spPr>
          <a:xfrm>
            <a:off x="923544" y="49651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1,054 French-language signals  </a:t>
            </a:r>
            <a:r>
              <a:rPr b="0">
                <a:solidFill>
                  <a:srgbClr val="6B6963"/>
                </a:solidFill>
              </a:rPr>
              <a:t>so the anglophone bias named as a principal risk is measured, not assumed.</a:t>
            </a:r>
          </a:p>
        </p:txBody>
      </p:sp>
      <p:sp>
        <p:nvSpPr>
          <p:cNvPr id="438" name="Rectangle 32"/>
          <p:cNvSpPr/>
          <p:nvPr/>
        </p:nvSpPr>
        <p:spPr>
          <a:xfrm>
            <a:off x="685800" y="54909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9" name="TextBox 33"/>
          <p:cNvSpPr txBox="1"/>
          <p:nvPr/>
        </p:nvSpPr>
        <p:spPr>
          <a:xfrm>
            <a:off x="923544" y="54223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314 sized bottom-up · 181 competition-scored · 174 briefed  </a:t>
            </a:r>
            <a:r>
              <a:rPr b="0">
                <a:solidFill>
                  <a:srgbClr val="6B6963"/>
                </a:solidFill>
              </a:rPr>
              <a:t>each with its method and its confidence grade, never a quoted headline.</a:t>
            </a:r>
          </a:p>
        </p:txBody>
      </p:sp>
      <p:sp>
        <p:nvSpPr>
          <p:cNvPr id="440" name="Rectangle 34"/>
          <p:cNvSpPr/>
          <p:nvPr/>
        </p:nvSpPr>
        <p:spPr>
          <a:xfrm>
            <a:off x="685800" y="59481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1" name="TextBox 35"/>
          <p:cNvSpPr txBox="1"/>
          <p:nvPr/>
        </p:nvSpPr>
        <p:spPr>
          <a:xfrm>
            <a:off x="923544" y="58795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3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8 portfolio plans · 12 kinds of pre-sales artefact built  </a:t>
            </a:r>
            <a:r>
              <a:rPr b="0">
                <a:solidFill>
                  <a:srgbClr val="6B6963"/>
                </a:solidFill>
              </a:rPr>
              <a:t>the two things that turn a ranked list into a decision and a bid.</a:t>
            </a:r>
          </a:p>
        </p:txBody>
      </p:sp>
      <p:sp>
        <p:nvSpPr>
          <p:cNvPr id="442" name="TextBox 36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443" name="TextBox 37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444" name="Rounded Rectangle 4"/>
          <p:cNvSpPr/>
          <p:nvPr/>
        </p:nvSpPr>
        <p:spPr>
          <a:xfrm>
            <a:off x="640080" y="2029969"/>
            <a:ext cx="1742496" cy="1262124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TextBox 5"/>
          <p:cNvSpPr txBox="1"/>
          <p:nvPr/>
        </p:nvSpPr>
        <p:spPr>
          <a:xfrm>
            <a:off x="685800" y="2139695"/>
            <a:ext cx="1651056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418</a:t>
            </a:r>
          </a:p>
        </p:txBody>
      </p:sp>
      <p:sp>
        <p:nvSpPr>
          <p:cNvPr id="446" name="TextBox 6"/>
          <p:cNvSpPr txBox="1"/>
          <p:nvPr/>
        </p:nvSpPr>
        <p:spPr>
          <a:xfrm>
            <a:off x="685800" y="2642147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OPPORTUNITY SPACES</a:t>
            </a:r>
          </a:p>
        </p:txBody>
      </p:sp>
      <p:sp>
        <p:nvSpPr>
          <p:cNvPr id="447" name="TextBox 7"/>
          <p:cNvSpPr txBox="1"/>
          <p:nvPr/>
        </p:nvSpPr>
        <p:spPr>
          <a:xfrm>
            <a:off x="685800" y="2912969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15/15 verticals covered</a:t>
            </a:r>
          </a:p>
        </p:txBody>
      </p:sp>
      <p:sp>
        <p:nvSpPr>
          <p:cNvPr id="448" name="Rounded Rectangle 4"/>
          <p:cNvSpPr/>
          <p:nvPr/>
        </p:nvSpPr>
        <p:spPr>
          <a:xfrm>
            <a:off x="9635735" y="2027339"/>
            <a:ext cx="1742496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TextBox 5"/>
          <p:cNvSpPr txBox="1"/>
          <p:nvPr/>
        </p:nvSpPr>
        <p:spPr>
          <a:xfrm>
            <a:off x="9681455" y="2137066"/>
            <a:ext cx="1651056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26.7</a:t>
            </a:r>
          </a:p>
        </p:txBody>
      </p:sp>
      <p:sp>
        <p:nvSpPr>
          <p:cNvPr id="450" name="TextBox 6"/>
          <p:cNvSpPr txBox="1"/>
          <p:nvPr/>
        </p:nvSpPr>
        <p:spPr>
          <a:xfrm>
            <a:off x="9681455" y="2639517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SIGNALS PER TOPIC</a:t>
            </a:r>
          </a:p>
        </p:txBody>
      </p:sp>
      <p:sp>
        <p:nvSpPr>
          <p:cNvPr id="451" name="TextBox 7"/>
          <p:cNvSpPr txBox="1"/>
          <p:nvPr/>
        </p:nvSpPr>
        <p:spPr>
          <a:xfrm>
            <a:off x="9681455" y="2910339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after enrichment</a:t>
            </a:r>
          </a:p>
        </p:txBody>
      </p:sp>
      <p:sp>
        <p:nvSpPr>
          <p:cNvPr id="452" name="Rounded Rectangle 4"/>
          <p:cNvSpPr/>
          <p:nvPr/>
        </p:nvSpPr>
        <p:spPr>
          <a:xfrm>
            <a:off x="5169053" y="2027339"/>
            <a:ext cx="1742497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3" name="TextBox 5"/>
          <p:cNvSpPr txBox="1"/>
          <p:nvPr/>
        </p:nvSpPr>
        <p:spPr>
          <a:xfrm>
            <a:off x="5214773" y="2137066"/>
            <a:ext cx="1651057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34</a:t>
            </a:r>
          </a:p>
        </p:txBody>
      </p:sp>
      <p:sp>
        <p:nvSpPr>
          <p:cNvPr id="454" name="TextBox 6"/>
          <p:cNvSpPr txBox="1"/>
          <p:nvPr/>
        </p:nvSpPr>
        <p:spPr>
          <a:xfrm>
            <a:off x="5214773" y="2639517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LIVE SOURCES</a:t>
            </a:r>
          </a:p>
        </p:txBody>
      </p:sp>
      <p:sp>
        <p:nvSpPr>
          <p:cNvPr id="455" name="TextBox 7"/>
          <p:cNvSpPr txBox="1"/>
          <p:nvPr/>
        </p:nvSpPr>
        <p:spPr>
          <a:xfrm>
            <a:off x="5214773" y="2910339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33 enabled + internal intake</a:t>
            </a:r>
          </a:p>
        </p:txBody>
      </p:sp>
      <p:sp>
        <p:nvSpPr>
          <p:cNvPr id="456" name="Rounded Rectangle 4"/>
          <p:cNvSpPr/>
          <p:nvPr/>
        </p:nvSpPr>
        <p:spPr>
          <a:xfrm>
            <a:off x="2904566" y="2029969"/>
            <a:ext cx="1742497" cy="1262124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7" name="TextBox 5"/>
          <p:cNvSpPr txBox="1"/>
          <p:nvPr/>
        </p:nvSpPr>
        <p:spPr>
          <a:xfrm>
            <a:off x="2950286" y="2139696"/>
            <a:ext cx="1651057" cy="486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11,354</a:t>
            </a:r>
          </a:p>
        </p:txBody>
      </p:sp>
      <p:sp>
        <p:nvSpPr>
          <p:cNvPr id="458" name="TextBox 6"/>
          <p:cNvSpPr txBox="1"/>
          <p:nvPr/>
        </p:nvSpPr>
        <p:spPr>
          <a:xfrm>
            <a:off x="2950286" y="2642147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SIGNALS INGESTED</a:t>
            </a:r>
          </a:p>
        </p:txBody>
      </p:sp>
      <p:sp>
        <p:nvSpPr>
          <p:cNvPr id="459" name="TextBox 7"/>
          <p:cNvSpPr txBox="1"/>
          <p:nvPr/>
        </p:nvSpPr>
        <p:spPr>
          <a:xfrm>
            <a:off x="2950286" y="2912969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6,804 passed the gate</a:t>
            </a:r>
          </a:p>
        </p:txBody>
      </p:sp>
      <p:sp>
        <p:nvSpPr>
          <p:cNvPr id="460" name="Rounded Rectangle 4"/>
          <p:cNvSpPr/>
          <p:nvPr/>
        </p:nvSpPr>
        <p:spPr>
          <a:xfrm>
            <a:off x="7402394" y="2022080"/>
            <a:ext cx="1742497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TextBox 5"/>
          <p:cNvSpPr txBox="1"/>
          <p:nvPr/>
        </p:nvSpPr>
        <p:spPr>
          <a:xfrm>
            <a:off x="7448114" y="2131807"/>
            <a:ext cx="1651057" cy="486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4,832</a:t>
            </a:r>
          </a:p>
        </p:txBody>
      </p:sp>
      <p:sp>
        <p:nvSpPr>
          <p:cNvPr id="462" name="TextBox 6"/>
          <p:cNvSpPr txBox="1"/>
          <p:nvPr/>
        </p:nvSpPr>
        <p:spPr>
          <a:xfrm>
            <a:off x="7448114" y="2634258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ASSET LINKS</a:t>
            </a:r>
          </a:p>
        </p:txBody>
      </p:sp>
      <p:sp>
        <p:nvSpPr>
          <p:cNvPr id="463" name="TextBox 7"/>
          <p:cNvSpPr txBox="1"/>
          <p:nvPr/>
        </p:nvSpPr>
        <p:spPr>
          <a:xfrm>
            <a:off x="7448114" y="2905080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181 graph nodes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46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Seven pipeline stages, each with a contract</a:t>
            </a:r>
          </a:p>
        </p:txBody>
      </p:sp>
      <p:sp>
        <p:nvSpPr>
          <p:cNvPr id="468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Stages can be developed, tested and replaced independently.</a:t>
            </a:r>
          </a:p>
        </p:txBody>
      </p:sp>
      <p:sp>
        <p:nvSpPr>
          <p:cNvPr id="469" name="Rectangle 5"/>
          <p:cNvSpPr/>
          <p:nvPr/>
        </p:nvSpPr>
        <p:spPr>
          <a:xfrm>
            <a:off x="661906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0" name="TextBox 6"/>
          <p:cNvSpPr txBox="1"/>
          <p:nvPr/>
        </p:nvSpPr>
        <p:spPr>
          <a:xfrm>
            <a:off x="771634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 Collect</a:t>
            </a:r>
          </a:p>
        </p:txBody>
      </p:sp>
      <p:sp>
        <p:nvSpPr>
          <p:cNvPr id="471" name="TextBox 7"/>
          <p:cNvSpPr txBox="1"/>
          <p:nvPr/>
        </p:nvSpPr>
        <p:spPr>
          <a:xfrm>
            <a:off x="771634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connectors</a:t>
            </a:r>
          </a:p>
        </p:txBody>
      </p:sp>
      <p:sp>
        <p:nvSpPr>
          <p:cNvPr id="472" name="TextBox 8"/>
          <p:cNvSpPr txBox="1"/>
          <p:nvPr/>
        </p:nvSpPr>
        <p:spPr>
          <a:xfrm>
            <a:off x="771634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source config → raw items</a:t>
            </a:r>
          </a:p>
        </p:txBody>
      </p:sp>
      <p:sp>
        <p:nvSpPr>
          <p:cNvPr id="473" name="Rectangle 9"/>
          <p:cNvSpPr/>
          <p:nvPr/>
        </p:nvSpPr>
        <p:spPr>
          <a:xfrm>
            <a:off x="2024362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4" name="TextBox 10"/>
          <p:cNvSpPr txBox="1"/>
          <p:nvPr/>
        </p:nvSpPr>
        <p:spPr>
          <a:xfrm>
            <a:off x="2134090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 Normalise</a:t>
            </a:r>
          </a:p>
        </p:txBody>
      </p:sp>
      <p:sp>
        <p:nvSpPr>
          <p:cNvPr id="475" name="TextBox 11"/>
          <p:cNvSpPr txBox="1"/>
          <p:nvPr/>
        </p:nvSpPr>
        <p:spPr>
          <a:xfrm>
            <a:off x="2134090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ingest</a:t>
            </a:r>
          </a:p>
        </p:txBody>
      </p:sp>
      <p:sp>
        <p:nvSpPr>
          <p:cNvPr id="476" name="TextBox 12"/>
          <p:cNvSpPr txBox="1"/>
          <p:nvPr/>
        </p:nvSpPr>
        <p:spPr>
          <a:xfrm>
            <a:off x="2134090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raw items → signal records</a:t>
            </a:r>
          </a:p>
        </p:txBody>
      </p:sp>
      <p:sp>
        <p:nvSpPr>
          <p:cNvPr id="477" name="Rectangle 13"/>
          <p:cNvSpPr/>
          <p:nvPr/>
        </p:nvSpPr>
        <p:spPr>
          <a:xfrm>
            <a:off x="3386818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8" name="TextBox 14"/>
          <p:cNvSpPr txBox="1"/>
          <p:nvPr/>
        </p:nvSpPr>
        <p:spPr>
          <a:xfrm>
            <a:off x="3496547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3 Classify</a:t>
            </a:r>
          </a:p>
        </p:txBody>
      </p:sp>
      <p:sp>
        <p:nvSpPr>
          <p:cNvPr id="479" name="TextBox 15"/>
          <p:cNvSpPr txBox="1"/>
          <p:nvPr/>
        </p:nvSpPr>
        <p:spPr>
          <a:xfrm>
            <a:off x="3496547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ingest</a:t>
            </a:r>
          </a:p>
        </p:txBody>
      </p:sp>
      <p:sp>
        <p:nvSpPr>
          <p:cNvPr id="480" name="TextBox 16"/>
          <p:cNvSpPr txBox="1"/>
          <p:nvPr/>
        </p:nvSpPr>
        <p:spPr>
          <a:xfrm>
            <a:off x="3496547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typed, tiered signals</a:t>
            </a:r>
          </a:p>
        </p:txBody>
      </p:sp>
      <p:sp>
        <p:nvSpPr>
          <p:cNvPr id="481" name="Rectangle 17"/>
          <p:cNvSpPr/>
          <p:nvPr/>
        </p:nvSpPr>
        <p:spPr>
          <a:xfrm>
            <a:off x="4749274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2" name="TextBox 18"/>
          <p:cNvSpPr txBox="1"/>
          <p:nvPr/>
        </p:nvSpPr>
        <p:spPr>
          <a:xfrm>
            <a:off x="4859002" y="1974543"/>
            <a:ext cx="1097282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 Themes</a:t>
            </a:r>
          </a:p>
        </p:txBody>
      </p:sp>
      <p:sp>
        <p:nvSpPr>
          <p:cNvPr id="483" name="TextBox 19"/>
          <p:cNvSpPr txBox="1"/>
          <p:nvPr/>
        </p:nvSpPr>
        <p:spPr>
          <a:xfrm>
            <a:off x="4859002" y="2358591"/>
            <a:ext cx="10972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themes</a:t>
            </a:r>
          </a:p>
        </p:txBody>
      </p:sp>
      <p:sp>
        <p:nvSpPr>
          <p:cNvPr id="484" name="TextBox 20"/>
          <p:cNvSpPr txBox="1"/>
          <p:nvPr/>
        </p:nvSpPr>
        <p:spPr>
          <a:xfrm>
            <a:off x="4859002" y="2614623"/>
            <a:ext cx="1097282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theme clusters</a:t>
            </a:r>
          </a:p>
        </p:txBody>
      </p:sp>
      <p:sp>
        <p:nvSpPr>
          <p:cNvPr id="485" name="Rectangle 21"/>
          <p:cNvSpPr/>
          <p:nvPr/>
        </p:nvSpPr>
        <p:spPr>
          <a:xfrm>
            <a:off x="6111730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6" name="TextBox 22"/>
          <p:cNvSpPr txBox="1"/>
          <p:nvPr/>
        </p:nvSpPr>
        <p:spPr>
          <a:xfrm>
            <a:off x="6221458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5 Synthesise</a:t>
            </a:r>
          </a:p>
        </p:txBody>
      </p:sp>
      <p:sp>
        <p:nvSpPr>
          <p:cNvPr id="487" name="TextBox 23"/>
          <p:cNvSpPr txBox="1"/>
          <p:nvPr/>
        </p:nvSpPr>
        <p:spPr>
          <a:xfrm>
            <a:off x="6221458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synthesis</a:t>
            </a:r>
          </a:p>
        </p:txBody>
      </p:sp>
      <p:sp>
        <p:nvSpPr>
          <p:cNvPr id="488" name="TextBox 24"/>
          <p:cNvSpPr txBox="1"/>
          <p:nvPr/>
        </p:nvSpPr>
        <p:spPr>
          <a:xfrm>
            <a:off x="6221458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candidate spaces</a:t>
            </a:r>
          </a:p>
        </p:txBody>
      </p:sp>
      <p:sp>
        <p:nvSpPr>
          <p:cNvPr id="489" name="Rectangle 25"/>
          <p:cNvSpPr/>
          <p:nvPr/>
        </p:nvSpPr>
        <p:spPr>
          <a:xfrm>
            <a:off x="7474187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0" name="TextBox 26"/>
          <p:cNvSpPr txBox="1"/>
          <p:nvPr/>
        </p:nvSpPr>
        <p:spPr>
          <a:xfrm>
            <a:off x="7583914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5b Enrich</a:t>
            </a:r>
          </a:p>
        </p:txBody>
      </p:sp>
      <p:sp>
        <p:nvSpPr>
          <p:cNvPr id="491" name="TextBox 27"/>
          <p:cNvSpPr txBox="1"/>
          <p:nvPr/>
        </p:nvSpPr>
        <p:spPr>
          <a:xfrm>
            <a:off x="7583914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enrich</a:t>
            </a:r>
          </a:p>
        </p:txBody>
      </p:sp>
      <p:sp>
        <p:nvSpPr>
          <p:cNvPr id="492" name="TextBox 28"/>
          <p:cNvSpPr txBox="1"/>
          <p:nvPr/>
        </p:nvSpPr>
        <p:spPr>
          <a:xfrm>
            <a:off x="7583914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more evidence per topic</a:t>
            </a:r>
          </a:p>
        </p:txBody>
      </p:sp>
      <p:sp>
        <p:nvSpPr>
          <p:cNvPr id="493" name="Rectangle 29"/>
          <p:cNvSpPr/>
          <p:nvPr/>
        </p:nvSpPr>
        <p:spPr>
          <a:xfrm>
            <a:off x="8836642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4" name="TextBox 30"/>
          <p:cNvSpPr txBox="1"/>
          <p:nvPr/>
        </p:nvSpPr>
        <p:spPr>
          <a:xfrm>
            <a:off x="8946370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6 Score</a:t>
            </a:r>
          </a:p>
        </p:txBody>
      </p:sp>
      <p:sp>
        <p:nvSpPr>
          <p:cNvPr id="495" name="TextBox 31"/>
          <p:cNvSpPr txBox="1"/>
          <p:nvPr/>
        </p:nvSpPr>
        <p:spPr>
          <a:xfrm>
            <a:off x="8946370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graph + scoring</a:t>
            </a:r>
          </a:p>
        </p:txBody>
      </p:sp>
      <p:sp>
        <p:nvSpPr>
          <p:cNvPr id="496" name="TextBox 32"/>
          <p:cNvSpPr txBox="1"/>
          <p:nvPr/>
        </p:nvSpPr>
        <p:spPr>
          <a:xfrm>
            <a:off x="8946370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ranked spaces</a:t>
            </a:r>
          </a:p>
        </p:txBody>
      </p:sp>
      <p:sp>
        <p:nvSpPr>
          <p:cNvPr id="497" name="Rectangle 33"/>
          <p:cNvSpPr/>
          <p:nvPr/>
        </p:nvSpPr>
        <p:spPr>
          <a:xfrm>
            <a:off x="10199099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8" name="TextBox 34"/>
          <p:cNvSpPr txBox="1"/>
          <p:nvPr/>
        </p:nvSpPr>
        <p:spPr>
          <a:xfrm>
            <a:off x="10308826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 Serve</a:t>
            </a:r>
          </a:p>
        </p:txBody>
      </p:sp>
      <p:sp>
        <p:nvSpPr>
          <p:cNvPr id="499" name="TextBox 35"/>
          <p:cNvSpPr txBox="1"/>
          <p:nvPr/>
        </p:nvSpPr>
        <p:spPr>
          <a:xfrm>
            <a:off x="10308826" y="2358591"/>
            <a:ext cx="12085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read model + api</a:t>
            </a:r>
          </a:p>
        </p:txBody>
      </p:sp>
      <p:sp>
        <p:nvSpPr>
          <p:cNvPr id="500" name="TextBox 36"/>
          <p:cNvSpPr txBox="1"/>
          <p:nvPr/>
        </p:nvSpPr>
        <p:spPr>
          <a:xfrm>
            <a:off x="10308826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→ radar, briefs, API</a:t>
            </a:r>
          </a:p>
        </p:txBody>
      </p:sp>
      <p:sp>
        <p:nvSpPr>
          <p:cNvPr id="501" name="TextBox 48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502" name="TextBox 49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503" name="Rounded Rectangle 59"/>
          <p:cNvSpPr/>
          <p:nvPr/>
        </p:nvSpPr>
        <p:spPr>
          <a:xfrm>
            <a:off x="640080" y="3435603"/>
            <a:ext cx="1691640" cy="310897"/>
          </a:xfrm>
          <a:prstGeom prst="roundRect">
            <a:avLst>
              <a:gd name="adj" fmla="val 5000"/>
            </a:avLst>
          </a:prstGeom>
          <a:solidFill>
            <a:srgbClr val="373737"/>
          </a:solidFill>
          <a:ln w="12700">
            <a:solidFill>
              <a:srgbClr val="37373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04" name="TextBox 60"/>
          <p:cNvSpPr txBox="1"/>
          <p:nvPr/>
        </p:nvSpPr>
        <p:spPr>
          <a:xfrm>
            <a:off x="685800" y="3485895"/>
            <a:ext cx="16002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PARALLEL, SLOWER PATH</a:t>
            </a:r>
          </a:p>
        </p:txBody>
      </p:sp>
      <p:sp>
        <p:nvSpPr>
          <p:cNvPr id="505" name="TextBox 61"/>
          <p:cNvSpPr txBox="1"/>
          <p:nvPr/>
        </p:nvSpPr>
        <p:spPr>
          <a:xfrm>
            <a:off x="2532888" y="3490467"/>
            <a:ext cx="19659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Orange Business Graph</a:t>
            </a:r>
          </a:p>
        </p:txBody>
      </p:sp>
      <p:sp>
        <p:nvSpPr>
          <p:cNvPr id="506" name="TextBox 62"/>
          <p:cNvSpPr txBox="1"/>
          <p:nvPr/>
        </p:nvSpPr>
        <p:spPr>
          <a:xfrm>
            <a:off x="8765632" y="3473759"/>
            <a:ext cx="118872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joins at stage 6</a:t>
            </a:r>
          </a:p>
        </p:txBody>
      </p:sp>
      <p:sp>
        <p:nvSpPr>
          <p:cNvPr id="507" name="Rounded Rectangle 63"/>
          <p:cNvSpPr/>
          <p:nvPr/>
        </p:nvSpPr>
        <p:spPr>
          <a:xfrm>
            <a:off x="658368" y="3819651"/>
            <a:ext cx="10561320" cy="6949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08" name="TextBox 64"/>
          <p:cNvSpPr txBox="1"/>
          <p:nvPr/>
        </p:nvSpPr>
        <p:spPr>
          <a:xfrm>
            <a:off x="905255" y="3956811"/>
            <a:ext cx="9948673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9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Offers  ·  references  ·  partners with tiers  ·  certifications  ·  analyst positions  ·  capability pools  ·  research assets</a:t>
            </a:r>
          </a:p>
        </p:txBody>
      </p:sp>
      <p:sp>
        <p:nvSpPr>
          <p:cNvPr id="509" name="TextBox 65"/>
          <p:cNvSpPr txBox="1"/>
          <p:nvPr/>
        </p:nvSpPr>
        <p:spPr>
          <a:xfrm>
            <a:off x="905255" y="4231131"/>
            <a:ext cx="994867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Links are typed L0–L4 and carry the evidence that justified them. Right-to-win can improve without re-running discovery.</a:t>
            </a:r>
          </a:p>
        </p:txBody>
      </p:sp>
      <p:sp>
        <p:nvSpPr>
          <p:cNvPr id="510" name="TextBox 66"/>
          <p:cNvSpPr txBox="1"/>
          <p:nvPr/>
        </p:nvSpPr>
        <p:spPr>
          <a:xfrm>
            <a:off x="9357850" y="3116355"/>
            <a:ext cx="27432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↑</a:t>
            </a:r>
          </a:p>
        </p:txBody>
      </p:sp>
      <p:sp>
        <p:nvSpPr>
          <p:cNvPr id="511" name="TextBox 67"/>
          <p:cNvSpPr txBox="1"/>
          <p:nvPr/>
        </p:nvSpPr>
        <p:spPr>
          <a:xfrm>
            <a:off x="648517" y="4696510"/>
            <a:ext cx="31546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TWO SUBSYSTEMS SIT BESIDE THE PIPELINE</a:t>
            </a:r>
          </a:p>
        </p:txBody>
      </p:sp>
      <p:sp>
        <p:nvSpPr>
          <p:cNvPr id="512" name="Rounded Rectangle 68"/>
          <p:cNvSpPr/>
          <p:nvPr/>
        </p:nvSpPr>
        <p:spPr>
          <a:xfrm>
            <a:off x="658368" y="4996668"/>
            <a:ext cx="5074921" cy="1253073"/>
          </a:xfrm>
          <a:prstGeom prst="roundRect">
            <a:avLst>
              <a:gd name="adj" fmla="val 4305"/>
            </a:avLst>
          </a:prstGeom>
          <a:solidFill>
            <a:srgbClr val="F7F7F5"/>
          </a:solidFill>
          <a:ln w="12700">
            <a:solidFill>
              <a:srgbClr val="DEDED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13" name="Rounded Rectangle 69"/>
          <p:cNvSpPr/>
          <p:nvPr/>
        </p:nvSpPr>
        <p:spPr>
          <a:xfrm>
            <a:off x="868680" y="5197836"/>
            <a:ext cx="1188720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 w="12700"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14" name="TextBox 70"/>
          <p:cNvSpPr txBox="1"/>
          <p:nvPr/>
        </p:nvSpPr>
        <p:spPr>
          <a:xfrm>
            <a:off x="914400" y="5248127"/>
            <a:ext cx="109728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PLANNER</a:t>
            </a:r>
          </a:p>
        </p:txBody>
      </p:sp>
      <p:sp>
        <p:nvSpPr>
          <p:cNvPr id="515" name="TextBox 71"/>
          <p:cNvSpPr txBox="1"/>
          <p:nvPr/>
        </p:nvSpPr>
        <p:spPr>
          <a:xfrm>
            <a:off x="2258568" y="5252700"/>
            <a:ext cx="19202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planner.py · plan_report.py</a:t>
            </a:r>
          </a:p>
        </p:txBody>
      </p:sp>
      <p:sp>
        <p:nvSpPr>
          <p:cNvPr id="516" name="TextBox 72"/>
          <p:cNvSpPr txBox="1"/>
          <p:nvPr/>
        </p:nvSpPr>
        <p:spPr>
          <a:xfrm>
            <a:off x="923544" y="5600172"/>
            <a:ext cx="4462272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Reads the read model + assumptions → selects a set → schedules it → projects five years → writes one PDF.</a:t>
            </a:r>
          </a:p>
        </p:txBody>
      </p:sp>
      <p:sp>
        <p:nvSpPr>
          <p:cNvPr id="517" name="TextBox 73"/>
          <p:cNvSpPr txBox="1"/>
          <p:nvPr/>
        </p:nvSpPr>
        <p:spPr>
          <a:xfrm>
            <a:off x="923544" y="5911068"/>
            <a:ext cx="446227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One model call, after every number is fixed.</a:t>
            </a:r>
          </a:p>
        </p:txBody>
      </p:sp>
      <p:sp>
        <p:nvSpPr>
          <p:cNvPr id="518" name="Rounded Rectangle 74"/>
          <p:cNvSpPr/>
          <p:nvPr/>
        </p:nvSpPr>
        <p:spPr>
          <a:xfrm>
            <a:off x="5943600" y="4996668"/>
            <a:ext cx="5276089" cy="1253073"/>
          </a:xfrm>
          <a:prstGeom prst="roundRect">
            <a:avLst>
              <a:gd name="adj" fmla="val 4305"/>
            </a:avLst>
          </a:prstGeom>
          <a:solidFill>
            <a:srgbClr val="FFF5EC"/>
          </a:solidFill>
          <a:ln w="12700"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19" name="Rounded Rectangle 75"/>
          <p:cNvSpPr/>
          <p:nvPr/>
        </p:nvSpPr>
        <p:spPr>
          <a:xfrm>
            <a:off x="6163055" y="5197836"/>
            <a:ext cx="17830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 w="12700">
            <a:solidFill>
              <a:srgbClr val="FF79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20" name="TextBox 76"/>
          <p:cNvSpPr txBox="1"/>
          <p:nvPr/>
        </p:nvSpPr>
        <p:spPr>
          <a:xfrm>
            <a:off x="6208776" y="5248127"/>
            <a:ext cx="16916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PRE-SALES COLLATERAL</a:t>
            </a:r>
          </a:p>
        </p:txBody>
      </p:sp>
      <p:sp>
        <p:nvSpPr>
          <p:cNvPr id="521" name="TextBox 77"/>
          <p:cNvSpPr txBox="1"/>
          <p:nvPr/>
        </p:nvSpPr>
        <p:spPr>
          <a:xfrm>
            <a:off x="8138159" y="5252700"/>
            <a:ext cx="86868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presales/</a:t>
            </a:r>
          </a:p>
        </p:txBody>
      </p:sp>
      <p:sp>
        <p:nvSpPr>
          <p:cNvPr id="522" name="TextBox 78"/>
          <p:cNvSpPr txBox="1"/>
          <p:nvPr/>
        </p:nvSpPr>
        <p:spPr>
          <a:xfrm>
            <a:off x="6217920" y="5600172"/>
            <a:ext cx="45720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Reads ONE snapshot of a space → emits 12 artefacts in 5 formats.</a:t>
            </a:r>
          </a:p>
        </p:txBody>
      </p:sp>
      <p:sp>
        <p:nvSpPr>
          <p:cNvPr id="523" name="TextBox 79"/>
          <p:cNvSpPr txBox="1"/>
          <p:nvPr/>
        </p:nvSpPr>
        <p:spPr>
          <a:xfrm>
            <a:off x="6217920" y="5911068"/>
            <a:ext cx="45720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00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Nothing in a pack can disagree with anything else in it.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52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Stack and separation of concerns</a:t>
            </a:r>
          </a:p>
        </p:txBody>
      </p:sp>
      <p:sp>
        <p:nvSpPr>
          <p:cNvPr id="528" name="Rectangle 4"/>
          <p:cNvSpPr/>
          <p:nvPr/>
        </p:nvSpPr>
        <p:spPr>
          <a:xfrm>
            <a:off x="685799" y="1737360"/>
            <a:ext cx="3520442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9" name="Rectangle 5"/>
          <p:cNvSpPr/>
          <p:nvPr/>
        </p:nvSpPr>
        <p:spPr>
          <a:xfrm>
            <a:off x="685799" y="1737360"/>
            <a:ext cx="3520442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0" name="TextBox 6"/>
          <p:cNvSpPr txBox="1"/>
          <p:nvPr/>
        </p:nvSpPr>
        <p:spPr>
          <a:xfrm>
            <a:off x="941832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INGESTION</a:t>
            </a:r>
          </a:p>
        </p:txBody>
      </p:sp>
      <p:sp>
        <p:nvSpPr>
          <p:cNvPr id="531" name="TextBox 7"/>
          <p:cNvSpPr txBox="1"/>
          <p:nvPr/>
        </p:nvSpPr>
        <p:spPr>
          <a:xfrm>
            <a:off x="941832" y="2395727"/>
            <a:ext cx="3008377" cy="1547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33 enabled sources across 17 connector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types: TED, BOAMP, UK Contracts,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EUR-Lex SPARQL, Have-your-say, GDELT,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news RSS (EN/FR), Hacker News, OpenAlex,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Crossref, arXiv, CORDIS, NIST, CERT-FR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Parallel fetch · circuit breaker ·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per-host pacing · replay-safe dates</a:t>
            </a:r>
          </a:p>
        </p:txBody>
      </p:sp>
      <p:sp>
        <p:nvSpPr>
          <p:cNvPr id="532" name="Rectangle 8"/>
          <p:cNvSpPr/>
          <p:nvPr/>
        </p:nvSpPr>
        <p:spPr>
          <a:xfrm>
            <a:off x="4462271" y="1737360"/>
            <a:ext cx="3520441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3" name="Rectangle 9"/>
          <p:cNvSpPr/>
          <p:nvPr/>
        </p:nvSpPr>
        <p:spPr>
          <a:xfrm>
            <a:off x="4462271" y="1737360"/>
            <a:ext cx="3520441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4" name="TextBox 10"/>
          <p:cNvSpPr txBox="1"/>
          <p:nvPr/>
        </p:nvSpPr>
        <p:spPr>
          <a:xfrm>
            <a:off x="4718303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INTELLIGENCE</a:t>
            </a:r>
          </a:p>
        </p:txBody>
      </p:sp>
      <p:sp>
        <p:nvSpPr>
          <p:cNvPr id="535" name="TextBox 11"/>
          <p:cNvSpPr txBox="1"/>
          <p:nvPr/>
        </p:nvSpPr>
        <p:spPr>
          <a:xfrm>
            <a:off x="4718303" y="2395727"/>
            <a:ext cx="3008377" cy="1547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DeepSeek behind a provider-agnostic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client (swap to Ollama via .env alone)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Local sentence-transformers for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embeddings and clustering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Deterministic where possible,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generative only where it earns its place</a:t>
            </a:r>
          </a:p>
        </p:txBody>
      </p:sp>
      <p:sp>
        <p:nvSpPr>
          <p:cNvPr id="536" name="Rectangle 12"/>
          <p:cNvSpPr/>
          <p:nvPr/>
        </p:nvSpPr>
        <p:spPr>
          <a:xfrm>
            <a:off x="8238743" y="1737360"/>
            <a:ext cx="3520441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7" name="Rectangle 13"/>
          <p:cNvSpPr/>
          <p:nvPr/>
        </p:nvSpPr>
        <p:spPr>
          <a:xfrm>
            <a:off x="8238743" y="1737360"/>
            <a:ext cx="3520441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8" name="TextBox 14"/>
          <p:cNvSpPr txBox="1"/>
          <p:nvPr/>
        </p:nvSpPr>
        <p:spPr>
          <a:xfrm>
            <a:off x="8494776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SERVING</a:t>
            </a:r>
          </a:p>
        </p:txBody>
      </p:sp>
      <p:sp>
        <p:nvSpPr>
          <p:cNvPr id="539" name="TextBox 15"/>
          <p:cNvSpPr txBox="1"/>
          <p:nvPr/>
        </p:nvSpPr>
        <p:spPr>
          <a:xfrm>
            <a:off x="8494776" y="2395727"/>
            <a:ext cx="3008377" cy="2547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SQLite — the graph is thousands of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nodes, not millions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FastAPI read API behind a session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guard applied to the whole app,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not route by route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React + Vite + TypeScript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Hand-drawn SVG radar, no chart library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scipy milp for portfolio selection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reportlab / python-pptx / python-docx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for every document it emits</a:t>
            </a:r>
          </a:p>
        </p:txBody>
      </p:sp>
      <p:sp>
        <p:nvSpPr>
          <p:cNvPr id="540" name="TextBox 16"/>
          <p:cNvSpPr txBox="1"/>
          <p:nvPr/>
        </p:nvSpPr>
        <p:spPr>
          <a:xfrm>
            <a:off x="648970" y="5531825"/>
            <a:ext cx="10881360" cy="4120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Taxonomies, weights, thresholds, sources, the business graph and the crosswalks are all configuration, not code — and are validated at load time, so a dangling id is a startup error rather than a wrong number three stages later.</a:t>
            </a:r>
          </a:p>
        </p:txBody>
      </p:sp>
      <p:sp>
        <p:nvSpPr>
          <p:cNvPr id="541" name="TextBox 17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542" name="TextBox 18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5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546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What makes the numbers defensible</a:t>
            </a:r>
          </a:p>
        </p:txBody>
      </p:sp>
      <p:sp>
        <p:nvSpPr>
          <p:cNvPr id="547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governing constraint: if a user cannot explain why a topic is ranked where it is, the scoring is not good enough.</a:t>
            </a:r>
          </a:p>
        </p:txBody>
      </p:sp>
      <p:sp>
        <p:nvSpPr>
          <p:cNvPr id="548" name="Rectangle 5"/>
          <p:cNvSpPr/>
          <p:nvPr/>
        </p:nvSpPr>
        <p:spPr>
          <a:xfrm>
            <a:off x="685800" y="22037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9" name="TextBox 6"/>
          <p:cNvSpPr txBox="1"/>
          <p:nvPr/>
        </p:nvSpPr>
        <p:spPr>
          <a:xfrm>
            <a:off x="905255" y="21488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Decomposable</a:t>
            </a:r>
          </a:p>
        </p:txBody>
      </p:sp>
      <p:sp>
        <p:nvSpPr>
          <p:cNvPr id="550" name="TextBox 7"/>
          <p:cNvSpPr txBox="1"/>
          <p:nvPr/>
        </p:nvSpPr>
        <p:spPr>
          <a:xfrm>
            <a:off x="905255" y="2423160"/>
            <a:ext cx="5120642" cy="148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Every displayed number breaks into named components; no opaque scores.</a:t>
            </a:r>
          </a:p>
        </p:txBody>
      </p:sp>
      <p:sp>
        <p:nvSpPr>
          <p:cNvPr id="551" name="Rectangle 8"/>
          <p:cNvSpPr/>
          <p:nvPr/>
        </p:nvSpPr>
        <p:spPr>
          <a:xfrm>
            <a:off x="6355079" y="22037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TextBox 9"/>
          <p:cNvSpPr txBox="1"/>
          <p:nvPr/>
        </p:nvSpPr>
        <p:spPr>
          <a:xfrm>
            <a:off x="6574535" y="21488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Reproducible</a:t>
            </a:r>
          </a:p>
        </p:txBody>
      </p:sp>
      <p:sp>
        <p:nvSpPr>
          <p:cNvPr id="553" name="TextBox 10"/>
          <p:cNvSpPr txBox="1"/>
          <p:nvPr/>
        </p:nvSpPr>
        <p:spPr>
          <a:xfrm>
            <a:off x="6574535" y="2423160"/>
            <a:ext cx="5120642" cy="345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Every component stores the inputs used to compute it, so any number can be re-derived.</a:t>
            </a:r>
          </a:p>
        </p:txBody>
      </p:sp>
      <p:sp>
        <p:nvSpPr>
          <p:cNvPr id="554" name="Rectangle 11"/>
          <p:cNvSpPr/>
          <p:nvPr/>
        </p:nvSpPr>
        <p:spPr>
          <a:xfrm>
            <a:off x="685800" y="31181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5" name="TextBox 12"/>
          <p:cNvSpPr txBox="1"/>
          <p:nvPr/>
        </p:nvSpPr>
        <p:spPr>
          <a:xfrm>
            <a:off x="905255" y="30632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Traceable</a:t>
            </a:r>
          </a:p>
        </p:txBody>
      </p:sp>
      <p:sp>
        <p:nvSpPr>
          <p:cNvPr id="556" name="TextBox 13"/>
          <p:cNvSpPr txBox="1"/>
          <p:nvPr/>
        </p:nvSpPr>
        <p:spPr>
          <a:xfrm>
            <a:off x="905255" y="33375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Full lineage from a displayed claim back to the raw ingested item, including prompt and model version.</a:t>
            </a:r>
          </a:p>
        </p:txBody>
      </p:sp>
      <p:sp>
        <p:nvSpPr>
          <p:cNvPr id="557" name="Rectangle 14"/>
          <p:cNvSpPr/>
          <p:nvPr/>
        </p:nvSpPr>
        <p:spPr>
          <a:xfrm>
            <a:off x="6355079" y="31181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8" name="TextBox 15"/>
          <p:cNvSpPr txBox="1"/>
          <p:nvPr/>
        </p:nvSpPr>
        <p:spPr>
          <a:xfrm>
            <a:off x="6574535" y="30632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Versioned</a:t>
            </a:r>
          </a:p>
        </p:txBody>
      </p:sp>
      <p:sp>
        <p:nvSpPr>
          <p:cNvPr id="559" name="TextBox 16"/>
          <p:cNvSpPr txBox="1"/>
          <p:nvPr/>
        </p:nvSpPr>
        <p:spPr>
          <a:xfrm>
            <a:off x="6574535" y="33375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Every score records its weight set. Trajectories are never plotted across a boundary silently.</a:t>
            </a:r>
          </a:p>
        </p:txBody>
      </p:sp>
      <p:sp>
        <p:nvSpPr>
          <p:cNvPr id="560" name="Rectangle 17"/>
          <p:cNvSpPr/>
          <p:nvPr/>
        </p:nvSpPr>
        <p:spPr>
          <a:xfrm>
            <a:off x="685800" y="4032503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TextBox 18"/>
          <p:cNvSpPr txBox="1"/>
          <p:nvPr/>
        </p:nvSpPr>
        <p:spPr>
          <a:xfrm>
            <a:off x="905255" y="3977640"/>
            <a:ext cx="5120642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Auditable</a:t>
            </a:r>
          </a:p>
        </p:txBody>
      </p:sp>
      <p:sp>
        <p:nvSpPr>
          <p:cNvPr id="562" name="TextBox 19"/>
          <p:cNvSpPr txBox="1"/>
          <p:nvPr/>
        </p:nvSpPr>
        <p:spPr>
          <a:xfrm>
            <a:off x="905255" y="4251959"/>
            <a:ext cx="5120642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reviewer outside the project can reconstruct why any topic holds its rank.</a:t>
            </a:r>
          </a:p>
        </p:txBody>
      </p:sp>
      <p:sp>
        <p:nvSpPr>
          <p:cNvPr id="563" name="Rectangle 20"/>
          <p:cNvSpPr/>
          <p:nvPr/>
        </p:nvSpPr>
        <p:spPr>
          <a:xfrm>
            <a:off x="6355079" y="4032503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4" name="TextBox 21"/>
          <p:cNvSpPr txBox="1"/>
          <p:nvPr/>
        </p:nvSpPr>
        <p:spPr>
          <a:xfrm>
            <a:off x="6574535" y="3977640"/>
            <a:ext cx="5120642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5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Bounded</a:t>
            </a:r>
          </a:p>
        </p:txBody>
      </p:sp>
      <p:sp>
        <p:nvSpPr>
          <p:cNvPr id="565" name="TextBox 22"/>
          <p:cNvSpPr txBox="1"/>
          <p:nvPr/>
        </p:nvSpPr>
        <p:spPr>
          <a:xfrm>
            <a:off x="6574535" y="42519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Counting, diversity, recency and momentum are arithmetic — never a model. A model asked to count is unverifiable.</a:t>
            </a:r>
          </a:p>
        </p:txBody>
      </p:sp>
      <p:sp>
        <p:nvSpPr>
          <p:cNvPr id="566" name="TextBox 23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567" name="TextBox 24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0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STATUS</a:t>
            </a:r>
          </a:p>
        </p:txBody>
      </p:sp>
      <p:sp>
        <p:nvSpPr>
          <p:cNvPr id="571" name="TextBox 3"/>
          <p:cNvSpPr txBox="1"/>
          <p:nvPr/>
        </p:nvSpPr>
        <p:spPr>
          <a:xfrm>
            <a:off x="685799" y="777240"/>
            <a:ext cx="10789922" cy="1065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3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What is deliberately not built — and what needs a decision</a:t>
            </a:r>
          </a:p>
        </p:txBody>
      </p:sp>
      <p:sp>
        <p:nvSpPr>
          <p:cNvPr id="572" name="TextBox 4"/>
          <p:cNvSpPr txBox="1"/>
          <p:nvPr/>
        </p:nvSpPr>
        <p:spPr>
          <a:xfrm>
            <a:off x="712977" y="2009059"/>
            <a:ext cx="5394962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NOT BUILT, WITH THE REASON</a:t>
            </a:r>
          </a:p>
        </p:txBody>
      </p:sp>
      <p:sp>
        <p:nvSpPr>
          <p:cNvPr id="573" name="Rectangle 5"/>
          <p:cNvSpPr/>
          <p:nvPr/>
        </p:nvSpPr>
        <p:spPr>
          <a:xfrm>
            <a:off x="658114" y="2429683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4" name="TextBox 6"/>
          <p:cNvSpPr txBox="1"/>
          <p:nvPr/>
        </p:nvSpPr>
        <p:spPr>
          <a:xfrm>
            <a:off x="895858" y="2361102"/>
            <a:ext cx="5029201" cy="3975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CRM integration  </a:t>
            </a:r>
            <a:r>
              <a:rPr b="0">
                <a:solidFill>
                  <a:srgbClr val="6B6963"/>
                </a:solidFill>
              </a:rPr>
              <a:t>deferred; public assets give a sufficient right-to-win proxy</a:t>
            </a:r>
          </a:p>
        </p:txBody>
      </p:sp>
      <p:sp>
        <p:nvSpPr>
          <p:cNvPr id="575" name="Rectangle 7"/>
          <p:cNvSpPr/>
          <p:nvPr/>
        </p:nvSpPr>
        <p:spPr>
          <a:xfrm>
            <a:off x="658114" y="2932602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6" name="TextBox 8"/>
          <p:cNvSpPr txBox="1"/>
          <p:nvPr/>
        </p:nvSpPr>
        <p:spPr>
          <a:xfrm>
            <a:off x="895858" y="2864023"/>
            <a:ext cx="502920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Learned scoring models  </a:t>
            </a:r>
            <a:r>
              <a:rPr b="0">
                <a:solidFill>
                  <a:srgbClr val="6B6963"/>
                </a:solidFill>
              </a:rPr>
              <a:t>no labels exist on day one; the capture and replay harness ships instead</a:t>
            </a:r>
          </a:p>
        </p:txBody>
      </p:sp>
      <p:sp>
        <p:nvSpPr>
          <p:cNvPr id="577" name="Rectangle 9"/>
          <p:cNvSpPr/>
          <p:nvPr/>
        </p:nvSpPr>
        <p:spPr>
          <a:xfrm>
            <a:off x="658114" y="3435523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8" name="TextBox 10"/>
          <p:cNvSpPr txBox="1"/>
          <p:nvPr/>
        </p:nvSpPr>
        <p:spPr>
          <a:xfrm>
            <a:off x="895858" y="3366943"/>
            <a:ext cx="502920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Patent connector  </a:t>
            </a:r>
            <a:r>
              <a:rPr b="0">
                <a:solidFill>
                  <a:srgbClr val="6B6963"/>
                </a:solidFill>
              </a:rPr>
              <a:t>needs EPO registration; technology ownership uses a portfolio-level prior</a:t>
            </a:r>
          </a:p>
        </p:txBody>
      </p:sp>
      <p:sp>
        <p:nvSpPr>
          <p:cNvPr id="579" name="Rectangle 11"/>
          <p:cNvSpPr/>
          <p:nvPr/>
        </p:nvSpPr>
        <p:spPr>
          <a:xfrm>
            <a:off x="658114" y="3938442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0" name="TextBox 12"/>
          <p:cNvSpPr txBox="1"/>
          <p:nvPr/>
        </p:nvSpPr>
        <p:spPr>
          <a:xfrm>
            <a:off x="895858" y="3869863"/>
            <a:ext cx="502920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Learned ranking per role  </a:t>
            </a:r>
            <a:r>
              <a:rPr b="0">
                <a:solidFill>
                  <a:srgbClr val="6B6963"/>
                </a:solidFill>
              </a:rPr>
              <a:t>needs 300-600 expert comparisons; the capture widget ships first</a:t>
            </a:r>
          </a:p>
        </p:txBody>
      </p:sp>
      <p:sp>
        <p:nvSpPr>
          <p:cNvPr id="581" name="Rectangle 13"/>
          <p:cNvSpPr/>
          <p:nvPr/>
        </p:nvSpPr>
        <p:spPr>
          <a:xfrm>
            <a:off x="658114" y="4441363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2" name="TextBox 14"/>
          <p:cNvSpPr txBox="1"/>
          <p:nvPr/>
        </p:nvSpPr>
        <p:spPr>
          <a:xfrm>
            <a:off x="895858" y="4372783"/>
            <a:ext cx="502920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ROI on a plan  </a:t>
            </a:r>
            <a:r>
              <a:rPr b="0">
                <a:solidFill>
                  <a:srgbClr val="6B6963"/>
                </a:solidFill>
              </a:rPr>
              <a:t>there is no cost data at the granularity a space needs, anywhere the pipeline can reach</a:t>
            </a:r>
          </a:p>
        </p:txBody>
      </p:sp>
      <p:sp>
        <p:nvSpPr>
          <p:cNvPr id="583" name="Rectangle 15"/>
          <p:cNvSpPr/>
          <p:nvPr/>
        </p:nvSpPr>
        <p:spPr>
          <a:xfrm>
            <a:off x="658114" y="4944283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4" name="TextBox 16"/>
          <p:cNvSpPr txBox="1"/>
          <p:nvPr/>
        </p:nvSpPr>
        <p:spPr>
          <a:xfrm>
            <a:off x="895858" y="4875703"/>
            <a:ext cx="502920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Per-role authorisation  </a:t>
            </a:r>
            <a:r>
              <a:rPr b="0">
                <a:solidFill>
                  <a:srgbClr val="6B6963"/>
                </a:solidFill>
              </a:rPr>
              <a:t>sign-in answers WHO; it does not yet answer MAY THEY</a:t>
            </a:r>
          </a:p>
        </p:txBody>
      </p:sp>
      <p:sp>
        <p:nvSpPr>
          <p:cNvPr id="585" name="TextBox 17"/>
          <p:cNvSpPr txBox="1"/>
          <p:nvPr/>
        </p:nvSpPr>
        <p:spPr>
          <a:xfrm>
            <a:off x="6400800" y="2009059"/>
            <a:ext cx="512064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1100">
                <a:solidFill>
                  <a:srgbClr val="D03B3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NEEDS A DECISION FROM ORANGE</a:t>
            </a:r>
          </a:p>
        </p:txBody>
      </p:sp>
      <p:sp>
        <p:nvSpPr>
          <p:cNvPr id="586" name="Rectangle 18"/>
          <p:cNvSpPr/>
          <p:nvPr/>
        </p:nvSpPr>
        <p:spPr>
          <a:xfrm>
            <a:off x="6345682" y="2421680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7" name="TextBox 19"/>
          <p:cNvSpPr txBox="1"/>
          <p:nvPr/>
        </p:nvSpPr>
        <p:spPr>
          <a:xfrm>
            <a:off x="6583426" y="2353100"/>
            <a:ext cx="493776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Who is the curator?  </a:t>
            </a:r>
            <a:r>
              <a:rPr b="0">
                <a:solidFill>
                  <a:srgbClr val="6B6963"/>
                </a:solidFill>
              </a:rPr>
              <a:t>4,832 links are machine-proposed and unconfirmed</a:t>
            </a:r>
          </a:p>
        </p:txBody>
      </p:sp>
      <p:sp>
        <p:nvSpPr>
          <p:cNvPr id="588" name="Rectangle 20"/>
          <p:cNvSpPr/>
          <p:nvPr/>
        </p:nvSpPr>
        <p:spPr>
          <a:xfrm>
            <a:off x="6345682" y="2924600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9" name="TextBox 21"/>
          <p:cNvSpPr txBox="1"/>
          <p:nvPr/>
        </p:nvSpPr>
        <p:spPr>
          <a:xfrm>
            <a:off x="6583426" y="2856020"/>
            <a:ext cx="493776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Margin by portfolio distance  </a:t>
            </a:r>
            <a:r>
              <a:rPr b="0">
                <a:solidFill>
                  <a:srgbClr val="6B6963"/>
                </a:solidFill>
              </a:rPr>
              <a:t>one table from Orange finance moves five-year profit by 1.66x</a:t>
            </a:r>
          </a:p>
        </p:txBody>
      </p:sp>
      <p:sp>
        <p:nvSpPr>
          <p:cNvPr id="590" name="Rectangle 22"/>
          <p:cNvSpPr/>
          <p:nvPr/>
        </p:nvSpPr>
        <p:spPr>
          <a:xfrm>
            <a:off x="6345682" y="3427520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1" name="TextBox 23"/>
          <p:cNvSpPr txBox="1"/>
          <p:nvPr/>
        </p:nvSpPr>
        <p:spPr>
          <a:xfrm>
            <a:off x="6583426" y="3358940"/>
            <a:ext cx="493776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Headcount free for new work  </a:t>
            </a:r>
            <a:r>
              <a:rPr b="0">
                <a:solidFill>
                  <a:srgbClr val="6B6963"/>
                </a:solidFill>
              </a:rPr>
              <a:t>the constraint that binds first in most plans is currently a guess</a:t>
            </a:r>
          </a:p>
        </p:txBody>
      </p:sp>
      <p:sp>
        <p:nvSpPr>
          <p:cNvPr id="592" name="Rectangle 24"/>
          <p:cNvSpPr/>
          <p:nvPr/>
        </p:nvSpPr>
        <p:spPr>
          <a:xfrm>
            <a:off x="6345682" y="3930440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3" name="TextBox 25"/>
          <p:cNvSpPr txBox="1"/>
          <p:nvPr/>
        </p:nvSpPr>
        <p:spPr>
          <a:xfrm>
            <a:off x="6583426" y="3861860"/>
            <a:ext cx="493776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Terms of use  </a:t>
            </a:r>
            <a:r>
              <a:rPr b="0">
                <a:solidFill>
                  <a:srgbClr val="6B6963"/>
                </a:solidFill>
              </a:rPr>
              <a:t>unconfirmed for several enabled sources — a Sprint 0 blocker</a:t>
            </a:r>
          </a:p>
        </p:txBody>
      </p:sp>
      <p:sp>
        <p:nvSpPr>
          <p:cNvPr id="594" name="Rectangle 26"/>
          <p:cNvSpPr/>
          <p:nvPr/>
        </p:nvSpPr>
        <p:spPr>
          <a:xfrm>
            <a:off x="6345682" y="4433360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5" name="TextBox 27"/>
          <p:cNvSpPr txBox="1"/>
          <p:nvPr/>
        </p:nvSpPr>
        <p:spPr>
          <a:xfrm>
            <a:off x="6583426" y="4364780"/>
            <a:ext cx="4937761" cy="397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12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Refresh cadence  </a:t>
            </a:r>
            <a:r>
              <a:rPr b="0">
                <a:solidFill>
                  <a:srgbClr val="6B6963"/>
                </a:solidFill>
              </a:rPr>
              <a:t>drives connector design and cost more than any other choice</a:t>
            </a:r>
          </a:p>
        </p:txBody>
      </p:sp>
      <p:sp>
        <p:nvSpPr>
          <p:cNvPr id="596" name="TextBox 28"/>
          <p:cNvSpPr txBox="1"/>
          <p:nvPr/>
        </p:nvSpPr>
        <p:spPr>
          <a:xfrm>
            <a:off x="648970" y="5424790"/>
            <a:ext cx="10881360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radar reports its own gaps rather than hiding them: evidence-gap warnings, language coverage, unconfirmed links, skipped sources, unsized spaces and an over-committed capability pool are all surfaced in the interface rather than left to be discovered.</a:t>
            </a:r>
          </a:p>
        </p:txBody>
      </p:sp>
      <p:sp>
        <p:nvSpPr>
          <p:cNvPr id="597" name="TextBox 29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Orange Business · Opportunity Spaces / Innovation Radar</a:t>
            </a:r>
          </a:p>
        </p:txBody>
      </p:sp>
      <p:sp>
        <p:nvSpPr>
          <p:cNvPr id="598" name="TextBox 3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1" name="Rectangle 2"/>
          <p:cNvSpPr/>
          <p:nvPr/>
        </p:nvSpPr>
        <p:spPr>
          <a:xfrm>
            <a:off x="-1" y="0"/>
            <a:ext cx="201170" cy="6858000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2" name="TextBox 3"/>
          <p:cNvSpPr txBox="1"/>
          <p:nvPr/>
        </p:nvSpPr>
        <p:spPr>
          <a:xfrm>
            <a:off x="1005839" y="2103120"/>
            <a:ext cx="10058401" cy="60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b="1" sz="4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join is the product</a:t>
            </a:r>
          </a:p>
        </p:txBody>
      </p:sp>
      <p:sp>
        <p:nvSpPr>
          <p:cNvPr id="603" name="TextBox 4"/>
          <p:cNvSpPr txBox="1"/>
          <p:nvPr/>
        </p:nvSpPr>
        <p:spPr>
          <a:xfrm>
            <a:off x="1005839" y="3108960"/>
            <a:ext cx="9326882" cy="588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7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Without it the radar is a competent trend feed, and trend feeds already exist. With it, the radar answers a question nobody else can answer for Orange.</a:t>
            </a:r>
          </a:p>
        </p:txBody>
      </p:sp>
      <p:sp>
        <p:nvSpPr>
          <p:cNvPr id="604" name="TextBox 5"/>
          <p:cNvSpPr txBox="1"/>
          <p:nvPr/>
        </p:nvSpPr>
        <p:spPr>
          <a:xfrm>
            <a:off x="1005839" y="4663440"/>
            <a:ext cx="100584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3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418 opportunity spaces  ·  11,354 signals  ·  34 live sources  ·  4,832 named asset links</a:t>
            </a:r>
          </a:p>
        </p:txBody>
      </p:sp>
      <p:sp>
        <p:nvSpPr>
          <p:cNvPr id="605" name="TextBox 6"/>
          <p:cNvSpPr txBox="1"/>
          <p:nvPr/>
        </p:nvSpPr>
        <p:spPr>
          <a:xfrm>
            <a:off x="1005839" y="5029200"/>
            <a:ext cx="10058401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3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314 sized bottom-up  ·  174 sales briefs  ·  12 pre-sales artefacts per space  ·  8 portfolio plans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