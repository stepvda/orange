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7" r:id="rId12"/>
    <p:sldId id="268" r:id="rId13"/>
    <p:sldId id="270" r:id="rId14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/>
      <a:tcStyle>
        <a:tcBdr/>
        <a:fill>
          <a:solidFill>
            <a:srgbClr val="E8ECF4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/>
      <a:tcStyle>
        <a:tcBdr/>
        <a:fill>
          <a:solidFill>
            <a:srgbClr val="EFF3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/>
      <a:tcStyle>
        <a:tcBdr/>
        <a:fill>
          <a:solidFill>
            <a:srgbClr val="FDEE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11"/>
    <p:restoredTop sz="76655"/>
  </p:normalViewPr>
  <p:slideViewPr>
    <p:cSldViewPr snapToGrid="0">
      <p:cViewPr varScale="1">
        <p:scale>
          <a:sx n="119" d="100"/>
          <a:sy n="119" d="100"/>
        </p:scale>
        <p:origin x="33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92" name="Shape 9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j-lt"/>
        <a:ea typeface="+mj-ea"/>
        <a:cs typeface="+mj-cs"/>
        <a:sym typeface="Calibri"/>
      </a:defRPr>
    </a:lvl1pPr>
    <a:lvl2pPr indent="228600" defTabSz="457200" latinLnBrk="0">
      <a:defRPr sz="1200">
        <a:latin typeface="+mj-lt"/>
        <a:ea typeface="+mj-ea"/>
        <a:cs typeface="+mj-cs"/>
        <a:sym typeface="Calibri"/>
      </a:defRPr>
    </a:lvl2pPr>
    <a:lvl3pPr indent="457200" defTabSz="457200" latinLnBrk="0">
      <a:defRPr sz="1200">
        <a:latin typeface="+mj-lt"/>
        <a:ea typeface="+mj-ea"/>
        <a:cs typeface="+mj-cs"/>
        <a:sym typeface="Calibri"/>
      </a:defRPr>
    </a:lvl3pPr>
    <a:lvl4pPr indent="685800" defTabSz="457200" latinLnBrk="0">
      <a:defRPr sz="1200">
        <a:latin typeface="+mj-lt"/>
        <a:ea typeface="+mj-ea"/>
        <a:cs typeface="+mj-cs"/>
        <a:sym typeface="Calibri"/>
      </a:defRPr>
    </a:lvl4pPr>
    <a:lvl5pPr indent="914400" defTabSz="457200" latinLnBrk="0">
      <a:defRPr sz="1200">
        <a:latin typeface="+mj-lt"/>
        <a:ea typeface="+mj-ea"/>
        <a:cs typeface="+mj-cs"/>
        <a:sym typeface="Calibri"/>
      </a:defRPr>
    </a:lvl5pPr>
    <a:lvl6pPr indent="1143000" defTabSz="457200" latinLnBrk="0">
      <a:defRPr sz="1200">
        <a:latin typeface="+mj-lt"/>
        <a:ea typeface="+mj-ea"/>
        <a:cs typeface="+mj-cs"/>
        <a:sym typeface="Calibri"/>
      </a:defRPr>
    </a:lvl6pPr>
    <a:lvl7pPr indent="1371600" defTabSz="457200" latinLnBrk="0">
      <a:defRPr sz="1200">
        <a:latin typeface="+mj-lt"/>
        <a:ea typeface="+mj-ea"/>
        <a:cs typeface="+mj-cs"/>
        <a:sym typeface="Calibri"/>
      </a:defRPr>
    </a:lvl7pPr>
    <a:lvl8pPr indent="1600200" defTabSz="457200" latinLnBrk="0">
      <a:defRPr sz="1200">
        <a:latin typeface="+mj-lt"/>
        <a:ea typeface="+mj-ea"/>
        <a:cs typeface="+mj-cs"/>
        <a:sym typeface="Calibri"/>
      </a:defRPr>
    </a:lvl8pPr>
    <a:lvl9pPr indent="1828800" defTabSz="4572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4175" y="685800"/>
            <a:ext cx="60896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Slide 2 — "Why": the problem isn't information, it's specificity</a:t>
            </a:r>
            <a:endParaRPr lang="en-US" sz="1200" b="0" i="0" dirty="0">
              <a:effectLst/>
              <a:latin typeface="+mj-lt"/>
              <a:ea typeface="+mj-ea"/>
              <a:cs typeface="+mj-cs"/>
              <a:sym typeface="Calibri"/>
            </a:endParaRPr>
          </a:p>
          <a:p>
            <a:pPr lvl="0"/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The gap is specificity, not volume.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 Everyone already has trend reports; what's missing is an opportunity concrete enough for a salesperson to raise in a customer meeting.</a:t>
            </a:r>
          </a:p>
          <a:p>
            <a:pPr lvl="0"/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What gets rejected: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 broad themes like "AI," "Cloud," "Cybersecurity," or "Digital transformation in retail" — generic, undated, unsourced, and disconnected from what Orange can actually sell.</a:t>
            </a:r>
          </a:p>
          <a:p>
            <a:pPr lvl="0"/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What qualifies: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 a topic built from three concrete parts — </a:t>
            </a:r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technology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 (private 5G + edge vision), </a:t>
            </a:r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use case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 (safety compliance), and </a:t>
            </a:r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vertical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 (mining) — combining into "private 5G plus edge vision for safety compliance in mining."</a:t>
            </a:r>
          </a:p>
          <a:p>
            <a:pPr lvl="0"/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The test: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 could a salesperson use this in a meeting tomorrow? If not, it isn't a topic.</a:t>
            </a:r>
          </a:p>
          <a:p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Bottom line: this slide sets the bar for everything the Innovation Radar tracks — only named, sellable, vertical-anchored opportunities count.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4748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4175" y="685800"/>
            <a:ext cx="60896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Slide 3 — "Concept": an opportunity space is a triple</a:t>
            </a:r>
            <a:endParaRPr lang="en-US" sz="1200" b="0" i="0" dirty="0">
              <a:effectLst/>
              <a:latin typeface="+mj-lt"/>
              <a:ea typeface="+mj-ea"/>
              <a:cs typeface="+mj-cs"/>
              <a:sym typeface="Calibri"/>
            </a:endParaRPr>
          </a:p>
          <a:p>
            <a:pPr lvl="0"/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Identity = the triple.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 Every opportunity is defined by exactly one </a:t>
            </a:r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vertical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, one </a:t>
            </a:r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use case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, and one </a:t>
            </a:r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technology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 — e.g. manufacturing × OT/ICS security × SIEM and SOAR.</a:t>
            </a:r>
          </a:p>
          <a:p>
            <a:pPr lvl="0"/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Two representations, both stored.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 The structured triple sits alongside a written statement such as "SIEM/SOAR-based OT security analytics for legacy SCADA and ICS in brownfield manufacturing sites."</a:t>
            </a:r>
          </a:p>
          <a:p>
            <a:pPr lvl="0"/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Each does a different job.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 The triple enables deduplication and filtering; the statement carries the specificity a salesperson actually needs in a conversation.</a:t>
            </a:r>
          </a:p>
          <a:p>
            <a:pPr lvl="0"/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It's a hard validation rule.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 A candidate that doesn't resolve to exactly one of each fails — no partial or multi-valued entries get in.</a:t>
            </a:r>
          </a:p>
          <a:p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Bottom line: the triple is what makes the radar machine-usable and the statement is what makes it sales-usable; an opportunity only exists when both hold.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9273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4175" y="685800"/>
            <a:ext cx="60896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Slide 4 — "Concept": how each opportunity is scored</a:t>
            </a:r>
            <a:endParaRPr lang="en-US" sz="1200" b="0" i="0" dirty="0">
              <a:effectLst/>
              <a:latin typeface="+mj-lt"/>
              <a:ea typeface="+mj-ea"/>
              <a:cs typeface="+mj-cs"/>
              <a:sym typeface="Calibri"/>
            </a:endParaRPr>
          </a:p>
          <a:p>
            <a:pPr lvl="0"/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Three separate scores, never blended.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 Attractiveness ("is the world moving?"), Right to Win ("can Orange play and win?"), and Conviction ("do our own people believe it?") each stand on their own.</a:t>
            </a:r>
          </a:p>
          <a:p>
            <a:pPr lvl="0"/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Attractiveness is evidence-driven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 — weighted across signal strength, source diversity, evidence quality, novelty/momentum, and external validation, so it reflects what the market is actually doing.</a:t>
            </a:r>
          </a:p>
          <a:p>
            <a:pPr lvl="0"/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Right to Win is capability-driven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 — offer match, reference density, partner coverage, compliance fit, capability depth, and technology ownership.</a:t>
            </a:r>
          </a:p>
          <a:p>
            <a:pPr lvl="0"/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Conviction is people-driven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 — an internal read split across strategy, sales, and presales, so the field's belief is captured explicitly rather than assumed.</a:t>
            </a:r>
          </a:p>
          <a:p>
            <a:pPr lvl="0"/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Everything lands on a 0–100 scale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, with the illustrative example showing how one opportunity can score strongly on one dimension while lagging on another.</a:t>
            </a:r>
          </a:p>
          <a:p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Bottom line: keeping the three axes separate is the point — it shows </a:t>
            </a:r>
            <a:r>
              <a:rPr lang="en-US" sz="1200" b="0" i="1" dirty="0">
                <a:effectLst/>
                <a:latin typeface="+mj-lt"/>
                <a:ea typeface="+mj-ea"/>
                <a:cs typeface="+mj-cs"/>
                <a:sym typeface="Calibri"/>
              </a:rPr>
              <a:t>why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 an opportunity is or isn't worth pursuing, instead of hiding the trade-off inside a single number.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186951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4175" y="685800"/>
            <a:ext cx="60896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Slide 5 — "Concept": evidence before generation</a:t>
            </a:r>
            <a:endParaRPr lang="en-US" sz="1200" b="0" i="0" dirty="0">
              <a:effectLst/>
              <a:latin typeface="+mj-lt"/>
              <a:ea typeface="+mj-ea"/>
              <a:cs typeface="+mj-cs"/>
              <a:sym typeface="Calibri"/>
            </a:endParaRPr>
          </a:p>
          <a:p>
            <a:pPr lvl="0"/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The model never invents topics.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 It reorganizes retrieved, dated, attributable evidence rather than drawing on its own knowledge.</a:t>
            </a:r>
          </a:p>
          <a:p>
            <a:pPr lvl="0"/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Four guardrails, applied in sequence.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 </a:t>
            </a:r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Evidence binding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 — every claim cites signal IDs that must exist in the source cluster, and uncited claims are stripped rather than rewritten. </a:t>
            </a:r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Closed vocabulary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 — taxonomy values must match the enumerations; a recognized synonym is repaired once, anything else is dropped. </a:t>
            </a:r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No generated numbers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— market sizes, growth rates and percentages are looked up and attributed or simply absent, backstopped by a regex. </a:t>
            </a:r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Entailment check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 — a second model pass verifies each claim against the cited span.</a:t>
            </a:r>
          </a:p>
          <a:p>
            <a:pPr lvl="0"/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Scoring is deliberately unforgiving.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 A separate critic prompt scores 1–5 as the </a:t>
            </a:r>
            <a:r>
              <a:rPr lang="en-US" sz="1200" b="0" i="1" dirty="0">
                <a:effectLst/>
                <a:latin typeface="+mj-lt"/>
                <a:ea typeface="+mj-ea"/>
                <a:cs typeface="+mj-cs"/>
                <a:sym typeface="Calibri"/>
              </a:rPr>
              <a:t>minimum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 across five tests, so a single failure caps the whole score.</a:t>
            </a:r>
          </a:p>
          <a:p>
            <a:pPr lvl="0"/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It bites in practice: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 in a live run, </a:t>
            </a:r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345 of 644 candidates were rejected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, each with a specific written reason.</a:t>
            </a:r>
          </a:p>
          <a:p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Bottom line: this is the trust layer — the rejection rate is the evidence that the guardrails are real, not decorative.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71070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4175" y="685800"/>
            <a:ext cx="60896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Slide 6 — "Concept": portfolio distance decides whose conversation it is</a:t>
            </a:r>
            <a:endParaRPr lang="en-US" sz="1200" b="0" i="0" dirty="0">
              <a:effectLst/>
              <a:latin typeface="+mj-lt"/>
              <a:ea typeface="+mj-ea"/>
              <a:cs typeface="+mj-cs"/>
              <a:sym typeface="Calibri"/>
            </a:endParaRPr>
          </a:p>
          <a:p>
            <a:pPr lvl="0"/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One measure: distance.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 How far a topic sits from a configuration Orange could actually deliver — the shortest path from idea to deliverable.</a:t>
            </a:r>
          </a:p>
          <a:p>
            <a:pPr lvl="0"/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Five levels, each with an owner.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 </a:t>
            </a:r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L0 Direct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 — an existing offer covers it, so sales sells it. </a:t>
            </a:r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L1 Bundle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 — two or more offers combined, presales packages it. </a:t>
            </a:r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L2 Partner-dependent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 — needs a capability a partner already holds, presales/alliances assembles it. </a:t>
            </a:r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L3 Adjacent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 — one capability must be built but nearby assets exist, strategy studies it. </a:t>
            </a:r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L4 White space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 — no plausible path from today's portfolio, strategy watches or rejects it.</a:t>
            </a:r>
          </a:p>
          <a:p>
            <a:pPr lvl="0"/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This is what drives the role modes.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 The views aren't arbitrary presets — the distance level determines who should see a topic at all.</a:t>
            </a:r>
          </a:p>
          <a:p>
            <a:pPr lvl="0"/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The sharpest example: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 a high-attractiveness L4 topic is precisely the strategist's innovation agenda, and precisely what a salesperson should never be shown.</a:t>
            </a:r>
          </a:p>
          <a:p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Bottom line: attractiveness alone doesn't decide relevance — distance does, and it routes each opportunity to the person who can actually act on it.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77639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4175" y="685800"/>
            <a:ext cx="60896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Slide 7 — “Concept”: sizing and competition, with the working shown</a:t>
            </a:r>
          </a:p>
          <a:p>
            <a:pPr lvl="0"/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Two questions a topic cannot be acted on without: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 how big is it, and who else is already there?</a:t>
            </a:r>
          </a:p>
          <a:p>
            <a:pPr lvl="0"/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Market size is built bottom up, not quoted.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 Plausible contract value × enterprise counts by sector and size class × observed adoption rate, combined with the evidence actually collected.</a:t>
            </a:r>
          </a:p>
          <a:p>
            <a:pPr lvl="0"/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Why not quote a headline number?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 Paid research can be cited without methodology and different sources can conflict by an order of magnitude.</a:t>
            </a:r>
          </a:p>
          <a:p>
            <a:pPr lvl="0"/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Every estimate shows its working.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 Method, inputs and a confidence label travel with the number — so it can be challenged and rejected on its arithmetic.</a:t>
            </a:r>
          </a:p>
          <a:p>
            <a:pPr lvl="0"/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Competitive intensity comes from a versioned competitor register.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 It answers who is visibly playing in this space.</a:t>
            </a:r>
          </a:p>
          <a:p>
            <a:pPr lvl="0"/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Both edge cases are handled explicitly.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 A crowded field is not a reason to walk away — win on a specific differentiator. No competitor found is reported as unverified, since the register may simply have a gap.</a:t>
            </a:r>
          </a:p>
          <a:p>
            <a:pPr lvl="0"/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Both are filterable and sortable,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 so a strategist never has to eyeball numbers across hundreds of rows.</a:t>
            </a:r>
          </a:p>
          <a:p>
            <a:pPr lvl="0"/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Bottom line: the value is not the number itself but the transparency behind it — sizing and competition are auditable inputs to a decision, not headline claims.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77639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4175" y="685800"/>
            <a:ext cx="60896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Slide 8 — “Functionality”: the MVP walkthrough</a:t>
            </a:r>
          </a:p>
          <a:p>
            <a:pPr lvl="0"/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This is where the deck stops explaining and starts demonstrating.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 Everything covered conceptually on the previous slides is now shown in the working product.</a:t>
            </a:r>
          </a:p>
          <a:p>
            <a:pPr lvl="0"/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Eight surfaces make up the MVP.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 Radar view, role-ranked list, topic detail, generate, analytics, coverage, workflow, and the Planner.</a:t>
            </a:r>
          </a:p>
          <a:p>
            <a:pPr lvl="0"/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The surfaces map directly to the concepts.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 The radar and role-ranked list express scoring and portfolio distance; topic detail exposes the triple, the evidence and the working behind sizing; generate is the evidence-first pipeline in action.</a:t>
            </a:r>
          </a:p>
          <a:p>
            <a:pPr lvl="0"/>
            <a:r>
              <a:rPr lang="en-US" sz="1200" b="1" i="0" dirty="0">
                <a:effectLst/>
                <a:latin typeface="+mj-lt"/>
                <a:ea typeface="+mj-ea"/>
                <a:cs typeface="+mj-cs"/>
                <a:sym typeface="Calibri"/>
              </a:rPr>
              <a:t>Coverage and analytics answer the “what are we missing?” question,</a:t>
            </a:r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 while workflow and the Planner turn a topic into something someone actually acts on.</a:t>
            </a:r>
          </a:p>
          <a:p>
            <a:pPr lvl="0"/>
            <a:r>
              <a:rPr lang="en-US" sz="1200" b="0" i="0" dirty="0">
                <a:effectLst/>
                <a:latin typeface="+mj-lt"/>
                <a:ea typeface="+mj-ea"/>
                <a:cs typeface="+mj-cs"/>
                <a:sym typeface="Calibri"/>
              </a:rPr>
              <a:t>Bottom line: the MVP is not a mockup — the concepts explained so far are already usable end to end in the product.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77639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4175" y="685800"/>
            <a:ext cx="60896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>
                <a:effectLst/>
                <a:latin typeface="+mj-lt"/>
                <a:ea typeface="+mj-ea"/>
                <a:cs typeface="+mj-cs"/>
                <a:sym typeface="Calibri"/>
              </a:rPr>
              <a:t>Slide 9 — “Status”: what the MVP has actually produced</a:t>
            </a:r>
          </a:p>
          <a:p>
            <a:pPr lvl="0"/>
            <a:r>
              <a:rPr lang="en-US" sz="1200" b="1" i="0">
                <a:effectLst/>
                <a:latin typeface="+mj-lt"/>
                <a:ea typeface="+mj-ea"/>
                <a:cs typeface="+mj-cs"/>
                <a:sym typeface="Calibri"/>
              </a:rPr>
              <a:t>Every figure is read live from the database,</a:t>
            </a:r>
            <a:r>
              <a:rPr lang="en-US" sz="1200" b="0" i="0">
                <a:effectLst/>
                <a:latin typeface="+mj-lt"/>
                <a:ea typeface="+mj-ea"/>
                <a:cs typeface="+mj-cs"/>
                <a:sym typeface="Calibri"/>
              </a:rPr>
              <a:t> not typed into the deck — the status page is itself evidence that the system runs.</a:t>
            </a:r>
          </a:p>
          <a:p>
            <a:pPr lvl="0"/>
            <a:r>
              <a:rPr lang="en-US" sz="1200" b="1" i="0">
                <a:effectLst/>
                <a:latin typeface="+mj-lt"/>
                <a:ea typeface="+mj-ea"/>
                <a:cs typeface="+mj-cs"/>
                <a:sym typeface="Calibri"/>
              </a:rPr>
              <a:t>Scale today:</a:t>
            </a:r>
            <a:r>
              <a:rPr lang="en-US" sz="1200" b="0" i="0">
                <a:effectLst/>
                <a:latin typeface="+mj-lt"/>
                <a:ea typeface="+mj-ea"/>
                <a:cs typeface="+mj-cs"/>
                <a:sym typeface="Calibri"/>
              </a:rPr>
              <a:t> 11,354 signals ingested from 34 live sources, 4,832 asset links across 181 graph nodes, and 418 opportunity spaces at 26.7 signals per topic after enrichment.</a:t>
            </a:r>
          </a:p>
          <a:p>
            <a:pPr lvl="0"/>
            <a:r>
              <a:rPr lang="en-US" sz="1200" b="1" i="0">
                <a:effectLst/>
                <a:latin typeface="+mj-lt"/>
                <a:ea typeface="+mj-ea"/>
                <a:cs typeface="+mj-cs"/>
                <a:sym typeface="Calibri"/>
              </a:rPr>
              <a:t>The gate is real:</a:t>
            </a:r>
            <a:r>
              <a:rPr lang="en-US" sz="1200" b="0" i="0">
                <a:effectLst/>
                <a:latin typeface="+mj-lt"/>
                <a:ea typeface="+mj-ea"/>
                <a:cs typeface="+mj-cs"/>
                <a:sym typeface="Calibri"/>
              </a:rPr>
              <a:t> 6,804 of the ingested signals passed it, and 7,267 tier-1 signals come from regulators, procurement portals, standards bodies and official statistics.</a:t>
            </a:r>
          </a:p>
          <a:p>
            <a:pPr lvl="0"/>
            <a:r>
              <a:rPr lang="en-US" sz="1200" b="1" i="0">
                <a:effectLst/>
                <a:latin typeface="+mj-lt"/>
                <a:ea typeface="+mj-ea"/>
                <a:cs typeface="+mj-cs"/>
                <a:sym typeface="Calibri"/>
              </a:rPr>
              <a:t>Coverage is deliberately sparse.</a:t>
            </a:r>
            <a:r>
              <a:rPr lang="en-US" sz="1200" b="0" i="0">
                <a:effectLst/>
                <a:latin typeface="+mj-lt"/>
                <a:ea typeface="+mj-ea"/>
                <a:cs typeface="+mj-cs"/>
                <a:sym typeface="Calibri"/>
              </a:rPr>
              <a:t> All 15 verticals are covered, with 47 of 59 use cases and 33 of 38 technologies appearing in at least one topic — gaps are informative, not failures.</a:t>
            </a:r>
          </a:p>
          <a:p>
            <a:pPr lvl="0"/>
            <a:r>
              <a:rPr lang="en-US" sz="1200" b="1" i="0">
                <a:effectLst/>
                <a:latin typeface="+mj-lt"/>
                <a:ea typeface="+mj-ea"/>
                <a:cs typeface="+mj-cs"/>
                <a:sym typeface="Calibri"/>
              </a:rPr>
              <a:t>Known bias is measured, not assumed:</a:t>
            </a:r>
            <a:r>
              <a:rPr lang="en-US" sz="1200" b="0" i="0">
                <a:effectLst/>
                <a:latin typeface="+mj-lt"/>
                <a:ea typeface="+mj-ea"/>
                <a:cs typeface="+mj-cs"/>
                <a:sym typeface="Calibri"/>
              </a:rPr>
              <a:t> 1,054 French-language signals directly address the anglophone bias flagged as a principal risk.</a:t>
            </a:r>
          </a:p>
          <a:p>
            <a:pPr lvl="0"/>
            <a:r>
              <a:rPr lang="en-US" sz="1200" b="1" i="0">
                <a:effectLst/>
                <a:latin typeface="+mj-lt"/>
                <a:ea typeface="+mj-ea"/>
                <a:cs typeface="+mj-cs"/>
                <a:sym typeface="Calibri"/>
              </a:rPr>
              <a:t>Depth beyond the list:</a:t>
            </a:r>
            <a:r>
              <a:rPr lang="en-US" sz="1200" b="0" i="0">
                <a:effectLst/>
                <a:latin typeface="+mj-lt"/>
                <a:ea typeface="+mj-ea"/>
                <a:cs typeface="+mj-cs"/>
                <a:sym typeface="Calibri"/>
              </a:rPr>
              <a:t> 314 topics sized bottom-up, 181 competition-scored and 174 briefed — each with its method and confidence grade rather than a quoted headline.</a:t>
            </a:r>
          </a:p>
          <a:p>
            <a:pPr lvl="0"/>
            <a:r>
              <a:rPr lang="en-US" sz="1200" b="1" i="0">
                <a:effectLst/>
                <a:latin typeface="+mj-lt"/>
                <a:ea typeface="+mj-ea"/>
                <a:cs typeface="+mj-cs"/>
                <a:sym typeface="Calibri"/>
              </a:rPr>
              <a:t>It reaches decisions:</a:t>
            </a:r>
            <a:r>
              <a:rPr lang="en-US" sz="1200" b="0" i="0">
                <a:effectLst/>
                <a:latin typeface="+mj-lt"/>
                <a:ea typeface="+mj-ea"/>
                <a:cs typeface="+mj-cs"/>
                <a:sym typeface="Calibri"/>
              </a:rPr>
              <a:t> 8 portfolio plans and 12 kinds of pre-sales artefact — the two things that turn a ranked list into a decision and a bid.</a:t>
            </a:r>
          </a:p>
          <a:p>
            <a:pPr lvl="0"/>
            <a:r>
              <a:rPr lang="en-US" sz="1200" b="0" i="0">
                <a:effectLst/>
                <a:latin typeface="+mj-lt"/>
                <a:ea typeface="+mj-ea"/>
                <a:cs typeface="+mj-cs"/>
                <a:sym typeface="Calibri"/>
              </a:rPr>
              <a:t>Bottom line: the MVP is running at real volume with its quality controls visible, and the numbers prove the pipeline end to end rather than illustrating it.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7639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4175" y="685800"/>
            <a:ext cx="60896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>
                <a:effectLst/>
                <a:latin typeface="+mj-lt"/>
                <a:ea typeface="+mj-ea"/>
                <a:cs typeface="+mj-cs"/>
                <a:sym typeface="Calibri"/>
              </a:rPr>
              <a:t>Slide 10 — “Architecture”: seven pipeline stages, each with a contract</a:t>
            </a:r>
          </a:p>
          <a:p>
            <a:pPr lvl="0"/>
            <a:r>
              <a:rPr lang="en-US" sz="1200" b="1" i="0">
                <a:effectLst/>
                <a:latin typeface="+mj-lt"/>
                <a:ea typeface="+mj-ea"/>
                <a:cs typeface="+mj-cs"/>
                <a:sym typeface="Calibri"/>
              </a:rPr>
              <a:t>Every stage has a defined input and output contract,</a:t>
            </a:r>
            <a:r>
              <a:rPr lang="en-US" sz="1200" b="0" i="0">
                <a:effectLst/>
                <a:latin typeface="+mj-lt"/>
                <a:ea typeface="+mj-ea"/>
                <a:cs typeface="+mj-cs"/>
                <a:sym typeface="Calibri"/>
              </a:rPr>
              <a:t> so stages can be developed, tested and replaced independently.</a:t>
            </a:r>
          </a:p>
          <a:p>
            <a:pPr lvl="0"/>
            <a:r>
              <a:rPr lang="en-US" sz="1200" b="1" i="0">
                <a:effectLst/>
                <a:latin typeface="+mj-lt"/>
                <a:ea typeface="+mj-ea"/>
                <a:cs typeface="+mj-cs"/>
                <a:sym typeface="Calibri"/>
              </a:rPr>
              <a:t>The seven stages:</a:t>
            </a:r>
            <a:r>
              <a:rPr lang="en-US" sz="1200" b="0" i="0">
                <a:effectLst/>
                <a:latin typeface="+mj-lt"/>
                <a:ea typeface="+mj-ea"/>
                <a:cs typeface="+mj-cs"/>
                <a:sym typeface="Calibri"/>
              </a:rPr>
              <a:t> collect (source config → raw items), normalise (raw items → signal records), classify (→ typed, tiered signals), themes (→ theme clusters), synthesise (→ candidate spaces), score (→ ranked spaces) and serve (→ radar, briefs, API).</a:t>
            </a:r>
          </a:p>
          <a:p>
            <a:pPr lvl="0"/>
            <a:r>
              <a:rPr lang="en-US" sz="1200" b="1" i="0">
                <a:effectLst/>
                <a:latin typeface="+mj-lt"/>
                <a:ea typeface="+mj-ea"/>
                <a:cs typeface="+mj-cs"/>
                <a:sym typeface="Calibri"/>
              </a:rPr>
              <a:t>Enrichment runs as a parallel, slower path</a:t>
            </a:r>
            <a:r>
              <a:rPr lang="en-US" sz="1200" b="0" i="0">
                <a:effectLst/>
                <a:latin typeface="+mj-lt"/>
                <a:ea typeface="+mj-ea"/>
                <a:cs typeface="+mj-cs"/>
                <a:sym typeface="Calibri"/>
              </a:rPr>
              <a:t> that gathers more evidence per topic and joins back at the scoring stage, so depth never blocks throughput.</a:t>
            </a:r>
          </a:p>
          <a:p>
            <a:pPr lvl="0"/>
            <a:r>
              <a:rPr lang="en-US" sz="1200" b="1" i="0">
                <a:effectLst/>
                <a:latin typeface="+mj-lt"/>
                <a:ea typeface="+mj-ea"/>
                <a:cs typeface="+mj-cs"/>
                <a:sym typeface="Calibri"/>
              </a:rPr>
              <a:t>The Orange Business Graph is the right-to-win backbone —</a:t>
            </a:r>
            <a:r>
              <a:rPr lang="en-US" sz="1200" b="0" i="0">
                <a:effectLst/>
                <a:latin typeface="+mj-lt"/>
                <a:ea typeface="+mj-ea"/>
                <a:cs typeface="+mj-cs"/>
                <a:sym typeface="Calibri"/>
              </a:rPr>
              <a:t> offers, references, partners with tiers, certifications, analyst positions, capability pools and research assets. Links are typed L0–L4 and carry the evidence that justified them, so right-to-win can improve without re-running discovery.</a:t>
            </a:r>
          </a:p>
          <a:p>
            <a:pPr lvl="0"/>
            <a:r>
              <a:rPr lang="en-US" sz="1200" b="1" i="0">
                <a:effectLst/>
                <a:latin typeface="+mj-lt"/>
                <a:ea typeface="+mj-ea"/>
                <a:cs typeface="+mj-cs"/>
                <a:sym typeface="Calibri"/>
              </a:rPr>
              <a:t>Two subsystems sit beside the pipeline.</a:t>
            </a:r>
            <a:r>
              <a:rPr lang="en-US" sz="1200" b="0" i="0">
                <a:effectLst/>
                <a:latin typeface="+mj-lt"/>
                <a:ea typeface="+mj-ea"/>
                <a:cs typeface="+mj-cs"/>
                <a:sym typeface="Calibri"/>
              </a:rPr>
              <a:t> The Planner reads the read model plus assumptions, selects and schedules a set, projects five years and writes a single PDF. Pre-sales collateral reads one snapshot of a space and emits 12 artefacts in 5 formats.</a:t>
            </a:r>
          </a:p>
          <a:p>
            <a:pPr lvl="0"/>
            <a:r>
              <a:rPr lang="en-US" sz="1200" b="1" i="0">
                <a:effectLst/>
                <a:latin typeface="+mj-lt"/>
                <a:ea typeface="+mj-ea"/>
                <a:cs typeface="+mj-cs"/>
                <a:sym typeface="Calibri"/>
              </a:rPr>
              <a:t>Consistency is engineered in:</a:t>
            </a:r>
            <a:r>
              <a:rPr lang="en-US" sz="1200" b="0" i="0">
                <a:effectLst/>
                <a:latin typeface="+mj-lt"/>
                <a:ea typeface="+mj-ea"/>
                <a:cs typeface="+mj-cs"/>
                <a:sym typeface="Calibri"/>
              </a:rPr>
              <a:t> one model call after every number is fixed, so nothing in a pack can disagree with anything else in it.</a:t>
            </a:r>
          </a:p>
          <a:p>
            <a:pPr lvl="0"/>
            <a:r>
              <a:rPr lang="en-US" sz="1200" b="0" i="0">
                <a:effectLst/>
                <a:latin typeface="+mj-lt"/>
                <a:ea typeface="+mj-ea"/>
                <a:cs typeface="+mj-cs"/>
                <a:sym typeface="Calibri"/>
              </a:rPr>
              <a:t>Bottom line: contracts between stages are what make the system maintainable and auditable — parts can evolve independently without breaking the evidence chain.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7639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4175" y="685800"/>
            <a:ext cx="60896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>
                <a:effectLst/>
                <a:latin typeface="+mj-lt"/>
                <a:ea typeface="+mj-ea"/>
                <a:cs typeface="+mj-cs"/>
                <a:sym typeface="Calibri"/>
              </a:rPr>
              <a:t>Slide 11 - Architecture: stack and separation of concerns</a:t>
            </a:r>
          </a:p>
          <a:p>
            <a:pPr lvl="0"/>
            <a:r>
              <a:rPr lang="en-US" sz="1200" b="1" i="0">
                <a:effectLst/>
                <a:latin typeface="+mj-lt"/>
                <a:ea typeface="+mj-ea"/>
                <a:cs typeface="+mj-cs"/>
                <a:sym typeface="Calibri"/>
              </a:rPr>
              <a:t>Three clean layers.</a:t>
            </a:r>
            <a:r>
              <a:rPr lang="en-US" sz="1200" b="0" i="0">
                <a:effectLst/>
                <a:latin typeface="+mj-lt"/>
                <a:ea typeface="+mj-ea"/>
                <a:cs typeface="+mj-cs"/>
                <a:sym typeface="Calibri"/>
              </a:rPr>
              <a:t> Ingestion, intelligence and serving are separated so each can be reasoned about, tested and swapped on its own.</a:t>
            </a:r>
          </a:p>
          <a:p>
            <a:pPr lvl="0"/>
            <a:r>
              <a:rPr lang="en-US" sz="1200" b="1" i="0">
                <a:effectLst/>
                <a:latin typeface="+mj-lt"/>
                <a:ea typeface="+mj-ea"/>
                <a:cs typeface="+mj-cs"/>
                <a:sym typeface="Calibri"/>
              </a:rPr>
              <a:t>Ingestion is broad and disciplined:</a:t>
            </a:r>
            <a:r>
              <a:rPr lang="en-US" sz="1200" b="0" i="0">
                <a:effectLst/>
                <a:latin typeface="+mj-lt"/>
                <a:ea typeface="+mj-ea"/>
                <a:cs typeface="+mj-cs"/>
                <a:sym typeface="Calibri"/>
              </a:rPr>
              <a:t> 33 enabled sources across 17 connector types, with parallel fetch, circuit breakers, per-host pacing and replay-safe dates.</a:t>
            </a:r>
          </a:p>
          <a:p>
            <a:pPr lvl="0"/>
            <a:r>
              <a:rPr lang="en-US" sz="1200" b="1" i="0">
                <a:effectLst/>
                <a:latin typeface="+mj-lt"/>
                <a:ea typeface="+mj-ea"/>
                <a:cs typeface="+mj-cs"/>
                <a:sym typeface="Calibri"/>
              </a:rPr>
              <a:t>Intelligence avoids lock-in.</a:t>
            </a:r>
            <a:r>
              <a:rPr lang="en-US" sz="1200" b="0" i="0">
                <a:effectLst/>
                <a:latin typeface="+mj-lt"/>
                <a:ea typeface="+mj-ea"/>
                <a:cs typeface="+mj-cs"/>
                <a:sym typeface="Calibri"/>
              </a:rPr>
              <a:t> The language model sits behind a provider-agnostic client that can be swapped through configuration alone, with local sentence-transformers handling embeddings and clustering.</a:t>
            </a:r>
          </a:p>
          <a:p>
            <a:pPr lvl="0"/>
            <a:r>
              <a:rPr lang="en-US" sz="1200" b="1" i="0">
                <a:effectLst/>
                <a:latin typeface="+mj-lt"/>
                <a:ea typeface="+mj-ea"/>
                <a:cs typeface="+mj-cs"/>
                <a:sym typeface="Calibri"/>
              </a:rPr>
              <a:t>Deterministic where possible, generative only where it earns its place</a:t>
            </a:r>
            <a:r>
              <a:rPr lang="en-US" sz="1200" b="0" i="0">
                <a:effectLst/>
                <a:latin typeface="+mj-lt"/>
                <a:ea typeface="+mj-ea"/>
                <a:cs typeface="+mj-cs"/>
                <a:sym typeface="Calibri"/>
              </a:rPr>
              <a:t> - the model is used sparingly and on purpose.</a:t>
            </a:r>
          </a:p>
          <a:p>
            <a:pPr lvl="0"/>
            <a:r>
              <a:rPr lang="en-US" sz="1200" b="1" i="0">
                <a:effectLst/>
                <a:latin typeface="+mj-lt"/>
                <a:ea typeface="+mj-ea"/>
                <a:cs typeface="+mj-cs"/>
                <a:sym typeface="Calibri"/>
              </a:rPr>
              <a:t>Serving is deliberately right-sized:</a:t>
            </a:r>
            <a:r>
              <a:rPr lang="en-US" sz="1200" b="0" i="0">
                <a:effectLst/>
                <a:latin typeface="+mj-lt"/>
                <a:ea typeface="+mj-ea"/>
                <a:cs typeface="+mj-cs"/>
                <a:sym typeface="Calibri"/>
              </a:rPr>
              <a:t> a lightweight database because the graph is thousands of nodes, not millions; a read API behind a session guard applied to the whole app rather than route by route; and a modern front end with a hand-drawn radar rather than a chart library.</a:t>
            </a:r>
          </a:p>
          <a:p>
            <a:pPr lvl="0"/>
            <a:r>
              <a:rPr lang="en-US" sz="1200" b="1" i="0">
                <a:effectLst/>
                <a:latin typeface="+mj-lt"/>
                <a:ea typeface="+mj-ea"/>
                <a:cs typeface="+mj-cs"/>
                <a:sym typeface="Calibri"/>
              </a:rPr>
              <a:t>Documents and selection use proper tooling</a:t>
            </a:r>
            <a:r>
              <a:rPr lang="en-US" sz="1200" b="0" i="0">
                <a:effectLst/>
                <a:latin typeface="+mj-lt"/>
                <a:ea typeface="+mj-ea"/>
                <a:cs typeface="+mj-cs"/>
                <a:sym typeface="Calibri"/>
              </a:rPr>
              <a:t> for portfolio optimisation and for every artefact the system emits.</a:t>
            </a:r>
          </a:p>
          <a:p>
            <a:pPr lvl="0"/>
            <a:r>
              <a:rPr lang="en-US" sz="1200" b="1" i="0">
                <a:effectLst/>
                <a:latin typeface="+mj-lt"/>
                <a:ea typeface="+mj-ea"/>
                <a:cs typeface="+mj-cs"/>
                <a:sym typeface="Calibri"/>
              </a:rPr>
              <a:t>Configuration, not code.</a:t>
            </a:r>
            <a:r>
              <a:rPr lang="en-US" sz="1200" b="0" i="0">
                <a:effectLst/>
                <a:latin typeface="+mj-lt"/>
                <a:ea typeface="+mj-ea"/>
                <a:cs typeface="+mj-cs"/>
                <a:sym typeface="Calibri"/>
              </a:rPr>
              <a:t> Taxonomies, weights, thresholds, sources, the business graph and the crosswalks are all configuration, validated at load time - so a dangling id is a startup error rather than a wrong number three stages later.</a:t>
            </a:r>
          </a:p>
          <a:p>
            <a:pPr lvl="0"/>
            <a:r>
              <a:rPr lang="en-US" sz="1200" b="0" i="0">
                <a:effectLst/>
                <a:latin typeface="+mj-lt"/>
                <a:ea typeface="+mj-ea"/>
                <a:cs typeface="+mj-cs"/>
                <a:sym typeface="Calibri"/>
              </a:rPr>
              <a:t>Bottom line: the stack is chosen for auditability and replaceability over scale for its own sake - failures surface early and loudly instead of silently corrupting results.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7639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4175" y="685800"/>
            <a:ext cx="608965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i="0">
                <a:effectLst/>
                <a:latin typeface="+mj-lt"/>
                <a:ea typeface="+mj-ea"/>
                <a:cs typeface="+mj-cs"/>
                <a:sym typeface="Calibri"/>
              </a:rPr>
              <a:t>Slide 12 - Architecture: what makes the numbers defensible</a:t>
            </a:r>
          </a:p>
          <a:p>
            <a:pPr lvl="0"/>
            <a:r>
              <a:rPr lang="en-US" sz="1200" b="1" i="0">
                <a:effectLst/>
                <a:latin typeface="+mj-lt"/>
                <a:ea typeface="+mj-ea"/>
                <a:cs typeface="+mj-cs"/>
                <a:sym typeface="Calibri"/>
              </a:rPr>
              <a:t>The governing constraint:</a:t>
            </a:r>
            <a:r>
              <a:rPr lang="en-US" sz="1200" b="0" i="0">
                <a:effectLst/>
                <a:latin typeface="+mj-lt"/>
                <a:ea typeface="+mj-ea"/>
                <a:cs typeface="+mj-cs"/>
                <a:sym typeface="Calibri"/>
              </a:rPr>
              <a:t> if a user cannot explain why a topic is ranked where it is, the scoring is not good enough.</a:t>
            </a:r>
          </a:p>
          <a:p>
            <a:pPr lvl="0"/>
            <a:r>
              <a:rPr lang="en-US" sz="1200" b="1" i="0">
                <a:effectLst/>
                <a:latin typeface="+mj-lt"/>
                <a:ea typeface="+mj-ea"/>
                <a:cs typeface="+mj-cs"/>
                <a:sym typeface="Calibri"/>
              </a:rPr>
              <a:t>Decomposable.</a:t>
            </a:r>
            <a:r>
              <a:rPr lang="en-US" sz="1200" b="0" i="0">
                <a:effectLst/>
                <a:latin typeface="+mj-lt"/>
                <a:ea typeface="+mj-ea"/>
                <a:cs typeface="+mj-cs"/>
                <a:sym typeface="Calibri"/>
              </a:rPr>
              <a:t> Every displayed number breaks into named components - there are no opaque scores.</a:t>
            </a:r>
          </a:p>
          <a:p>
            <a:pPr lvl="0"/>
            <a:r>
              <a:rPr lang="en-US" sz="1200" b="1" i="0">
                <a:effectLst/>
                <a:latin typeface="+mj-lt"/>
                <a:ea typeface="+mj-ea"/>
                <a:cs typeface="+mj-cs"/>
                <a:sym typeface="Calibri"/>
              </a:rPr>
              <a:t>Reproducible.</a:t>
            </a:r>
            <a:r>
              <a:rPr lang="en-US" sz="1200" b="0" i="0">
                <a:effectLst/>
                <a:latin typeface="+mj-lt"/>
                <a:ea typeface="+mj-ea"/>
                <a:cs typeface="+mj-cs"/>
                <a:sym typeface="Calibri"/>
              </a:rPr>
              <a:t> Every component stores the inputs used to compute it, so any number can be re-derived.</a:t>
            </a:r>
          </a:p>
          <a:p>
            <a:pPr lvl="0"/>
            <a:r>
              <a:rPr lang="en-US" sz="1200" b="1" i="0">
                <a:effectLst/>
                <a:latin typeface="+mj-lt"/>
                <a:ea typeface="+mj-ea"/>
                <a:cs typeface="+mj-cs"/>
                <a:sym typeface="Calibri"/>
              </a:rPr>
              <a:t>Traceable.</a:t>
            </a:r>
            <a:r>
              <a:rPr lang="en-US" sz="1200" b="0" i="0">
                <a:effectLst/>
                <a:latin typeface="+mj-lt"/>
                <a:ea typeface="+mj-ea"/>
                <a:cs typeface="+mj-cs"/>
                <a:sym typeface="Calibri"/>
              </a:rPr>
              <a:t> There is full lineage from a displayed claim back to the raw ingested item, including the prompt and model version.</a:t>
            </a:r>
          </a:p>
          <a:p>
            <a:pPr lvl="0"/>
            <a:r>
              <a:rPr lang="en-US" sz="1200" b="1" i="0">
                <a:effectLst/>
                <a:latin typeface="+mj-lt"/>
                <a:ea typeface="+mj-ea"/>
                <a:cs typeface="+mj-cs"/>
                <a:sym typeface="Calibri"/>
              </a:rPr>
              <a:t>Versioned.</a:t>
            </a:r>
            <a:r>
              <a:rPr lang="en-US" sz="1200" b="0" i="0">
                <a:effectLst/>
                <a:latin typeface="+mj-lt"/>
                <a:ea typeface="+mj-ea"/>
                <a:cs typeface="+mj-cs"/>
                <a:sym typeface="Calibri"/>
              </a:rPr>
              <a:t> Every score records its weight set, and trajectories are never plotted across a boundary silently.</a:t>
            </a:r>
          </a:p>
          <a:p>
            <a:pPr lvl="0"/>
            <a:r>
              <a:rPr lang="en-US" sz="1200" b="1" i="0">
                <a:effectLst/>
                <a:latin typeface="+mj-lt"/>
                <a:ea typeface="+mj-ea"/>
                <a:cs typeface="+mj-cs"/>
                <a:sym typeface="Calibri"/>
              </a:rPr>
              <a:t>Auditable.</a:t>
            </a:r>
            <a:r>
              <a:rPr lang="en-US" sz="1200" b="0" i="0">
                <a:effectLst/>
                <a:latin typeface="+mj-lt"/>
                <a:ea typeface="+mj-ea"/>
                <a:cs typeface="+mj-cs"/>
                <a:sym typeface="Calibri"/>
              </a:rPr>
              <a:t> A reviewer outside the project can reconstruct why any topic holds its rank.</a:t>
            </a:r>
          </a:p>
          <a:p>
            <a:pPr lvl="0"/>
            <a:r>
              <a:rPr lang="en-US" sz="1200" b="1" i="0">
                <a:effectLst/>
                <a:latin typeface="+mj-lt"/>
                <a:ea typeface="+mj-ea"/>
                <a:cs typeface="+mj-cs"/>
                <a:sym typeface="Calibri"/>
              </a:rPr>
              <a:t>Bounded.</a:t>
            </a:r>
            <a:r>
              <a:rPr lang="en-US" sz="1200" b="0" i="0">
                <a:effectLst/>
                <a:latin typeface="+mj-lt"/>
                <a:ea typeface="+mj-ea"/>
                <a:cs typeface="+mj-cs"/>
                <a:sym typeface="Calibri"/>
              </a:rPr>
              <a:t> Counting, diversity, recency and momentum are arithmetic, never a model - a model asked to count is unverifiable.</a:t>
            </a:r>
          </a:p>
          <a:p>
            <a:pPr lvl="0"/>
            <a:r>
              <a:rPr lang="en-US" sz="1200" b="0" i="0">
                <a:effectLst/>
                <a:latin typeface="+mj-lt"/>
                <a:ea typeface="+mj-ea"/>
                <a:cs typeface="+mj-cs"/>
                <a:sym typeface="Calibri"/>
              </a:rPr>
              <a:t>Bottom line: defensibility is designed in, not asserted - the ranking can be challenged, re-derived and audited by someone outside the project.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7639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Text"/>
          <p:cNvSpPr txBox="1">
            <a:spLocks noGrp="1"/>
          </p:cNvSpPr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12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13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Text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21" name="Body Level One…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22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le Text"/>
          <p:cNvSpPr txBox="1">
            <a:spLocks noGrp="1"/>
          </p:cNvSpPr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t>Title Text</a:t>
            </a:r>
          </a:p>
        </p:txBody>
      </p:sp>
      <p:sp>
        <p:nvSpPr>
          <p:cNvPr id="30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31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le Text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39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Text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48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sz="2400" b="1"/>
            </a:lvl1pPr>
            <a:lvl2pPr marL="0" indent="457200">
              <a:spcBef>
                <a:spcPts val="500"/>
              </a:spcBef>
              <a:buSzTx/>
              <a:buFontTx/>
              <a:buNone/>
              <a:defRPr sz="2400" b="1"/>
            </a:lvl2pPr>
            <a:lvl3pPr marL="0" indent="914400">
              <a:spcBef>
                <a:spcPts val="500"/>
              </a:spcBef>
              <a:buSzTx/>
              <a:buFontTx/>
              <a:buNone/>
              <a:defRPr sz="2400" b="1"/>
            </a:lvl3pPr>
            <a:lvl4pPr marL="0" indent="1371600">
              <a:spcBef>
                <a:spcPts val="500"/>
              </a:spcBef>
              <a:buSzTx/>
              <a:buFontTx/>
              <a:buNone/>
              <a:defRPr sz="2400" b="1"/>
            </a:lvl4pPr>
            <a:lvl5pPr marL="0" indent="1828800">
              <a:spcBef>
                <a:spcPts val="500"/>
              </a:spcBef>
              <a:buSzTx/>
              <a:buFontTx/>
              <a:buNone/>
              <a:defRPr sz="2400" b="1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sz="2400" b="1"/>
            </a:pPr>
            <a:endParaRPr/>
          </a:p>
        </p:txBody>
      </p:sp>
      <p:sp>
        <p:nvSpPr>
          <p:cNvPr id="50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Text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r>
              <a:t>Title Text</a:t>
            </a:r>
          </a:p>
        </p:txBody>
      </p:sp>
      <p:sp>
        <p:nvSpPr>
          <p:cNvPr id="58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le Text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t>Title Text</a:t>
            </a:r>
          </a:p>
        </p:txBody>
      </p:sp>
      <p:sp>
        <p:nvSpPr>
          <p:cNvPr id="73" name="Body Level One…"/>
          <p:cNvSpPr txBox="1">
            <a:spLocks noGrp="1"/>
          </p:cNvSpPr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74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  <a:endParaRPr/>
          </a:p>
        </p:txBody>
      </p:sp>
      <p:sp>
        <p:nvSpPr>
          <p:cNvPr id="7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le Text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t>Title Text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84" name="Body Level One…"/>
          <p:cNvSpPr txBox="1">
            <a:spLocks noGrp="1"/>
          </p:cNvSpPr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85" name="Slide Numb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Text"/>
          <p:cNvSpPr txBox="1">
            <a:spLocks noGrp="1"/>
          </p:cNvSpPr>
          <p:nvPr>
            <p:ph type="title"/>
          </p:nvPr>
        </p:nvSpPr>
        <p:spPr>
          <a:xfrm>
            <a:off x="608965" y="92074"/>
            <a:ext cx="10961370" cy="1508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Title Text</a:t>
            </a:r>
          </a:p>
        </p:txBody>
      </p:sp>
      <p:sp>
        <p:nvSpPr>
          <p:cNvPr id="3" name="Body Level One…"/>
          <p:cNvSpPr txBox="1">
            <a:spLocks noGrp="1"/>
          </p:cNvSpPr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normAutofit/>
          </a:bodyPr>
          <a:lstStyle/>
          <a:p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4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ransition spd="med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4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3200" b="0" i="0" u="none" strike="noStrike" cap="none" spc="0" baseline="0">
          <a:solidFill>
            <a:srgbClr val="000000"/>
          </a:solidFill>
          <a:uFillTx/>
          <a:latin typeface="+mj-lt"/>
          <a:ea typeface="+mj-ea"/>
          <a:cs typeface="+mj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2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0B0B0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5" name="Rectangle 2"/>
          <p:cNvSpPr/>
          <p:nvPr/>
        </p:nvSpPr>
        <p:spPr>
          <a:xfrm>
            <a:off x="-1" y="0"/>
            <a:ext cx="201170" cy="6858000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96" name="TextBox 3"/>
          <p:cNvSpPr txBox="1"/>
          <p:nvPr/>
        </p:nvSpPr>
        <p:spPr>
          <a:xfrm>
            <a:off x="1005839" y="1965960"/>
            <a:ext cx="10058401" cy="19841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300" b="1">
                <a:solidFill>
                  <a:srgbClr val="F07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ORANGE BUSINESS</a:t>
            </a:r>
          </a:p>
        </p:txBody>
      </p:sp>
      <p:sp>
        <p:nvSpPr>
          <p:cNvPr id="97" name="TextBox 4"/>
          <p:cNvSpPr txBox="1"/>
          <p:nvPr/>
        </p:nvSpPr>
        <p:spPr>
          <a:xfrm>
            <a:off x="1005839" y="2377439"/>
            <a:ext cx="10058401" cy="14914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04999"/>
              </a:lnSpc>
              <a:defRPr sz="4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Opportunity Spaces</a:t>
            </a:r>
          </a:p>
          <a:p>
            <a:pPr>
              <a:lnSpc>
                <a:spcPct val="104999"/>
              </a:lnSpc>
              <a:defRPr sz="4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Innovation Radar</a:t>
            </a:r>
          </a:p>
        </p:txBody>
      </p:sp>
      <p:sp>
        <p:nvSpPr>
          <p:cNvPr id="98" name="TextBox 5"/>
          <p:cNvSpPr txBox="1"/>
          <p:nvPr/>
        </p:nvSpPr>
        <p:spPr>
          <a:xfrm>
            <a:off x="1005839" y="3977638"/>
            <a:ext cx="9144001" cy="46436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C3C2B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A regularly refreshed view of specific innovation opportunities — each scored on how attractive it is, how urgent the window is, and how strong Orange's right to win is.</a:t>
            </a:r>
          </a:p>
        </p:txBody>
      </p:sp>
      <p:sp>
        <p:nvSpPr>
          <p:cNvPr id="99" name="TextBox 6"/>
          <p:cNvSpPr txBox="1"/>
          <p:nvPr/>
        </p:nvSpPr>
        <p:spPr>
          <a:xfrm>
            <a:off x="1005839" y="5120640"/>
            <a:ext cx="10058401" cy="198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7999"/>
              </a:lnSpc>
              <a:defRPr sz="13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MVP walkthrough</a:t>
            </a:r>
            <a:r>
              <a:rPr b="0">
                <a:solidFill>
                  <a:srgbClr val="6B6963"/>
                </a:solidFill>
              </a:rPr>
              <a:t>   ·   concepts · functionality · planning · architecture</a:t>
            </a:r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Box 1"/>
          <p:cNvSpPr txBox="1"/>
          <p:nvPr/>
        </p:nvSpPr>
        <p:spPr>
          <a:xfrm>
            <a:off x="548639" y="256031"/>
            <a:ext cx="173736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9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WHY</a:t>
            </a:r>
          </a:p>
        </p:txBody>
      </p:sp>
      <p:sp>
        <p:nvSpPr>
          <p:cNvPr id="102" name="TextBox 2"/>
          <p:cNvSpPr txBox="1"/>
          <p:nvPr/>
        </p:nvSpPr>
        <p:spPr>
          <a:xfrm>
            <a:off x="548639" y="603504"/>
            <a:ext cx="10881361" cy="4739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2700" b="1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The problem is not a shortage of information</a:t>
            </a:r>
          </a:p>
        </p:txBody>
      </p:sp>
      <p:sp>
        <p:nvSpPr>
          <p:cNvPr id="103" name="TextBox 3"/>
          <p:cNvSpPr txBox="1"/>
          <p:nvPr/>
        </p:nvSpPr>
        <p:spPr>
          <a:xfrm>
            <a:off x="548639" y="1188719"/>
            <a:ext cx="10881361" cy="26425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The difference is specificity: from generic technology themes to an opportunity a salesperson can use.</a:t>
            </a:r>
          </a:p>
        </p:txBody>
      </p:sp>
      <p:sp>
        <p:nvSpPr>
          <p:cNvPr id="104" name="Rounded Rectangle 4"/>
          <p:cNvSpPr/>
          <p:nvPr/>
        </p:nvSpPr>
        <p:spPr>
          <a:xfrm>
            <a:off x="594359" y="1783079"/>
            <a:ext cx="5257801" cy="4160521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15240">
            <a:solidFill>
              <a:srgbClr val="DEDEDA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5" name="Rounded Rectangle 5"/>
          <p:cNvSpPr/>
          <p:nvPr/>
        </p:nvSpPr>
        <p:spPr>
          <a:xfrm>
            <a:off x="868680" y="2011679"/>
            <a:ext cx="1691640" cy="329185"/>
          </a:xfrm>
          <a:prstGeom prst="roundRect">
            <a:avLst>
              <a:gd name="adj" fmla="val 8000"/>
            </a:avLst>
          </a:prstGeom>
          <a:solidFill>
            <a:srgbClr val="B9372D"/>
          </a:solidFill>
          <a:ln>
            <a:solidFill>
              <a:srgbClr val="B9372D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06" name="TextBox 6"/>
          <p:cNvSpPr txBox="1"/>
          <p:nvPr/>
        </p:nvSpPr>
        <p:spPr>
          <a:xfrm>
            <a:off x="914400" y="2061972"/>
            <a:ext cx="1600200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8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REJECTED AS TOPICS</a:t>
            </a:r>
          </a:p>
        </p:txBody>
      </p:sp>
      <p:sp>
        <p:nvSpPr>
          <p:cNvPr id="107" name="TextBox 7"/>
          <p:cNvSpPr txBox="1"/>
          <p:nvPr/>
        </p:nvSpPr>
        <p:spPr>
          <a:xfrm>
            <a:off x="914400" y="2542032"/>
            <a:ext cx="4434840" cy="77059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600" b="1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Generic, undated, unsourced — and disconnected from what Orange can actually sell.</a:t>
            </a:r>
          </a:p>
        </p:txBody>
      </p:sp>
      <p:sp>
        <p:nvSpPr>
          <p:cNvPr id="108" name="TextBox 8"/>
          <p:cNvSpPr txBox="1"/>
          <p:nvPr/>
        </p:nvSpPr>
        <p:spPr>
          <a:xfrm>
            <a:off x="960119" y="3401567"/>
            <a:ext cx="182881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400" b="1">
                <a:solidFill>
                  <a:srgbClr val="B9372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×</a:t>
            </a:r>
          </a:p>
        </p:txBody>
      </p:sp>
      <p:sp>
        <p:nvSpPr>
          <p:cNvPr id="109" name="TextBox 9"/>
          <p:cNvSpPr txBox="1"/>
          <p:nvPr/>
        </p:nvSpPr>
        <p:spPr>
          <a:xfrm>
            <a:off x="1344167" y="3401567"/>
            <a:ext cx="3886200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“AI”</a:t>
            </a:r>
          </a:p>
        </p:txBody>
      </p:sp>
      <p:sp>
        <p:nvSpPr>
          <p:cNvPr id="110" name="TextBox 10"/>
          <p:cNvSpPr txBox="1"/>
          <p:nvPr/>
        </p:nvSpPr>
        <p:spPr>
          <a:xfrm>
            <a:off x="960119" y="3840479"/>
            <a:ext cx="182881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400" b="1">
                <a:solidFill>
                  <a:srgbClr val="B9372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×</a:t>
            </a:r>
          </a:p>
        </p:txBody>
      </p:sp>
      <p:sp>
        <p:nvSpPr>
          <p:cNvPr id="111" name="TextBox 11"/>
          <p:cNvSpPr txBox="1"/>
          <p:nvPr/>
        </p:nvSpPr>
        <p:spPr>
          <a:xfrm>
            <a:off x="1344167" y="3840479"/>
            <a:ext cx="3886200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“Cloud”</a:t>
            </a:r>
          </a:p>
        </p:txBody>
      </p:sp>
      <p:sp>
        <p:nvSpPr>
          <p:cNvPr id="112" name="TextBox 12"/>
          <p:cNvSpPr txBox="1"/>
          <p:nvPr/>
        </p:nvSpPr>
        <p:spPr>
          <a:xfrm>
            <a:off x="960119" y="4279391"/>
            <a:ext cx="182881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400" b="1">
                <a:solidFill>
                  <a:srgbClr val="B9372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×</a:t>
            </a:r>
          </a:p>
        </p:txBody>
      </p:sp>
      <p:sp>
        <p:nvSpPr>
          <p:cNvPr id="113" name="TextBox 13"/>
          <p:cNvSpPr txBox="1"/>
          <p:nvPr/>
        </p:nvSpPr>
        <p:spPr>
          <a:xfrm>
            <a:off x="1344167" y="4279391"/>
            <a:ext cx="3886200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“Cybersecurity”</a:t>
            </a:r>
          </a:p>
        </p:txBody>
      </p:sp>
      <p:sp>
        <p:nvSpPr>
          <p:cNvPr id="114" name="TextBox 14"/>
          <p:cNvSpPr txBox="1"/>
          <p:nvPr/>
        </p:nvSpPr>
        <p:spPr>
          <a:xfrm>
            <a:off x="960119" y="4718303"/>
            <a:ext cx="182881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400" b="1">
                <a:solidFill>
                  <a:srgbClr val="B9372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×</a:t>
            </a:r>
          </a:p>
        </p:txBody>
      </p:sp>
      <p:sp>
        <p:nvSpPr>
          <p:cNvPr id="115" name="TextBox 15"/>
          <p:cNvSpPr txBox="1"/>
          <p:nvPr/>
        </p:nvSpPr>
        <p:spPr>
          <a:xfrm>
            <a:off x="1344167" y="4718303"/>
            <a:ext cx="3886200" cy="2888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4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“Digital transformation in retail”</a:t>
            </a:r>
          </a:p>
        </p:txBody>
      </p:sp>
      <p:sp>
        <p:nvSpPr>
          <p:cNvPr id="116" name="Rounded Rectangle 16"/>
          <p:cNvSpPr/>
          <p:nvPr/>
        </p:nvSpPr>
        <p:spPr>
          <a:xfrm>
            <a:off x="6263640" y="1783079"/>
            <a:ext cx="5321809" cy="4160521"/>
          </a:xfrm>
          <a:prstGeom prst="roundRect">
            <a:avLst>
              <a:gd name="adj" fmla="val 5000"/>
            </a:avLst>
          </a:prstGeom>
          <a:solidFill>
            <a:srgbClr val="FFF4EB"/>
          </a:solidFill>
          <a:ln w="15240">
            <a:solidFill>
              <a:srgbClr val="FF7900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7" name="Rounded Rectangle 17"/>
          <p:cNvSpPr/>
          <p:nvPr/>
        </p:nvSpPr>
        <p:spPr>
          <a:xfrm>
            <a:off x="6537959" y="2011679"/>
            <a:ext cx="2240281" cy="329185"/>
          </a:xfrm>
          <a:prstGeom prst="roundRect">
            <a:avLst>
              <a:gd name="adj" fmla="val 8000"/>
            </a:avLst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18" name="TextBox 18"/>
          <p:cNvSpPr txBox="1"/>
          <p:nvPr/>
        </p:nvSpPr>
        <p:spPr>
          <a:xfrm>
            <a:off x="6583679" y="2061972"/>
            <a:ext cx="2148841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8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WHAT A TOPIC MUST LOOK LIKE</a:t>
            </a:r>
          </a:p>
        </p:txBody>
      </p:sp>
      <p:sp>
        <p:nvSpPr>
          <p:cNvPr id="119" name="TextBox 19"/>
          <p:cNvSpPr txBox="1"/>
          <p:nvPr/>
        </p:nvSpPr>
        <p:spPr>
          <a:xfrm>
            <a:off x="6583679" y="2578607"/>
            <a:ext cx="4663441" cy="69231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2100" b="1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Private 5G plus edge vision for safety compliance in mining</a:t>
            </a:r>
          </a:p>
        </p:txBody>
      </p:sp>
      <p:sp>
        <p:nvSpPr>
          <p:cNvPr id="120" name="TextBox 20"/>
          <p:cNvSpPr txBox="1"/>
          <p:nvPr/>
        </p:nvSpPr>
        <p:spPr>
          <a:xfrm>
            <a:off x="6611111" y="3657600"/>
            <a:ext cx="987553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8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TECHNOLOGY</a:t>
            </a:r>
          </a:p>
        </p:txBody>
      </p:sp>
      <p:sp>
        <p:nvSpPr>
          <p:cNvPr id="121" name="TextBox 21"/>
          <p:cNvSpPr txBox="1"/>
          <p:nvPr/>
        </p:nvSpPr>
        <p:spPr>
          <a:xfrm>
            <a:off x="7799831" y="3657600"/>
            <a:ext cx="3310129" cy="2392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 b="1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Private 5G + edge vision</a:t>
            </a:r>
          </a:p>
        </p:txBody>
      </p:sp>
      <p:sp>
        <p:nvSpPr>
          <p:cNvPr id="122" name="TextBox 22"/>
          <p:cNvSpPr txBox="1"/>
          <p:nvPr/>
        </p:nvSpPr>
        <p:spPr>
          <a:xfrm>
            <a:off x="6611111" y="4160520"/>
            <a:ext cx="987553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8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USE CASE</a:t>
            </a:r>
          </a:p>
        </p:txBody>
      </p:sp>
      <p:sp>
        <p:nvSpPr>
          <p:cNvPr id="123" name="TextBox 23"/>
          <p:cNvSpPr txBox="1"/>
          <p:nvPr/>
        </p:nvSpPr>
        <p:spPr>
          <a:xfrm>
            <a:off x="7799831" y="4160520"/>
            <a:ext cx="3310129" cy="2392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 b="1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Safety compliance</a:t>
            </a:r>
          </a:p>
        </p:txBody>
      </p:sp>
      <p:sp>
        <p:nvSpPr>
          <p:cNvPr id="124" name="TextBox 24"/>
          <p:cNvSpPr txBox="1"/>
          <p:nvPr/>
        </p:nvSpPr>
        <p:spPr>
          <a:xfrm>
            <a:off x="6611111" y="4663440"/>
            <a:ext cx="987553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8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VERTICAL</a:t>
            </a:r>
          </a:p>
        </p:txBody>
      </p:sp>
      <p:sp>
        <p:nvSpPr>
          <p:cNvPr id="125" name="TextBox 25"/>
          <p:cNvSpPr txBox="1"/>
          <p:nvPr/>
        </p:nvSpPr>
        <p:spPr>
          <a:xfrm>
            <a:off x="7799831" y="4663440"/>
            <a:ext cx="3310129" cy="2392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 b="1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Mining</a:t>
            </a:r>
          </a:p>
        </p:txBody>
      </p:sp>
      <p:sp>
        <p:nvSpPr>
          <p:cNvPr id="126" name="TextBox 26"/>
          <p:cNvSpPr txBox="1"/>
          <p:nvPr/>
        </p:nvSpPr>
        <p:spPr>
          <a:xfrm>
            <a:off x="6583679" y="5321808"/>
            <a:ext cx="4526281" cy="27653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3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Specific enough for a salesperson to use in a meeting</a:t>
            </a:r>
          </a:p>
        </p:txBody>
      </p:sp>
      <p:sp>
        <p:nvSpPr>
          <p:cNvPr id="127" name="TextBox 29"/>
          <p:cNvSpPr txBox="1"/>
          <p:nvPr/>
        </p:nvSpPr>
        <p:spPr>
          <a:xfrm>
            <a:off x="11475719" y="6528816"/>
            <a:ext cx="182881" cy="177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r">
              <a:defRPr sz="7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2</a:t>
            </a:r>
          </a:p>
        </p:txBody>
      </p:sp>
      <p:sp>
        <p:nvSpPr>
          <p:cNvPr id="128" name="Rectangle 1"/>
          <p:cNvSpPr/>
          <p:nvPr/>
        </p:nvSpPr>
        <p:spPr>
          <a:xfrm>
            <a:off x="-1" y="0"/>
            <a:ext cx="12191697" cy="54864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29" name="TextBox 19"/>
          <p:cNvSpPr txBox="1"/>
          <p:nvPr/>
        </p:nvSpPr>
        <p:spPr>
          <a:xfrm>
            <a:off x="685800" y="6355079"/>
            <a:ext cx="7315200" cy="136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9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Orange Business · Opportunity Spaces / Innovation Radar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1"/>
          <p:cNvSpPr/>
          <p:nvPr/>
        </p:nvSpPr>
        <p:spPr>
          <a:xfrm>
            <a:off x="-1" y="0"/>
            <a:ext cx="12191697" cy="54864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2" name="TextBox 2"/>
          <p:cNvSpPr txBox="1"/>
          <p:nvPr/>
        </p:nvSpPr>
        <p:spPr>
          <a:xfrm>
            <a:off x="685799" y="457200"/>
            <a:ext cx="10789922" cy="161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100" b="1">
                <a:solidFill>
                  <a:srgbClr val="F07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CONCEPT</a:t>
            </a:r>
          </a:p>
        </p:txBody>
      </p:sp>
      <p:sp>
        <p:nvSpPr>
          <p:cNvPr id="133" name="TextBox 3"/>
          <p:cNvSpPr txBox="1"/>
          <p:nvPr/>
        </p:nvSpPr>
        <p:spPr>
          <a:xfrm>
            <a:off x="685799" y="789940"/>
            <a:ext cx="10789922" cy="483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3200" b="1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An opportunity space is a triple</a:t>
            </a:r>
          </a:p>
        </p:txBody>
      </p:sp>
      <p:sp>
        <p:nvSpPr>
          <p:cNvPr id="134" name="TextBox 4"/>
          <p:cNvSpPr txBox="1"/>
          <p:nvPr/>
        </p:nvSpPr>
        <p:spPr>
          <a:xfrm>
            <a:off x="685800" y="1481327"/>
            <a:ext cx="10058400" cy="2105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Identity is the triple. The statement is a rendering of it — both are stored.</a:t>
            </a:r>
          </a:p>
        </p:txBody>
      </p:sp>
      <p:sp>
        <p:nvSpPr>
          <p:cNvPr id="135" name="TextBox 18"/>
          <p:cNvSpPr txBox="1"/>
          <p:nvPr/>
        </p:nvSpPr>
        <p:spPr>
          <a:xfrm>
            <a:off x="685800" y="5261068"/>
            <a:ext cx="10881360" cy="3825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2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The triple gives deduplication and filtering. The statement gives the specificity a salesperson needs. A candidate that does not resolve to exactly one of each fails validation.</a:t>
            </a:r>
          </a:p>
        </p:txBody>
      </p:sp>
      <p:sp>
        <p:nvSpPr>
          <p:cNvPr id="136" name="TextBox 19"/>
          <p:cNvSpPr txBox="1"/>
          <p:nvPr/>
        </p:nvSpPr>
        <p:spPr>
          <a:xfrm>
            <a:off x="685800" y="6355079"/>
            <a:ext cx="7315200" cy="136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9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Orange Business · Opportunity Spaces / Innovation Radar</a:t>
            </a:r>
          </a:p>
        </p:txBody>
      </p:sp>
      <p:sp>
        <p:nvSpPr>
          <p:cNvPr id="137" name="TextBox 20"/>
          <p:cNvSpPr txBox="1"/>
          <p:nvPr/>
        </p:nvSpPr>
        <p:spPr>
          <a:xfrm>
            <a:off x="10607040" y="6355079"/>
            <a:ext cx="914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7999"/>
              </a:lnSpc>
              <a:defRPr sz="900">
                <a:solidFill>
                  <a:srgbClr val="6B6963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r>
              <a:t>3</a:t>
            </a:r>
          </a:p>
        </p:txBody>
      </p:sp>
      <p:sp>
        <p:nvSpPr>
          <p:cNvPr id="138" name="TextBox 4"/>
          <p:cNvSpPr txBox="1"/>
          <p:nvPr/>
        </p:nvSpPr>
        <p:spPr>
          <a:xfrm>
            <a:off x="694943" y="1917000"/>
            <a:ext cx="228601" cy="2888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 anchor="ctr">
            <a:spAutoFit/>
          </a:bodyPr>
          <a:lstStyle>
            <a:lvl1pPr algn="ctr">
              <a:defRPr sz="14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1</a:t>
            </a:r>
          </a:p>
        </p:txBody>
      </p:sp>
      <p:sp>
        <p:nvSpPr>
          <p:cNvPr id="139" name="TextBox 7"/>
          <p:cNvSpPr txBox="1"/>
          <p:nvPr/>
        </p:nvSpPr>
        <p:spPr>
          <a:xfrm>
            <a:off x="642154" y="1947919"/>
            <a:ext cx="2194561" cy="226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0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STRUCTURED IDENTITY</a:t>
            </a:r>
          </a:p>
        </p:txBody>
      </p:sp>
      <p:sp>
        <p:nvSpPr>
          <p:cNvPr id="140" name="Rounded Rectangle 8"/>
          <p:cNvSpPr/>
          <p:nvPr/>
        </p:nvSpPr>
        <p:spPr>
          <a:xfrm>
            <a:off x="667511" y="2340303"/>
            <a:ext cx="3246121" cy="1234441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>
            <a:solidFill>
              <a:srgbClr val="DEDEDA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1" name="TextBox 9"/>
          <p:cNvSpPr txBox="1"/>
          <p:nvPr/>
        </p:nvSpPr>
        <p:spPr>
          <a:xfrm>
            <a:off x="877822" y="2550615"/>
            <a:ext cx="2816353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9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VERTICAL</a:t>
            </a:r>
          </a:p>
        </p:txBody>
      </p:sp>
      <p:sp>
        <p:nvSpPr>
          <p:cNvPr id="142" name="TextBox 10"/>
          <p:cNvSpPr txBox="1"/>
          <p:nvPr/>
        </p:nvSpPr>
        <p:spPr>
          <a:xfrm>
            <a:off x="877822" y="2943807"/>
            <a:ext cx="2816353" cy="3383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700" b="1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Manufacturing</a:t>
            </a:r>
          </a:p>
        </p:txBody>
      </p:sp>
      <p:sp>
        <p:nvSpPr>
          <p:cNvPr id="143" name="TextBox 11"/>
          <p:cNvSpPr txBox="1"/>
          <p:nvPr/>
        </p:nvSpPr>
        <p:spPr>
          <a:xfrm>
            <a:off x="4078223" y="2788359"/>
            <a:ext cx="256033" cy="4247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2300" b="1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×</a:t>
            </a:r>
          </a:p>
        </p:txBody>
      </p:sp>
      <p:sp>
        <p:nvSpPr>
          <p:cNvPr id="144" name="Rounded Rectangle 12"/>
          <p:cNvSpPr/>
          <p:nvPr/>
        </p:nvSpPr>
        <p:spPr>
          <a:xfrm>
            <a:off x="4489702" y="2340303"/>
            <a:ext cx="3246122" cy="1234441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>
            <a:solidFill>
              <a:srgbClr val="DEDEDA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5" name="TextBox 13"/>
          <p:cNvSpPr txBox="1"/>
          <p:nvPr/>
        </p:nvSpPr>
        <p:spPr>
          <a:xfrm>
            <a:off x="4700014" y="2550615"/>
            <a:ext cx="2816354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9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USE CASE</a:t>
            </a:r>
          </a:p>
        </p:txBody>
      </p:sp>
      <p:sp>
        <p:nvSpPr>
          <p:cNvPr id="146" name="TextBox 14"/>
          <p:cNvSpPr txBox="1"/>
          <p:nvPr/>
        </p:nvSpPr>
        <p:spPr>
          <a:xfrm>
            <a:off x="4700014" y="2943807"/>
            <a:ext cx="2816354" cy="3383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700" b="1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OT / ICS security</a:t>
            </a:r>
          </a:p>
        </p:txBody>
      </p:sp>
      <p:sp>
        <p:nvSpPr>
          <p:cNvPr id="147" name="TextBox 15"/>
          <p:cNvSpPr txBox="1"/>
          <p:nvPr/>
        </p:nvSpPr>
        <p:spPr>
          <a:xfrm>
            <a:off x="7900415" y="2788359"/>
            <a:ext cx="256033" cy="4247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2300" b="1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×</a:t>
            </a:r>
          </a:p>
        </p:txBody>
      </p:sp>
      <p:sp>
        <p:nvSpPr>
          <p:cNvPr id="148" name="Rounded Rectangle 16"/>
          <p:cNvSpPr/>
          <p:nvPr/>
        </p:nvSpPr>
        <p:spPr>
          <a:xfrm>
            <a:off x="8311896" y="2340303"/>
            <a:ext cx="3246121" cy="1234441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>
            <a:solidFill>
              <a:srgbClr val="DEDEDA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9" name="TextBox 17"/>
          <p:cNvSpPr txBox="1"/>
          <p:nvPr/>
        </p:nvSpPr>
        <p:spPr>
          <a:xfrm>
            <a:off x="8522207" y="2550615"/>
            <a:ext cx="2816353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9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TECHNOLOGY</a:t>
            </a:r>
          </a:p>
        </p:txBody>
      </p:sp>
      <p:sp>
        <p:nvSpPr>
          <p:cNvPr id="150" name="TextBox 18"/>
          <p:cNvSpPr txBox="1"/>
          <p:nvPr/>
        </p:nvSpPr>
        <p:spPr>
          <a:xfrm>
            <a:off x="8522207" y="2943807"/>
            <a:ext cx="2816353" cy="3383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700" b="1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SIEM and SOAR</a:t>
            </a:r>
          </a:p>
        </p:txBody>
      </p:sp>
      <p:sp>
        <p:nvSpPr>
          <p:cNvPr id="151" name="Rounded Rectangle 24"/>
          <p:cNvSpPr/>
          <p:nvPr/>
        </p:nvSpPr>
        <p:spPr>
          <a:xfrm>
            <a:off x="640080" y="4028249"/>
            <a:ext cx="10881360" cy="960121"/>
          </a:xfrm>
          <a:prstGeom prst="roundRect">
            <a:avLst>
              <a:gd name="adj" fmla="val 5000"/>
            </a:avLst>
          </a:prstGeom>
          <a:solidFill>
            <a:srgbClr val="FFF4EB"/>
          </a:solidFill>
          <a:ln>
            <a:solidFill>
              <a:srgbClr val="FF7900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2" name="TextBox 25"/>
          <p:cNvSpPr txBox="1"/>
          <p:nvPr/>
        </p:nvSpPr>
        <p:spPr>
          <a:xfrm>
            <a:off x="719565" y="4339121"/>
            <a:ext cx="10722390" cy="338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700" b="1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SIEM/SOAR-based OT security analytics for legacy SCADA and ICS in brownfield manufacturing sites.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extBox 1"/>
          <p:cNvSpPr txBox="1"/>
          <p:nvPr/>
        </p:nvSpPr>
        <p:spPr>
          <a:xfrm>
            <a:off x="548639" y="256031"/>
            <a:ext cx="173736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9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CONCEPT</a:t>
            </a:r>
          </a:p>
        </p:txBody>
      </p:sp>
      <p:sp>
        <p:nvSpPr>
          <p:cNvPr id="155" name="TextBox 2"/>
          <p:cNvSpPr txBox="1"/>
          <p:nvPr/>
        </p:nvSpPr>
        <p:spPr>
          <a:xfrm>
            <a:off x="548639" y="603504"/>
            <a:ext cx="10881361" cy="4739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2700" b="1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How each opportunity is scored</a:t>
            </a:r>
          </a:p>
        </p:txBody>
      </p:sp>
      <p:sp>
        <p:nvSpPr>
          <p:cNvPr id="156" name="TextBox 3"/>
          <p:cNvSpPr txBox="1"/>
          <p:nvPr/>
        </p:nvSpPr>
        <p:spPr>
          <a:xfrm>
            <a:off x="548639" y="1170432"/>
            <a:ext cx="10881361" cy="2642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The three scores stay separate.</a:t>
            </a:r>
          </a:p>
        </p:txBody>
      </p:sp>
      <p:sp>
        <p:nvSpPr>
          <p:cNvPr id="157" name="Rounded Rectangle 4"/>
          <p:cNvSpPr/>
          <p:nvPr/>
        </p:nvSpPr>
        <p:spPr>
          <a:xfrm>
            <a:off x="629919" y="1719072"/>
            <a:ext cx="3310130" cy="4498848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>
            <a:solidFill>
              <a:srgbClr val="DEDEDA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58" name="TextBox 5"/>
          <p:cNvSpPr txBox="1"/>
          <p:nvPr/>
        </p:nvSpPr>
        <p:spPr>
          <a:xfrm>
            <a:off x="840231" y="1920239"/>
            <a:ext cx="2889506" cy="2392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ATTRACTIVENESS</a:t>
            </a:r>
          </a:p>
        </p:txBody>
      </p:sp>
      <p:sp>
        <p:nvSpPr>
          <p:cNvPr id="159" name="TextBox 6"/>
          <p:cNvSpPr txBox="1"/>
          <p:nvPr/>
        </p:nvSpPr>
        <p:spPr>
          <a:xfrm>
            <a:off x="858520" y="2258567"/>
            <a:ext cx="2852929" cy="276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300" b="1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Is the world moving?</a:t>
            </a:r>
          </a:p>
        </p:txBody>
      </p:sp>
      <p:sp>
        <p:nvSpPr>
          <p:cNvPr id="160" name="Rounded Rectangle 7"/>
          <p:cNvSpPr/>
          <p:nvPr/>
        </p:nvSpPr>
        <p:spPr>
          <a:xfrm>
            <a:off x="4452334" y="1711598"/>
            <a:ext cx="3310129" cy="4498849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>
            <a:solidFill>
              <a:srgbClr val="DEDEDA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1" name="TextBox 8"/>
          <p:cNvSpPr txBox="1"/>
          <p:nvPr/>
        </p:nvSpPr>
        <p:spPr>
          <a:xfrm>
            <a:off x="4662646" y="1912766"/>
            <a:ext cx="2889505" cy="2392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RIGHT TO WIN</a:t>
            </a:r>
          </a:p>
        </p:txBody>
      </p:sp>
      <p:sp>
        <p:nvSpPr>
          <p:cNvPr id="162" name="TextBox 9"/>
          <p:cNvSpPr txBox="1"/>
          <p:nvPr/>
        </p:nvSpPr>
        <p:spPr>
          <a:xfrm>
            <a:off x="4680934" y="2251094"/>
            <a:ext cx="2852929" cy="276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300" b="1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Can Orange play &amp; win?</a:t>
            </a:r>
          </a:p>
        </p:txBody>
      </p:sp>
      <p:sp>
        <p:nvSpPr>
          <p:cNvPr id="163" name="Rounded Rectangle 10"/>
          <p:cNvSpPr/>
          <p:nvPr/>
        </p:nvSpPr>
        <p:spPr>
          <a:xfrm>
            <a:off x="8261224" y="1719072"/>
            <a:ext cx="3310129" cy="4498848"/>
          </a:xfrm>
          <a:prstGeom prst="roundRect">
            <a:avLst>
              <a:gd name="adj" fmla="val 5000"/>
            </a:avLst>
          </a:prstGeom>
          <a:solidFill>
            <a:srgbClr val="FFF4EB"/>
          </a:solidFill>
          <a:ln>
            <a:solidFill>
              <a:srgbClr val="FF7900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64" name="TextBox 11"/>
          <p:cNvSpPr txBox="1"/>
          <p:nvPr/>
        </p:nvSpPr>
        <p:spPr>
          <a:xfrm>
            <a:off x="8471535" y="1920239"/>
            <a:ext cx="2889505" cy="2392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CONVICTION</a:t>
            </a:r>
          </a:p>
        </p:txBody>
      </p:sp>
      <p:sp>
        <p:nvSpPr>
          <p:cNvPr id="165" name="TextBox 12"/>
          <p:cNvSpPr txBox="1"/>
          <p:nvPr/>
        </p:nvSpPr>
        <p:spPr>
          <a:xfrm>
            <a:off x="8489822" y="2258567"/>
            <a:ext cx="2852929" cy="2765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300" b="1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Do our own people believe it?</a:t>
            </a:r>
          </a:p>
        </p:txBody>
      </p:sp>
      <p:sp>
        <p:nvSpPr>
          <p:cNvPr id="166" name="TextBox 13"/>
          <p:cNvSpPr txBox="1"/>
          <p:nvPr/>
        </p:nvSpPr>
        <p:spPr>
          <a:xfrm>
            <a:off x="922528" y="2761488"/>
            <a:ext cx="438913" cy="226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r">
              <a:defRPr sz="10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30%</a:t>
            </a:r>
          </a:p>
        </p:txBody>
      </p:sp>
      <p:sp>
        <p:nvSpPr>
          <p:cNvPr id="167" name="TextBox 14"/>
          <p:cNvSpPr txBox="1"/>
          <p:nvPr/>
        </p:nvSpPr>
        <p:spPr>
          <a:xfrm>
            <a:off x="2513203" y="2761487"/>
            <a:ext cx="1965961" cy="2269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0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Signal strength</a:t>
            </a:r>
          </a:p>
        </p:txBody>
      </p:sp>
      <p:sp>
        <p:nvSpPr>
          <p:cNvPr id="168" name="TextBox 15"/>
          <p:cNvSpPr txBox="1"/>
          <p:nvPr/>
        </p:nvSpPr>
        <p:spPr>
          <a:xfrm>
            <a:off x="922528" y="3154679"/>
            <a:ext cx="438913" cy="2269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r">
              <a:defRPr sz="10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20%</a:t>
            </a:r>
          </a:p>
        </p:txBody>
      </p:sp>
      <p:sp>
        <p:nvSpPr>
          <p:cNvPr id="169" name="TextBox 16"/>
          <p:cNvSpPr txBox="1"/>
          <p:nvPr/>
        </p:nvSpPr>
        <p:spPr>
          <a:xfrm>
            <a:off x="2513203" y="3154679"/>
            <a:ext cx="1965961" cy="226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0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Source diversity</a:t>
            </a:r>
          </a:p>
        </p:txBody>
      </p:sp>
      <p:sp>
        <p:nvSpPr>
          <p:cNvPr id="170" name="TextBox 17"/>
          <p:cNvSpPr txBox="1"/>
          <p:nvPr/>
        </p:nvSpPr>
        <p:spPr>
          <a:xfrm>
            <a:off x="922528" y="3547871"/>
            <a:ext cx="438913" cy="2269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r">
              <a:defRPr sz="10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20%</a:t>
            </a:r>
          </a:p>
        </p:txBody>
      </p:sp>
      <p:sp>
        <p:nvSpPr>
          <p:cNvPr id="171" name="TextBox 18"/>
          <p:cNvSpPr txBox="1"/>
          <p:nvPr/>
        </p:nvSpPr>
        <p:spPr>
          <a:xfrm>
            <a:off x="2513203" y="3547871"/>
            <a:ext cx="1965961" cy="226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0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Evidence quality</a:t>
            </a:r>
          </a:p>
        </p:txBody>
      </p:sp>
      <p:sp>
        <p:nvSpPr>
          <p:cNvPr id="172" name="TextBox 19"/>
          <p:cNvSpPr txBox="1"/>
          <p:nvPr/>
        </p:nvSpPr>
        <p:spPr>
          <a:xfrm>
            <a:off x="922528" y="3941064"/>
            <a:ext cx="438913" cy="226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r">
              <a:defRPr sz="10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15%</a:t>
            </a:r>
          </a:p>
        </p:txBody>
      </p:sp>
      <p:sp>
        <p:nvSpPr>
          <p:cNvPr id="173" name="TextBox 20"/>
          <p:cNvSpPr txBox="1"/>
          <p:nvPr/>
        </p:nvSpPr>
        <p:spPr>
          <a:xfrm>
            <a:off x="2513203" y="3941063"/>
            <a:ext cx="1965961" cy="2269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0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Novelty / momentum</a:t>
            </a:r>
          </a:p>
        </p:txBody>
      </p:sp>
      <p:sp>
        <p:nvSpPr>
          <p:cNvPr id="174" name="TextBox 21"/>
          <p:cNvSpPr txBox="1"/>
          <p:nvPr/>
        </p:nvSpPr>
        <p:spPr>
          <a:xfrm>
            <a:off x="922528" y="4334255"/>
            <a:ext cx="438913" cy="2269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r">
              <a:defRPr sz="10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15%</a:t>
            </a:r>
          </a:p>
        </p:txBody>
      </p:sp>
      <p:sp>
        <p:nvSpPr>
          <p:cNvPr id="175" name="TextBox 22"/>
          <p:cNvSpPr txBox="1"/>
          <p:nvPr/>
        </p:nvSpPr>
        <p:spPr>
          <a:xfrm>
            <a:off x="2513203" y="4334255"/>
            <a:ext cx="1965961" cy="2269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0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Strategic relevance</a:t>
            </a:r>
          </a:p>
        </p:txBody>
      </p:sp>
      <p:sp>
        <p:nvSpPr>
          <p:cNvPr id="176" name="Rounded Rectangle 24"/>
          <p:cNvSpPr/>
          <p:nvPr/>
        </p:nvSpPr>
        <p:spPr>
          <a:xfrm>
            <a:off x="1242567" y="5102352"/>
            <a:ext cx="2057401" cy="65836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FF7900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77" name="TextBox 25"/>
          <p:cNvSpPr txBox="1"/>
          <p:nvPr/>
        </p:nvSpPr>
        <p:spPr>
          <a:xfrm>
            <a:off x="1288287" y="5212079"/>
            <a:ext cx="1965961" cy="2024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800" b="1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EXAMPLE SCORE</a:t>
            </a:r>
          </a:p>
        </p:txBody>
      </p:sp>
      <p:sp>
        <p:nvSpPr>
          <p:cNvPr id="178" name="TextBox 26"/>
          <p:cNvSpPr txBox="1"/>
          <p:nvPr/>
        </p:nvSpPr>
        <p:spPr>
          <a:xfrm>
            <a:off x="1338770" y="5393296"/>
            <a:ext cx="1965961" cy="3383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7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61.23 / 100</a:t>
            </a:r>
          </a:p>
        </p:txBody>
      </p:sp>
      <p:sp>
        <p:nvSpPr>
          <p:cNvPr id="179" name="Rounded Rectangle 42"/>
          <p:cNvSpPr/>
          <p:nvPr/>
        </p:nvSpPr>
        <p:spPr>
          <a:xfrm>
            <a:off x="5064982" y="5094879"/>
            <a:ext cx="2057401" cy="65836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FF7900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0" name="TextBox 43"/>
          <p:cNvSpPr txBox="1"/>
          <p:nvPr/>
        </p:nvSpPr>
        <p:spPr>
          <a:xfrm>
            <a:off x="5110702" y="5204606"/>
            <a:ext cx="1965961" cy="2024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800" b="1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EXAMPLE SCORE</a:t>
            </a:r>
          </a:p>
        </p:txBody>
      </p:sp>
      <p:sp>
        <p:nvSpPr>
          <p:cNvPr id="181" name="TextBox 44"/>
          <p:cNvSpPr txBox="1"/>
          <p:nvPr/>
        </p:nvSpPr>
        <p:spPr>
          <a:xfrm>
            <a:off x="5110702" y="5367447"/>
            <a:ext cx="1965961" cy="3383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7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88.00 / 100</a:t>
            </a:r>
          </a:p>
        </p:txBody>
      </p:sp>
      <p:sp>
        <p:nvSpPr>
          <p:cNvPr id="182" name="TextBox 45"/>
          <p:cNvSpPr txBox="1"/>
          <p:nvPr/>
        </p:nvSpPr>
        <p:spPr>
          <a:xfrm>
            <a:off x="8572118" y="2788920"/>
            <a:ext cx="822961" cy="21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9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Strategy</a:t>
            </a:r>
          </a:p>
        </p:txBody>
      </p:sp>
      <p:sp>
        <p:nvSpPr>
          <p:cNvPr id="183" name="TextBox 46"/>
          <p:cNvSpPr txBox="1"/>
          <p:nvPr/>
        </p:nvSpPr>
        <p:spPr>
          <a:xfrm>
            <a:off x="10291828" y="2769075"/>
            <a:ext cx="132588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9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Strategic fit</a:t>
            </a:r>
          </a:p>
        </p:txBody>
      </p:sp>
      <p:sp>
        <p:nvSpPr>
          <p:cNvPr id="184" name="TextBox 49"/>
          <p:cNvSpPr txBox="1"/>
          <p:nvPr/>
        </p:nvSpPr>
        <p:spPr>
          <a:xfrm>
            <a:off x="8572118" y="3144036"/>
            <a:ext cx="822961" cy="21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9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Sales</a:t>
            </a:r>
          </a:p>
        </p:txBody>
      </p:sp>
      <p:sp>
        <p:nvSpPr>
          <p:cNvPr id="185" name="TextBox 50"/>
          <p:cNvSpPr txBox="1"/>
          <p:nvPr/>
        </p:nvSpPr>
        <p:spPr>
          <a:xfrm>
            <a:off x="10291828" y="3114886"/>
            <a:ext cx="1325881" cy="21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9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Customer demand</a:t>
            </a:r>
          </a:p>
        </p:txBody>
      </p:sp>
      <p:sp>
        <p:nvSpPr>
          <p:cNvPr id="186" name="TextBox 53"/>
          <p:cNvSpPr txBox="1"/>
          <p:nvPr/>
        </p:nvSpPr>
        <p:spPr>
          <a:xfrm>
            <a:off x="8572118" y="3499774"/>
            <a:ext cx="82296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9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Presales</a:t>
            </a:r>
          </a:p>
        </p:txBody>
      </p:sp>
      <p:sp>
        <p:nvSpPr>
          <p:cNvPr id="187" name="TextBox 54"/>
          <p:cNvSpPr txBox="1"/>
          <p:nvPr/>
        </p:nvSpPr>
        <p:spPr>
          <a:xfrm>
            <a:off x="10291828" y="3468570"/>
            <a:ext cx="132588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9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Deliverability</a:t>
            </a:r>
          </a:p>
        </p:txBody>
      </p:sp>
      <p:sp>
        <p:nvSpPr>
          <p:cNvPr id="188" name="Rounded Rectangle 59"/>
          <p:cNvSpPr/>
          <p:nvPr/>
        </p:nvSpPr>
        <p:spPr>
          <a:xfrm>
            <a:off x="8965312" y="5102352"/>
            <a:ext cx="2057401" cy="65836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FF7900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9" name="TextBox 60"/>
          <p:cNvSpPr txBox="1"/>
          <p:nvPr/>
        </p:nvSpPr>
        <p:spPr>
          <a:xfrm>
            <a:off x="9011031" y="5212079"/>
            <a:ext cx="1965961" cy="2024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800" b="1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EXAMPLE SCORE</a:t>
            </a:r>
          </a:p>
        </p:txBody>
      </p:sp>
      <p:sp>
        <p:nvSpPr>
          <p:cNvPr id="190" name="TextBox 61"/>
          <p:cNvSpPr txBox="1"/>
          <p:nvPr/>
        </p:nvSpPr>
        <p:spPr>
          <a:xfrm>
            <a:off x="9001887" y="5374920"/>
            <a:ext cx="1965961" cy="33837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7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75.6 / 100</a:t>
            </a:r>
          </a:p>
        </p:txBody>
      </p:sp>
      <p:sp>
        <p:nvSpPr>
          <p:cNvPr id="191" name="TextBox 62"/>
          <p:cNvSpPr txBox="1"/>
          <p:nvPr/>
        </p:nvSpPr>
        <p:spPr>
          <a:xfrm>
            <a:off x="1169796" y="5900049"/>
            <a:ext cx="1874521" cy="226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000" b="1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Market evidence</a:t>
            </a:r>
          </a:p>
        </p:txBody>
      </p:sp>
      <p:sp>
        <p:nvSpPr>
          <p:cNvPr id="192" name="TextBox 63"/>
          <p:cNvSpPr txBox="1"/>
          <p:nvPr/>
        </p:nvSpPr>
        <p:spPr>
          <a:xfrm>
            <a:off x="4978304" y="5892576"/>
            <a:ext cx="2148841" cy="226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000" b="1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Orange Business Graph</a:t>
            </a:r>
          </a:p>
        </p:txBody>
      </p:sp>
      <p:sp>
        <p:nvSpPr>
          <p:cNvPr id="193" name="TextBox 64"/>
          <p:cNvSpPr txBox="1"/>
          <p:nvPr/>
        </p:nvSpPr>
        <p:spPr>
          <a:xfrm>
            <a:off x="9047607" y="5900049"/>
            <a:ext cx="1874521" cy="226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000" b="1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Human assessment</a:t>
            </a:r>
          </a:p>
        </p:txBody>
      </p:sp>
      <p:sp>
        <p:nvSpPr>
          <p:cNvPr id="194" name="TextBox 65"/>
          <p:cNvSpPr txBox="1"/>
          <p:nvPr/>
        </p:nvSpPr>
        <p:spPr>
          <a:xfrm>
            <a:off x="548639" y="6528816"/>
            <a:ext cx="5212081" cy="177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7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Orange Business · Opportunity Spaces / Innovation Radar</a:t>
            </a:r>
          </a:p>
        </p:txBody>
      </p:sp>
      <p:sp>
        <p:nvSpPr>
          <p:cNvPr id="195" name="TextBox 34"/>
          <p:cNvSpPr txBox="1"/>
          <p:nvPr/>
        </p:nvSpPr>
        <p:spPr>
          <a:xfrm>
            <a:off x="4781518" y="2718317"/>
            <a:ext cx="411480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r">
              <a:defRPr sz="9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25%</a:t>
            </a:r>
          </a:p>
        </p:txBody>
      </p:sp>
      <p:sp>
        <p:nvSpPr>
          <p:cNvPr id="196" name="Rectangle 35"/>
          <p:cNvSpPr/>
          <p:nvPr/>
        </p:nvSpPr>
        <p:spPr>
          <a:xfrm>
            <a:off x="5348446" y="2745749"/>
            <a:ext cx="960121" cy="109729"/>
          </a:xfrm>
          <a:prstGeom prst="rect">
            <a:avLst/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97" name="TextBox 36"/>
          <p:cNvSpPr txBox="1"/>
          <p:nvPr/>
        </p:nvSpPr>
        <p:spPr>
          <a:xfrm>
            <a:off x="6464014" y="2704602"/>
            <a:ext cx="987553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8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Offer match</a:t>
            </a:r>
          </a:p>
        </p:txBody>
      </p:sp>
      <p:sp>
        <p:nvSpPr>
          <p:cNvPr id="198" name="TextBox 37"/>
          <p:cNvSpPr txBox="1"/>
          <p:nvPr/>
        </p:nvSpPr>
        <p:spPr>
          <a:xfrm>
            <a:off x="4781518" y="3029212"/>
            <a:ext cx="411480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r">
              <a:defRPr sz="9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20%</a:t>
            </a:r>
          </a:p>
        </p:txBody>
      </p:sp>
      <p:sp>
        <p:nvSpPr>
          <p:cNvPr id="199" name="Rectangle 38"/>
          <p:cNvSpPr/>
          <p:nvPr/>
        </p:nvSpPr>
        <p:spPr>
          <a:xfrm>
            <a:off x="5348446" y="3056646"/>
            <a:ext cx="768097" cy="109729"/>
          </a:xfrm>
          <a:prstGeom prst="rect">
            <a:avLst/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0" name="TextBox 39"/>
          <p:cNvSpPr txBox="1"/>
          <p:nvPr/>
        </p:nvSpPr>
        <p:spPr>
          <a:xfrm>
            <a:off x="6464014" y="3015497"/>
            <a:ext cx="987553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8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Reference density</a:t>
            </a:r>
          </a:p>
        </p:txBody>
      </p:sp>
      <p:sp>
        <p:nvSpPr>
          <p:cNvPr id="201" name="TextBox 40"/>
          <p:cNvSpPr txBox="1"/>
          <p:nvPr/>
        </p:nvSpPr>
        <p:spPr>
          <a:xfrm>
            <a:off x="4781518" y="3340108"/>
            <a:ext cx="411480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r">
              <a:defRPr sz="9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15%</a:t>
            </a:r>
          </a:p>
        </p:txBody>
      </p:sp>
      <p:sp>
        <p:nvSpPr>
          <p:cNvPr id="202" name="Rectangle 41"/>
          <p:cNvSpPr/>
          <p:nvPr/>
        </p:nvSpPr>
        <p:spPr>
          <a:xfrm>
            <a:off x="5348446" y="3367541"/>
            <a:ext cx="576073" cy="109729"/>
          </a:xfrm>
          <a:prstGeom prst="rect">
            <a:avLst/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3" name="TextBox 42"/>
          <p:cNvSpPr txBox="1"/>
          <p:nvPr/>
        </p:nvSpPr>
        <p:spPr>
          <a:xfrm>
            <a:off x="6464014" y="3326393"/>
            <a:ext cx="987553" cy="2024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8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Partner coverage</a:t>
            </a:r>
          </a:p>
        </p:txBody>
      </p:sp>
      <p:sp>
        <p:nvSpPr>
          <p:cNvPr id="204" name="TextBox 43"/>
          <p:cNvSpPr txBox="1"/>
          <p:nvPr/>
        </p:nvSpPr>
        <p:spPr>
          <a:xfrm>
            <a:off x="4781518" y="3651005"/>
            <a:ext cx="411480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r">
              <a:defRPr sz="9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12%</a:t>
            </a:r>
          </a:p>
        </p:txBody>
      </p:sp>
      <p:sp>
        <p:nvSpPr>
          <p:cNvPr id="205" name="Rectangle 44"/>
          <p:cNvSpPr/>
          <p:nvPr/>
        </p:nvSpPr>
        <p:spPr>
          <a:xfrm>
            <a:off x="5348446" y="3678437"/>
            <a:ext cx="460858" cy="109729"/>
          </a:xfrm>
          <a:prstGeom prst="rect">
            <a:avLst/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6" name="TextBox 45"/>
          <p:cNvSpPr txBox="1"/>
          <p:nvPr/>
        </p:nvSpPr>
        <p:spPr>
          <a:xfrm>
            <a:off x="6464014" y="3637290"/>
            <a:ext cx="987553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8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Compliance fit</a:t>
            </a:r>
          </a:p>
        </p:txBody>
      </p:sp>
      <p:sp>
        <p:nvSpPr>
          <p:cNvPr id="207" name="TextBox 46"/>
          <p:cNvSpPr txBox="1"/>
          <p:nvPr/>
        </p:nvSpPr>
        <p:spPr>
          <a:xfrm>
            <a:off x="4781518" y="3961902"/>
            <a:ext cx="411480" cy="21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r">
              <a:defRPr sz="9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12%</a:t>
            </a:r>
          </a:p>
        </p:txBody>
      </p:sp>
      <p:sp>
        <p:nvSpPr>
          <p:cNvPr id="208" name="Rectangle 47"/>
          <p:cNvSpPr/>
          <p:nvPr/>
        </p:nvSpPr>
        <p:spPr>
          <a:xfrm>
            <a:off x="5348446" y="3989334"/>
            <a:ext cx="460858" cy="109729"/>
          </a:xfrm>
          <a:prstGeom prst="rect">
            <a:avLst/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09" name="TextBox 48"/>
          <p:cNvSpPr txBox="1"/>
          <p:nvPr/>
        </p:nvSpPr>
        <p:spPr>
          <a:xfrm>
            <a:off x="6464014" y="3948185"/>
            <a:ext cx="987553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8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Capability depth</a:t>
            </a:r>
          </a:p>
        </p:txBody>
      </p:sp>
      <p:sp>
        <p:nvSpPr>
          <p:cNvPr id="210" name="TextBox 49"/>
          <p:cNvSpPr txBox="1"/>
          <p:nvPr/>
        </p:nvSpPr>
        <p:spPr>
          <a:xfrm>
            <a:off x="4781518" y="4272797"/>
            <a:ext cx="411480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r">
              <a:defRPr sz="9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8%</a:t>
            </a:r>
          </a:p>
        </p:txBody>
      </p:sp>
      <p:sp>
        <p:nvSpPr>
          <p:cNvPr id="211" name="Rectangle 50"/>
          <p:cNvSpPr/>
          <p:nvPr/>
        </p:nvSpPr>
        <p:spPr>
          <a:xfrm>
            <a:off x="5348446" y="4300229"/>
            <a:ext cx="307239" cy="109729"/>
          </a:xfrm>
          <a:prstGeom prst="rect">
            <a:avLst/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2" name="TextBox 51"/>
          <p:cNvSpPr txBox="1"/>
          <p:nvPr/>
        </p:nvSpPr>
        <p:spPr>
          <a:xfrm>
            <a:off x="6464014" y="4259081"/>
            <a:ext cx="987553" cy="2024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8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External validation</a:t>
            </a:r>
          </a:p>
        </p:txBody>
      </p:sp>
      <p:sp>
        <p:nvSpPr>
          <p:cNvPr id="213" name="TextBox 52"/>
          <p:cNvSpPr txBox="1"/>
          <p:nvPr/>
        </p:nvSpPr>
        <p:spPr>
          <a:xfrm>
            <a:off x="4781518" y="4583693"/>
            <a:ext cx="411480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r">
              <a:defRPr sz="9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8%</a:t>
            </a:r>
          </a:p>
        </p:txBody>
      </p:sp>
      <p:sp>
        <p:nvSpPr>
          <p:cNvPr id="214" name="Rectangle 53"/>
          <p:cNvSpPr/>
          <p:nvPr/>
        </p:nvSpPr>
        <p:spPr>
          <a:xfrm>
            <a:off x="5348446" y="4611125"/>
            <a:ext cx="307239" cy="109729"/>
          </a:xfrm>
          <a:prstGeom prst="rect">
            <a:avLst/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5" name="TextBox 54"/>
          <p:cNvSpPr txBox="1"/>
          <p:nvPr/>
        </p:nvSpPr>
        <p:spPr>
          <a:xfrm>
            <a:off x="6464014" y="4569978"/>
            <a:ext cx="1176565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8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Technology ownership</a:t>
            </a:r>
          </a:p>
        </p:txBody>
      </p:sp>
      <p:sp>
        <p:nvSpPr>
          <p:cNvPr id="216" name="Rectangle 35"/>
          <p:cNvSpPr/>
          <p:nvPr/>
        </p:nvSpPr>
        <p:spPr>
          <a:xfrm>
            <a:off x="1457261" y="2830974"/>
            <a:ext cx="960121" cy="109729"/>
          </a:xfrm>
          <a:prstGeom prst="rect">
            <a:avLst/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7" name="Rectangle 41"/>
          <p:cNvSpPr/>
          <p:nvPr/>
        </p:nvSpPr>
        <p:spPr>
          <a:xfrm>
            <a:off x="1457261" y="3606500"/>
            <a:ext cx="576073" cy="109729"/>
          </a:xfrm>
          <a:prstGeom prst="rect">
            <a:avLst/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8" name="Rectangle 47"/>
          <p:cNvSpPr/>
          <p:nvPr/>
        </p:nvSpPr>
        <p:spPr>
          <a:xfrm>
            <a:off x="1459286" y="3996807"/>
            <a:ext cx="460858" cy="109729"/>
          </a:xfrm>
          <a:prstGeom prst="rect">
            <a:avLst/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19" name="Rectangle 41"/>
          <p:cNvSpPr/>
          <p:nvPr/>
        </p:nvSpPr>
        <p:spPr>
          <a:xfrm>
            <a:off x="1457261" y="3218951"/>
            <a:ext cx="576073" cy="109729"/>
          </a:xfrm>
          <a:prstGeom prst="rect">
            <a:avLst/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20" name="Rectangle 47"/>
          <p:cNvSpPr/>
          <p:nvPr/>
        </p:nvSpPr>
        <p:spPr>
          <a:xfrm>
            <a:off x="1459286" y="4392884"/>
            <a:ext cx="460858" cy="109729"/>
          </a:xfrm>
          <a:prstGeom prst="rect">
            <a:avLst/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21" name="Rectangle 38"/>
          <p:cNvSpPr/>
          <p:nvPr/>
        </p:nvSpPr>
        <p:spPr>
          <a:xfrm>
            <a:off x="9354757" y="2820116"/>
            <a:ext cx="768097" cy="109729"/>
          </a:xfrm>
          <a:prstGeom prst="rect">
            <a:avLst/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22" name="Rectangle 38"/>
          <p:cNvSpPr/>
          <p:nvPr/>
        </p:nvSpPr>
        <p:spPr>
          <a:xfrm>
            <a:off x="9354757" y="3167372"/>
            <a:ext cx="768097" cy="109729"/>
          </a:xfrm>
          <a:prstGeom prst="rect">
            <a:avLst/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23" name="Rectangle 38"/>
          <p:cNvSpPr/>
          <p:nvPr/>
        </p:nvSpPr>
        <p:spPr>
          <a:xfrm>
            <a:off x="9354757" y="3504536"/>
            <a:ext cx="768097" cy="109729"/>
          </a:xfrm>
          <a:prstGeom prst="rect">
            <a:avLst/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24" name="TextBox 20"/>
          <p:cNvSpPr txBox="1"/>
          <p:nvPr/>
        </p:nvSpPr>
        <p:spPr>
          <a:xfrm>
            <a:off x="10607040" y="6355079"/>
            <a:ext cx="914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7999"/>
              </a:lnSpc>
              <a:defRPr sz="900">
                <a:solidFill>
                  <a:srgbClr val="6B6963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r>
              <a:t>4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Rectangle 1"/>
          <p:cNvSpPr/>
          <p:nvPr/>
        </p:nvSpPr>
        <p:spPr>
          <a:xfrm>
            <a:off x="-1" y="0"/>
            <a:ext cx="12191697" cy="54864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27" name="TextBox 2"/>
          <p:cNvSpPr txBox="1"/>
          <p:nvPr/>
        </p:nvSpPr>
        <p:spPr>
          <a:xfrm>
            <a:off x="685799" y="457200"/>
            <a:ext cx="10789922" cy="161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100" b="1">
                <a:solidFill>
                  <a:srgbClr val="F07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CONCEPT</a:t>
            </a:r>
          </a:p>
        </p:txBody>
      </p:sp>
      <p:sp>
        <p:nvSpPr>
          <p:cNvPr id="228" name="TextBox 3"/>
          <p:cNvSpPr txBox="1"/>
          <p:nvPr/>
        </p:nvSpPr>
        <p:spPr>
          <a:xfrm>
            <a:off x="685799" y="777240"/>
            <a:ext cx="10789922" cy="483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3200" b="1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Evidence before generation</a:t>
            </a:r>
          </a:p>
        </p:txBody>
      </p:sp>
      <p:sp>
        <p:nvSpPr>
          <p:cNvPr id="229" name="TextBox 4"/>
          <p:cNvSpPr txBox="1"/>
          <p:nvPr/>
        </p:nvSpPr>
        <p:spPr>
          <a:xfrm>
            <a:off x="685800" y="1481327"/>
            <a:ext cx="10058400" cy="4001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normAutofit/>
          </a:bodyPr>
          <a:lstStyle>
            <a:lvl1pPr>
              <a:lnSpc>
                <a:spcPct val="117999"/>
              </a:lnSpc>
              <a:defRPr sz="15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The model never invents a topic from its own knowledge. It reorganises retrieved, dated, attributable evidence.</a:t>
            </a:r>
          </a:p>
        </p:txBody>
      </p:sp>
      <p:sp>
        <p:nvSpPr>
          <p:cNvPr id="230" name="TextBox 20"/>
          <p:cNvSpPr txBox="1"/>
          <p:nvPr/>
        </p:nvSpPr>
        <p:spPr>
          <a:xfrm>
            <a:off x="685800" y="6355079"/>
            <a:ext cx="7315200" cy="136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9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Orange Business · Opportunity Spaces / Innovation Radar</a:t>
            </a:r>
          </a:p>
        </p:txBody>
      </p:sp>
      <p:sp>
        <p:nvSpPr>
          <p:cNvPr id="231" name="TextBox 21"/>
          <p:cNvSpPr txBox="1"/>
          <p:nvPr/>
        </p:nvSpPr>
        <p:spPr>
          <a:xfrm>
            <a:off x="10607040" y="6355079"/>
            <a:ext cx="914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7999"/>
              </a:lnSpc>
              <a:defRPr sz="900">
                <a:solidFill>
                  <a:srgbClr val="6B6963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r>
              <a:t>5</a:t>
            </a:r>
          </a:p>
        </p:txBody>
      </p:sp>
      <p:sp>
        <p:nvSpPr>
          <p:cNvPr id="232" name="TextBox 18"/>
          <p:cNvSpPr txBox="1"/>
          <p:nvPr/>
        </p:nvSpPr>
        <p:spPr>
          <a:xfrm>
            <a:off x="2561990" y="5733562"/>
            <a:ext cx="7606763" cy="173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2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A separate critic prompt scores 1–5 as the MINIMUM across five tests, so one failure caps the whole score.</a:t>
            </a:r>
          </a:p>
        </p:txBody>
      </p:sp>
      <p:sp>
        <p:nvSpPr>
          <p:cNvPr id="233" name="Rounded Rectangle 6"/>
          <p:cNvSpPr/>
          <p:nvPr/>
        </p:nvSpPr>
        <p:spPr>
          <a:xfrm>
            <a:off x="457535" y="2169350"/>
            <a:ext cx="2587753" cy="2331721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>
            <a:solidFill>
              <a:srgbClr val="DEDEDA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34" name="TextBox 7"/>
          <p:cNvSpPr txBox="1"/>
          <p:nvPr/>
        </p:nvSpPr>
        <p:spPr>
          <a:xfrm>
            <a:off x="667846" y="2407094"/>
            <a:ext cx="2167129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9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EVIDENCE BINDING</a:t>
            </a:r>
          </a:p>
        </p:txBody>
      </p:sp>
      <p:sp>
        <p:nvSpPr>
          <p:cNvPr id="235" name="TextBox 8"/>
          <p:cNvSpPr txBox="1"/>
          <p:nvPr/>
        </p:nvSpPr>
        <p:spPr>
          <a:xfrm>
            <a:off x="686135" y="2864294"/>
            <a:ext cx="2130553" cy="517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500" b="1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Every claim cites signal IDs</a:t>
            </a:r>
          </a:p>
        </p:txBody>
      </p:sp>
      <p:sp>
        <p:nvSpPr>
          <p:cNvPr id="236" name="TextBox 9"/>
          <p:cNvSpPr txBox="1"/>
          <p:nvPr/>
        </p:nvSpPr>
        <p:spPr>
          <a:xfrm>
            <a:off x="686135" y="3614102"/>
            <a:ext cx="2130553" cy="468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9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The signal IDs must exist in the cluster that produced the candidate. Un-cited claims are stripped, not rewritten.</a:t>
            </a:r>
          </a:p>
        </p:txBody>
      </p:sp>
      <p:sp>
        <p:nvSpPr>
          <p:cNvPr id="237" name="TextBox 10"/>
          <p:cNvSpPr txBox="1"/>
          <p:nvPr/>
        </p:nvSpPr>
        <p:spPr>
          <a:xfrm>
            <a:off x="3109295" y="3001454"/>
            <a:ext cx="182881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→</a:t>
            </a:r>
          </a:p>
        </p:txBody>
      </p:sp>
      <p:sp>
        <p:nvSpPr>
          <p:cNvPr id="238" name="Rounded Rectangle 13"/>
          <p:cNvSpPr/>
          <p:nvPr/>
        </p:nvSpPr>
        <p:spPr>
          <a:xfrm>
            <a:off x="3365327" y="2169350"/>
            <a:ext cx="2587752" cy="2331721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>
            <a:solidFill>
              <a:srgbClr val="DEDEDA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39" name="TextBox 14"/>
          <p:cNvSpPr txBox="1"/>
          <p:nvPr/>
        </p:nvSpPr>
        <p:spPr>
          <a:xfrm>
            <a:off x="3575639" y="2407094"/>
            <a:ext cx="2167129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9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CLOSED VOCABULARY</a:t>
            </a:r>
          </a:p>
        </p:txBody>
      </p:sp>
      <p:sp>
        <p:nvSpPr>
          <p:cNvPr id="240" name="TextBox 15"/>
          <p:cNvSpPr txBox="1"/>
          <p:nvPr/>
        </p:nvSpPr>
        <p:spPr>
          <a:xfrm>
            <a:off x="3593927" y="2864294"/>
            <a:ext cx="2130553" cy="517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500" b="1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Taxonomy values are validated</a:t>
            </a:r>
          </a:p>
        </p:txBody>
      </p:sp>
      <p:sp>
        <p:nvSpPr>
          <p:cNvPr id="241" name="TextBox 16"/>
          <p:cNvSpPr txBox="1"/>
          <p:nvPr/>
        </p:nvSpPr>
        <p:spPr>
          <a:xfrm>
            <a:off x="3593927" y="3614102"/>
            <a:ext cx="2130553" cy="468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9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Values must match the enumerations. A recognised synonym is repaired once; anything else is dropped.</a:t>
            </a:r>
          </a:p>
        </p:txBody>
      </p:sp>
      <p:sp>
        <p:nvSpPr>
          <p:cNvPr id="242" name="TextBox 17"/>
          <p:cNvSpPr txBox="1"/>
          <p:nvPr/>
        </p:nvSpPr>
        <p:spPr>
          <a:xfrm>
            <a:off x="6017087" y="3001454"/>
            <a:ext cx="182881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→</a:t>
            </a:r>
          </a:p>
        </p:txBody>
      </p:sp>
      <p:sp>
        <p:nvSpPr>
          <p:cNvPr id="243" name="Rounded Rectangle 20"/>
          <p:cNvSpPr/>
          <p:nvPr/>
        </p:nvSpPr>
        <p:spPr>
          <a:xfrm>
            <a:off x="6273119" y="2169350"/>
            <a:ext cx="2587753" cy="2331721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>
            <a:solidFill>
              <a:srgbClr val="DEDEDA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44" name="TextBox 21"/>
          <p:cNvSpPr txBox="1"/>
          <p:nvPr/>
        </p:nvSpPr>
        <p:spPr>
          <a:xfrm>
            <a:off x="6483431" y="2407094"/>
            <a:ext cx="2167129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9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NO GENERATED NUMBERS</a:t>
            </a:r>
          </a:p>
        </p:txBody>
      </p:sp>
      <p:sp>
        <p:nvSpPr>
          <p:cNvPr id="245" name="TextBox 22"/>
          <p:cNvSpPr txBox="1"/>
          <p:nvPr/>
        </p:nvSpPr>
        <p:spPr>
          <a:xfrm>
            <a:off x="6385038" y="2864294"/>
            <a:ext cx="2363915" cy="517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500" b="1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Looked up + attributed, or absent</a:t>
            </a:r>
          </a:p>
        </p:txBody>
      </p:sp>
      <p:sp>
        <p:nvSpPr>
          <p:cNvPr id="246" name="TextBox 23"/>
          <p:cNvSpPr txBox="1"/>
          <p:nvPr/>
        </p:nvSpPr>
        <p:spPr>
          <a:xfrm>
            <a:off x="6434234" y="3614102"/>
            <a:ext cx="2265522" cy="595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9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Market sizes, growth rates and percentages are looked up and attributed, or they are absent. Backstopped by a regex.</a:t>
            </a:r>
          </a:p>
        </p:txBody>
      </p:sp>
      <p:sp>
        <p:nvSpPr>
          <p:cNvPr id="247" name="TextBox 24"/>
          <p:cNvSpPr txBox="1"/>
          <p:nvPr/>
        </p:nvSpPr>
        <p:spPr>
          <a:xfrm>
            <a:off x="8924878" y="3001454"/>
            <a:ext cx="182881" cy="3506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→</a:t>
            </a:r>
          </a:p>
        </p:txBody>
      </p:sp>
      <p:sp>
        <p:nvSpPr>
          <p:cNvPr id="248" name="Rounded Rectangle 27"/>
          <p:cNvSpPr/>
          <p:nvPr/>
        </p:nvSpPr>
        <p:spPr>
          <a:xfrm>
            <a:off x="9180911" y="2169350"/>
            <a:ext cx="2587753" cy="2331721"/>
          </a:xfrm>
          <a:prstGeom prst="roundRect">
            <a:avLst>
              <a:gd name="adj" fmla="val 5000"/>
            </a:avLst>
          </a:prstGeom>
          <a:solidFill>
            <a:srgbClr val="FFF4EB"/>
          </a:solidFill>
          <a:ln>
            <a:solidFill>
              <a:srgbClr val="FF7900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49" name="TextBox 28"/>
          <p:cNvSpPr txBox="1"/>
          <p:nvPr/>
        </p:nvSpPr>
        <p:spPr>
          <a:xfrm>
            <a:off x="9391223" y="2407094"/>
            <a:ext cx="2167129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9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ENTAILMENT CHECK</a:t>
            </a:r>
          </a:p>
        </p:txBody>
      </p:sp>
      <p:sp>
        <p:nvSpPr>
          <p:cNvPr id="250" name="TextBox 29"/>
          <p:cNvSpPr txBox="1"/>
          <p:nvPr/>
        </p:nvSpPr>
        <p:spPr>
          <a:xfrm>
            <a:off x="9409511" y="2864294"/>
            <a:ext cx="2130553" cy="51700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500" b="1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Does the evidence support the claim?</a:t>
            </a:r>
          </a:p>
        </p:txBody>
      </p:sp>
      <p:sp>
        <p:nvSpPr>
          <p:cNvPr id="251" name="TextBox 30"/>
          <p:cNvSpPr txBox="1"/>
          <p:nvPr/>
        </p:nvSpPr>
        <p:spPr>
          <a:xfrm>
            <a:off x="9409511" y="3614102"/>
            <a:ext cx="2130553" cy="341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9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 second model pass verifies each claim against the cited span.</a:t>
            </a:r>
          </a:p>
        </p:txBody>
      </p:sp>
      <p:sp>
        <p:nvSpPr>
          <p:cNvPr id="252" name="Rounded Rectangle 32"/>
          <p:cNvSpPr/>
          <p:nvPr/>
        </p:nvSpPr>
        <p:spPr>
          <a:xfrm>
            <a:off x="2089668" y="4885633"/>
            <a:ext cx="7982184" cy="586176"/>
          </a:xfrm>
          <a:prstGeom prst="roundRect">
            <a:avLst>
              <a:gd name="adj" fmla="val 6396"/>
            </a:avLst>
          </a:prstGeom>
          <a:solidFill>
            <a:srgbClr val="FFFFFF"/>
          </a:solidFill>
          <a:ln>
            <a:solidFill>
              <a:srgbClr val="B9372D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53" name="TextBox 33"/>
          <p:cNvSpPr txBox="1"/>
          <p:nvPr/>
        </p:nvSpPr>
        <p:spPr>
          <a:xfrm>
            <a:off x="2629270" y="5067705"/>
            <a:ext cx="868681" cy="21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900" b="1">
                <a:solidFill>
                  <a:srgbClr val="B9372D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LIVE RUN</a:t>
            </a:r>
          </a:p>
        </p:txBody>
      </p:sp>
      <p:sp>
        <p:nvSpPr>
          <p:cNvPr id="254" name="TextBox 34"/>
          <p:cNvSpPr txBox="1"/>
          <p:nvPr/>
        </p:nvSpPr>
        <p:spPr>
          <a:xfrm>
            <a:off x="3662895" y="5005867"/>
            <a:ext cx="3400899" cy="338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700" b="1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345 of 644 candidates rejected</a:t>
            </a:r>
          </a:p>
        </p:txBody>
      </p:sp>
      <p:sp>
        <p:nvSpPr>
          <p:cNvPr id="255" name="TextBox 35"/>
          <p:cNvSpPr txBox="1"/>
          <p:nvPr/>
        </p:nvSpPr>
        <p:spPr>
          <a:xfrm>
            <a:off x="7395932" y="5059369"/>
            <a:ext cx="160020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9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with specific, written reasons</a:t>
            </a:r>
          </a:p>
        </p:txBody>
      </p:sp>
      <p:sp>
        <p:nvSpPr>
          <p:cNvPr id="256" name="Oval 4"/>
          <p:cNvSpPr/>
          <p:nvPr/>
        </p:nvSpPr>
        <p:spPr>
          <a:xfrm>
            <a:off x="410636" y="1908873"/>
            <a:ext cx="420625" cy="420625"/>
          </a:xfrm>
          <a:prstGeom prst="ellipse">
            <a:avLst/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57" name="TextBox 5"/>
          <p:cNvSpPr txBox="1"/>
          <p:nvPr/>
        </p:nvSpPr>
        <p:spPr>
          <a:xfrm>
            <a:off x="456356" y="2000313"/>
            <a:ext cx="329185" cy="226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0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1</a:t>
            </a:r>
          </a:p>
        </p:txBody>
      </p:sp>
      <p:sp>
        <p:nvSpPr>
          <p:cNvPr id="258" name="Oval 11"/>
          <p:cNvSpPr/>
          <p:nvPr/>
        </p:nvSpPr>
        <p:spPr>
          <a:xfrm>
            <a:off x="3318428" y="1908873"/>
            <a:ext cx="420625" cy="420625"/>
          </a:xfrm>
          <a:prstGeom prst="ellipse">
            <a:avLst/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59" name="TextBox 12"/>
          <p:cNvSpPr txBox="1"/>
          <p:nvPr/>
        </p:nvSpPr>
        <p:spPr>
          <a:xfrm>
            <a:off x="3364148" y="2000313"/>
            <a:ext cx="329185" cy="226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0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2</a:t>
            </a:r>
          </a:p>
        </p:txBody>
      </p:sp>
      <p:sp>
        <p:nvSpPr>
          <p:cNvPr id="260" name="Oval 18"/>
          <p:cNvSpPr/>
          <p:nvPr/>
        </p:nvSpPr>
        <p:spPr>
          <a:xfrm>
            <a:off x="6226220" y="1908873"/>
            <a:ext cx="420625" cy="420625"/>
          </a:xfrm>
          <a:prstGeom prst="ellipse">
            <a:avLst/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61" name="TextBox 19"/>
          <p:cNvSpPr txBox="1"/>
          <p:nvPr/>
        </p:nvSpPr>
        <p:spPr>
          <a:xfrm>
            <a:off x="6271940" y="2000313"/>
            <a:ext cx="329185" cy="226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0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3</a:t>
            </a:r>
          </a:p>
        </p:txBody>
      </p:sp>
      <p:sp>
        <p:nvSpPr>
          <p:cNvPr id="262" name="Oval 25"/>
          <p:cNvSpPr/>
          <p:nvPr/>
        </p:nvSpPr>
        <p:spPr>
          <a:xfrm>
            <a:off x="9134012" y="1908873"/>
            <a:ext cx="420625" cy="420625"/>
          </a:xfrm>
          <a:prstGeom prst="ellipse">
            <a:avLst/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63" name="TextBox 26"/>
          <p:cNvSpPr txBox="1"/>
          <p:nvPr/>
        </p:nvSpPr>
        <p:spPr>
          <a:xfrm>
            <a:off x="9179732" y="2000313"/>
            <a:ext cx="329185" cy="2269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0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4</a:t>
            </a:r>
          </a:p>
        </p:txBody>
      </p:sp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Rectangle 1"/>
          <p:cNvSpPr/>
          <p:nvPr/>
        </p:nvSpPr>
        <p:spPr>
          <a:xfrm>
            <a:off x="-1" y="0"/>
            <a:ext cx="12191697" cy="54864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66" name="TextBox 2"/>
          <p:cNvSpPr txBox="1"/>
          <p:nvPr/>
        </p:nvSpPr>
        <p:spPr>
          <a:xfrm>
            <a:off x="685799" y="457200"/>
            <a:ext cx="10789922" cy="161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100" b="1">
                <a:solidFill>
                  <a:srgbClr val="F07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CONCEPT</a:t>
            </a:r>
          </a:p>
        </p:txBody>
      </p:sp>
      <p:sp>
        <p:nvSpPr>
          <p:cNvPr id="267" name="TextBox 3"/>
          <p:cNvSpPr txBox="1"/>
          <p:nvPr/>
        </p:nvSpPr>
        <p:spPr>
          <a:xfrm>
            <a:off x="685799" y="777240"/>
            <a:ext cx="10789922" cy="483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3200" b="1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Portfolio distance decides whose conversation it is</a:t>
            </a:r>
          </a:p>
        </p:txBody>
      </p:sp>
      <p:sp>
        <p:nvSpPr>
          <p:cNvPr id="268" name="TextBox 4"/>
          <p:cNvSpPr txBox="1"/>
          <p:nvPr/>
        </p:nvSpPr>
        <p:spPr>
          <a:xfrm>
            <a:off x="685800" y="1481327"/>
            <a:ext cx="10058400" cy="2105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The shortest path from a topic to a configuration Orange could actually deliver.</a:t>
            </a:r>
          </a:p>
        </p:txBody>
      </p:sp>
      <p:sp>
        <p:nvSpPr>
          <p:cNvPr id="269" name="Rectangle 5"/>
          <p:cNvSpPr/>
          <p:nvPr/>
        </p:nvSpPr>
        <p:spPr>
          <a:xfrm>
            <a:off x="685800" y="2148839"/>
            <a:ext cx="566928" cy="457201"/>
          </a:xfrm>
          <a:prstGeom prst="rect">
            <a:avLst/>
          </a:prstGeom>
          <a:solidFill>
            <a:srgbClr val="86B6E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70" name="TextBox 6"/>
          <p:cNvSpPr txBox="1"/>
          <p:nvPr/>
        </p:nvSpPr>
        <p:spPr>
          <a:xfrm>
            <a:off x="685800" y="2290357"/>
            <a:ext cx="566928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7999"/>
              </a:lnSpc>
              <a:defRPr sz="1300" b="1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r>
              <a:t>L0</a:t>
            </a:r>
          </a:p>
        </p:txBody>
      </p:sp>
      <p:sp>
        <p:nvSpPr>
          <p:cNvPr id="271" name="TextBox 7"/>
          <p:cNvSpPr txBox="1"/>
          <p:nvPr/>
        </p:nvSpPr>
        <p:spPr>
          <a:xfrm>
            <a:off x="1398796" y="2272068"/>
            <a:ext cx="2011680" cy="2107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400" b="1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Direct</a:t>
            </a:r>
          </a:p>
        </p:txBody>
      </p:sp>
      <p:sp>
        <p:nvSpPr>
          <p:cNvPr id="272" name="TextBox 8"/>
          <p:cNvSpPr txBox="1"/>
          <p:nvPr/>
        </p:nvSpPr>
        <p:spPr>
          <a:xfrm>
            <a:off x="3410476" y="2290357"/>
            <a:ext cx="4572001" cy="1735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2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An existing offer addresses it as it stands</a:t>
            </a:r>
          </a:p>
        </p:txBody>
      </p:sp>
      <p:sp>
        <p:nvSpPr>
          <p:cNvPr id="273" name="TextBox 9"/>
          <p:cNvSpPr txBox="1"/>
          <p:nvPr/>
        </p:nvSpPr>
        <p:spPr>
          <a:xfrm>
            <a:off x="8165355" y="2290357"/>
            <a:ext cx="3383281" cy="17353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200">
                <a:solidFill>
                  <a:srgbClr val="F07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Sales — sell it</a:t>
            </a:r>
          </a:p>
        </p:txBody>
      </p:sp>
      <p:sp>
        <p:nvSpPr>
          <p:cNvPr id="274" name="Rectangle 10"/>
          <p:cNvSpPr/>
          <p:nvPr/>
        </p:nvSpPr>
        <p:spPr>
          <a:xfrm>
            <a:off x="685800" y="2715767"/>
            <a:ext cx="566928" cy="457201"/>
          </a:xfrm>
          <a:prstGeom prst="rect">
            <a:avLst/>
          </a:prstGeom>
          <a:solidFill>
            <a:srgbClr val="5598E7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75" name="TextBox 11"/>
          <p:cNvSpPr txBox="1"/>
          <p:nvPr/>
        </p:nvSpPr>
        <p:spPr>
          <a:xfrm>
            <a:off x="685800" y="2857284"/>
            <a:ext cx="566928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7999"/>
              </a:lnSpc>
              <a:defRPr sz="1300" b="1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r>
              <a:t>L1</a:t>
            </a:r>
          </a:p>
        </p:txBody>
      </p:sp>
      <p:sp>
        <p:nvSpPr>
          <p:cNvPr id="276" name="TextBox 12"/>
          <p:cNvSpPr txBox="1"/>
          <p:nvPr/>
        </p:nvSpPr>
        <p:spPr>
          <a:xfrm>
            <a:off x="1398796" y="2838996"/>
            <a:ext cx="2011680" cy="2107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400" b="1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Bundle</a:t>
            </a:r>
          </a:p>
        </p:txBody>
      </p:sp>
      <p:sp>
        <p:nvSpPr>
          <p:cNvPr id="277" name="TextBox 13"/>
          <p:cNvSpPr txBox="1"/>
          <p:nvPr/>
        </p:nvSpPr>
        <p:spPr>
          <a:xfrm>
            <a:off x="3410476" y="2857284"/>
            <a:ext cx="4572001" cy="173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2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Two or more existing offers combined</a:t>
            </a:r>
          </a:p>
        </p:txBody>
      </p:sp>
      <p:sp>
        <p:nvSpPr>
          <p:cNvPr id="278" name="TextBox 14"/>
          <p:cNvSpPr txBox="1"/>
          <p:nvPr/>
        </p:nvSpPr>
        <p:spPr>
          <a:xfrm>
            <a:off x="8165355" y="2857284"/>
            <a:ext cx="3383281" cy="173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200">
                <a:solidFill>
                  <a:srgbClr val="F07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Presales — package it</a:t>
            </a:r>
          </a:p>
        </p:txBody>
      </p:sp>
      <p:sp>
        <p:nvSpPr>
          <p:cNvPr id="279" name="Rectangle 15"/>
          <p:cNvSpPr/>
          <p:nvPr/>
        </p:nvSpPr>
        <p:spPr>
          <a:xfrm>
            <a:off x="685800" y="3282696"/>
            <a:ext cx="566928" cy="457201"/>
          </a:xfrm>
          <a:prstGeom prst="rect">
            <a:avLst/>
          </a:prstGeom>
          <a:solidFill>
            <a:srgbClr val="2A78D6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80" name="TextBox 16"/>
          <p:cNvSpPr txBox="1"/>
          <p:nvPr/>
        </p:nvSpPr>
        <p:spPr>
          <a:xfrm>
            <a:off x="685800" y="3424212"/>
            <a:ext cx="566928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7999"/>
              </a:lnSpc>
              <a:defRPr sz="1300" b="1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r>
              <a:t>L2</a:t>
            </a:r>
          </a:p>
        </p:txBody>
      </p:sp>
      <p:sp>
        <p:nvSpPr>
          <p:cNvPr id="281" name="TextBox 17"/>
          <p:cNvSpPr txBox="1"/>
          <p:nvPr/>
        </p:nvSpPr>
        <p:spPr>
          <a:xfrm>
            <a:off x="1398796" y="3405924"/>
            <a:ext cx="2011680" cy="2107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400" b="1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Partner-dependent</a:t>
            </a:r>
          </a:p>
        </p:txBody>
      </p:sp>
      <p:sp>
        <p:nvSpPr>
          <p:cNvPr id="282" name="TextBox 18"/>
          <p:cNvSpPr txBox="1"/>
          <p:nvPr/>
        </p:nvSpPr>
        <p:spPr>
          <a:xfrm>
            <a:off x="3410476" y="3424212"/>
            <a:ext cx="4572001" cy="173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2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Needs a capability a partner already holds</a:t>
            </a:r>
          </a:p>
        </p:txBody>
      </p:sp>
      <p:sp>
        <p:nvSpPr>
          <p:cNvPr id="283" name="TextBox 19"/>
          <p:cNvSpPr txBox="1"/>
          <p:nvPr/>
        </p:nvSpPr>
        <p:spPr>
          <a:xfrm>
            <a:off x="8165355" y="3424212"/>
            <a:ext cx="3383281" cy="173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200">
                <a:solidFill>
                  <a:srgbClr val="F07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Presales / alliances — assemble it</a:t>
            </a:r>
          </a:p>
        </p:txBody>
      </p:sp>
      <p:sp>
        <p:nvSpPr>
          <p:cNvPr id="284" name="Rectangle 20"/>
          <p:cNvSpPr/>
          <p:nvPr/>
        </p:nvSpPr>
        <p:spPr>
          <a:xfrm>
            <a:off x="685800" y="3849623"/>
            <a:ext cx="566928" cy="457201"/>
          </a:xfrm>
          <a:prstGeom prst="rect">
            <a:avLst/>
          </a:prstGeom>
          <a:solidFill>
            <a:srgbClr val="1C5CA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85" name="TextBox 21"/>
          <p:cNvSpPr txBox="1"/>
          <p:nvPr/>
        </p:nvSpPr>
        <p:spPr>
          <a:xfrm>
            <a:off x="685800" y="3991141"/>
            <a:ext cx="566928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7999"/>
              </a:lnSpc>
              <a:defRPr sz="1300" b="1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r>
              <a:t>L3</a:t>
            </a:r>
          </a:p>
        </p:txBody>
      </p:sp>
      <p:sp>
        <p:nvSpPr>
          <p:cNvPr id="286" name="TextBox 22"/>
          <p:cNvSpPr txBox="1"/>
          <p:nvPr/>
        </p:nvSpPr>
        <p:spPr>
          <a:xfrm>
            <a:off x="1398796" y="3972852"/>
            <a:ext cx="2011680" cy="2107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400" b="1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Adjacent</a:t>
            </a:r>
          </a:p>
        </p:txBody>
      </p:sp>
      <p:sp>
        <p:nvSpPr>
          <p:cNvPr id="287" name="TextBox 23"/>
          <p:cNvSpPr txBox="1"/>
          <p:nvPr/>
        </p:nvSpPr>
        <p:spPr>
          <a:xfrm>
            <a:off x="3410476" y="3991140"/>
            <a:ext cx="4572001" cy="173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2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Needs one capability built; nearby assets exist</a:t>
            </a:r>
          </a:p>
        </p:txBody>
      </p:sp>
      <p:sp>
        <p:nvSpPr>
          <p:cNvPr id="288" name="TextBox 24"/>
          <p:cNvSpPr txBox="1"/>
          <p:nvPr/>
        </p:nvSpPr>
        <p:spPr>
          <a:xfrm>
            <a:off x="8165355" y="3991140"/>
            <a:ext cx="3383281" cy="173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200">
                <a:solidFill>
                  <a:srgbClr val="F07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Strategy — study it</a:t>
            </a:r>
          </a:p>
        </p:txBody>
      </p:sp>
      <p:sp>
        <p:nvSpPr>
          <p:cNvPr id="289" name="Rectangle 25"/>
          <p:cNvSpPr/>
          <p:nvPr/>
        </p:nvSpPr>
        <p:spPr>
          <a:xfrm>
            <a:off x="685800" y="4416552"/>
            <a:ext cx="566928" cy="457201"/>
          </a:xfrm>
          <a:prstGeom prst="rect">
            <a:avLst/>
          </a:prstGeom>
          <a:solidFill>
            <a:srgbClr val="104281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90" name="TextBox 26"/>
          <p:cNvSpPr txBox="1"/>
          <p:nvPr/>
        </p:nvSpPr>
        <p:spPr>
          <a:xfrm>
            <a:off x="685800" y="4558068"/>
            <a:ext cx="566928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ctr">
              <a:lnSpc>
                <a:spcPct val="117999"/>
              </a:lnSpc>
              <a:defRPr sz="1300" b="1">
                <a:solidFill>
                  <a:srgbClr val="FFFFFF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r>
              <a:t>L4</a:t>
            </a:r>
          </a:p>
        </p:txBody>
      </p:sp>
      <p:sp>
        <p:nvSpPr>
          <p:cNvPr id="291" name="TextBox 27"/>
          <p:cNvSpPr txBox="1"/>
          <p:nvPr/>
        </p:nvSpPr>
        <p:spPr>
          <a:xfrm>
            <a:off x="1398796" y="4539780"/>
            <a:ext cx="2011680" cy="2107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400" b="1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White space</a:t>
            </a:r>
          </a:p>
        </p:txBody>
      </p:sp>
      <p:sp>
        <p:nvSpPr>
          <p:cNvPr id="292" name="TextBox 28"/>
          <p:cNvSpPr txBox="1"/>
          <p:nvPr/>
        </p:nvSpPr>
        <p:spPr>
          <a:xfrm>
            <a:off x="3410476" y="4558068"/>
            <a:ext cx="4572001" cy="173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2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No plausible path from the current portfolio</a:t>
            </a:r>
          </a:p>
        </p:txBody>
      </p:sp>
      <p:sp>
        <p:nvSpPr>
          <p:cNvPr id="293" name="TextBox 29"/>
          <p:cNvSpPr txBox="1"/>
          <p:nvPr/>
        </p:nvSpPr>
        <p:spPr>
          <a:xfrm>
            <a:off x="8165355" y="4558068"/>
            <a:ext cx="3383281" cy="1735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200">
                <a:solidFill>
                  <a:srgbClr val="F07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Strategy — watch or reject</a:t>
            </a:r>
          </a:p>
        </p:txBody>
      </p:sp>
      <p:sp>
        <p:nvSpPr>
          <p:cNvPr id="294" name="TextBox 30"/>
          <p:cNvSpPr txBox="1"/>
          <p:nvPr/>
        </p:nvSpPr>
        <p:spPr>
          <a:xfrm>
            <a:off x="685800" y="5212079"/>
            <a:ext cx="10881360" cy="3825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2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This is what drives the role modes — they are not arbitrary presets. A high-attractiveness L4 topic is exactly the strategist's innovation agenda, and exactly what a salesperson should never be shown.</a:t>
            </a:r>
          </a:p>
        </p:txBody>
      </p:sp>
      <p:sp>
        <p:nvSpPr>
          <p:cNvPr id="295" name="TextBox 31"/>
          <p:cNvSpPr txBox="1"/>
          <p:nvPr/>
        </p:nvSpPr>
        <p:spPr>
          <a:xfrm>
            <a:off x="685800" y="6355079"/>
            <a:ext cx="7315200" cy="136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9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Orange Business · Opportunity Spaces / Innovation Radar</a:t>
            </a:r>
          </a:p>
        </p:txBody>
      </p:sp>
      <p:sp>
        <p:nvSpPr>
          <p:cNvPr id="296" name="TextBox 32"/>
          <p:cNvSpPr txBox="1"/>
          <p:nvPr/>
        </p:nvSpPr>
        <p:spPr>
          <a:xfrm>
            <a:off x="10607040" y="6355079"/>
            <a:ext cx="914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7999"/>
              </a:lnSpc>
              <a:defRPr sz="900">
                <a:solidFill>
                  <a:srgbClr val="6B6963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r>
              <a:t>6</a:t>
            </a:r>
          </a:p>
        </p:txBody>
      </p:sp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Rectangle 1"/>
          <p:cNvSpPr/>
          <p:nvPr/>
        </p:nvSpPr>
        <p:spPr>
          <a:xfrm>
            <a:off x="-1" y="0"/>
            <a:ext cx="12191697" cy="54864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99" name="TextBox 2"/>
          <p:cNvSpPr txBox="1"/>
          <p:nvPr/>
        </p:nvSpPr>
        <p:spPr>
          <a:xfrm>
            <a:off x="685799" y="457200"/>
            <a:ext cx="10789922" cy="161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100" b="1">
                <a:solidFill>
                  <a:srgbClr val="F07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CONCEPT</a:t>
            </a:r>
          </a:p>
        </p:txBody>
      </p:sp>
      <p:sp>
        <p:nvSpPr>
          <p:cNvPr id="300" name="TextBox 3"/>
          <p:cNvSpPr txBox="1"/>
          <p:nvPr/>
        </p:nvSpPr>
        <p:spPr>
          <a:xfrm>
            <a:off x="685799" y="777240"/>
            <a:ext cx="10789922" cy="483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3200" b="1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Sizing and competition, with the working shown</a:t>
            </a:r>
          </a:p>
        </p:txBody>
      </p:sp>
      <p:sp>
        <p:nvSpPr>
          <p:cNvPr id="301" name="TextBox 4"/>
          <p:cNvSpPr txBox="1"/>
          <p:nvPr/>
        </p:nvSpPr>
        <p:spPr>
          <a:xfrm>
            <a:off x="685800" y="1481327"/>
            <a:ext cx="10058400" cy="2105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Two questions a topic cannot be acted on without: how big is it, and who else is already there?</a:t>
            </a:r>
          </a:p>
        </p:txBody>
      </p:sp>
      <p:sp>
        <p:nvSpPr>
          <p:cNvPr id="302" name="TextBox 12"/>
          <p:cNvSpPr txBox="1"/>
          <p:nvPr/>
        </p:nvSpPr>
        <p:spPr>
          <a:xfrm>
            <a:off x="685800" y="6355079"/>
            <a:ext cx="7315200" cy="136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9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Orange Business · Opportunity Spaces / Innovation Radar</a:t>
            </a:r>
          </a:p>
        </p:txBody>
      </p:sp>
      <p:sp>
        <p:nvSpPr>
          <p:cNvPr id="303" name="TextBox 13"/>
          <p:cNvSpPr txBox="1"/>
          <p:nvPr/>
        </p:nvSpPr>
        <p:spPr>
          <a:xfrm>
            <a:off x="10607040" y="6355079"/>
            <a:ext cx="914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7999"/>
              </a:lnSpc>
              <a:defRPr sz="900">
                <a:solidFill>
                  <a:srgbClr val="6B6963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r>
              <a:t>7</a:t>
            </a:r>
          </a:p>
        </p:txBody>
      </p:sp>
      <p:sp>
        <p:nvSpPr>
          <p:cNvPr id="304" name="Rounded Rectangle 4"/>
          <p:cNvSpPr/>
          <p:nvPr/>
        </p:nvSpPr>
        <p:spPr>
          <a:xfrm>
            <a:off x="498093" y="1803960"/>
            <a:ext cx="5532122" cy="3868391"/>
          </a:xfrm>
          <a:prstGeom prst="roundRect">
            <a:avLst>
              <a:gd name="adj" fmla="val 5673"/>
            </a:avLst>
          </a:prstGeom>
          <a:solidFill>
            <a:srgbClr val="F7F7F5"/>
          </a:solidFill>
          <a:ln>
            <a:solidFill>
              <a:srgbClr val="DEDEDA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05" name="Rounded Rectangle 5"/>
          <p:cNvSpPr/>
          <p:nvPr/>
        </p:nvSpPr>
        <p:spPr>
          <a:xfrm>
            <a:off x="744981" y="2050848"/>
            <a:ext cx="3154681" cy="310897"/>
          </a:xfrm>
          <a:prstGeom prst="roundRect">
            <a:avLst>
              <a:gd name="adj" fmla="val 5000"/>
            </a:avLst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06" name="TextBox 6"/>
          <p:cNvSpPr txBox="1"/>
          <p:nvPr/>
        </p:nvSpPr>
        <p:spPr>
          <a:xfrm>
            <a:off x="790701" y="2105712"/>
            <a:ext cx="3063242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8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1  MARKET SIZE — BOTTOM UP, NOT QUOTED</a:t>
            </a:r>
          </a:p>
        </p:txBody>
      </p:sp>
      <p:sp>
        <p:nvSpPr>
          <p:cNvPr id="307" name="TextBox 7"/>
          <p:cNvSpPr txBox="1"/>
          <p:nvPr/>
        </p:nvSpPr>
        <p:spPr>
          <a:xfrm>
            <a:off x="808990" y="2535480"/>
            <a:ext cx="2194561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800" b="1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WHY NOT QUOTE A HEADLINE?</a:t>
            </a:r>
          </a:p>
        </p:txBody>
      </p:sp>
      <p:sp>
        <p:nvSpPr>
          <p:cNvPr id="308" name="TextBox 8"/>
          <p:cNvSpPr txBox="1"/>
          <p:nvPr/>
        </p:nvSpPr>
        <p:spPr>
          <a:xfrm>
            <a:off x="808989" y="2791512"/>
            <a:ext cx="4800601" cy="3916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Paid research can be quoted without methodology and can conflict by an order of magnitude.</a:t>
            </a:r>
          </a:p>
        </p:txBody>
      </p:sp>
      <p:sp>
        <p:nvSpPr>
          <p:cNvPr id="309" name="TextBox 9"/>
          <p:cNvSpPr txBox="1"/>
          <p:nvPr/>
        </p:nvSpPr>
        <p:spPr>
          <a:xfrm>
            <a:off x="808990" y="3385872"/>
            <a:ext cx="2194561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8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THE RADAR BUILDS ITS OWN</a:t>
            </a:r>
          </a:p>
        </p:txBody>
      </p:sp>
      <p:sp>
        <p:nvSpPr>
          <p:cNvPr id="310" name="Rounded Rectangle 10"/>
          <p:cNvSpPr/>
          <p:nvPr/>
        </p:nvSpPr>
        <p:spPr>
          <a:xfrm>
            <a:off x="754125" y="3705912"/>
            <a:ext cx="1417321" cy="828590"/>
          </a:xfrm>
          <a:prstGeom prst="roundRect">
            <a:avLst>
              <a:gd name="adj" fmla="val 5794"/>
            </a:avLst>
          </a:prstGeom>
          <a:solidFill>
            <a:srgbClr val="FFFFFF"/>
          </a:solidFill>
          <a:ln>
            <a:solidFill>
              <a:srgbClr val="FF7900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11" name="TextBox 11"/>
          <p:cNvSpPr txBox="1"/>
          <p:nvPr/>
        </p:nvSpPr>
        <p:spPr>
          <a:xfrm>
            <a:off x="891285" y="3879647"/>
            <a:ext cx="1143002" cy="3916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100" b="1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Enterprise counts</a:t>
            </a:r>
          </a:p>
        </p:txBody>
      </p:sp>
      <p:sp>
        <p:nvSpPr>
          <p:cNvPr id="312" name="TextBox 12"/>
          <p:cNvSpPr txBox="1"/>
          <p:nvPr/>
        </p:nvSpPr>
        <p:spPr>
          <a:xfrm>
            <a:off x="891285" y="4217975"/>
            <a:ext cx="1143002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8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by sector + size class</a:t>
            </a:r>
          </a:p>
        </p:txBody>
      </p:sp>
      <p:sp>
        <p:nvSpPr>
          <p:cNvPr id="313" name="TextBox 13"/>
          <p:cNvSpPr txBox="1"/>
          <p:nvPr/>
        </p:nvSpPr>
        <p:spPr>
          <a:xfrm>
            <a:off x="2258313" y="3998769"/>
            <a:ext cx="228601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×</a:t>
            </a:r>
          </a:p>
        </p:txBody>
      </p:sp>
      <p:sp>
        <p:nvSpPr>
          <p:cNvPr id="314" name="Rounded Rectangle 14"/>
          <p:cNvSpPr/>
          <p:nvPr/>
        </p:nvSpPr>
        <p:spPr>
          <a:xfrm>
            <a:off x="2573781" y="3705912"/>
            <a:ext cx="1417321" cy="828590"/>
          </a:xfrm>
          <a:prstGeom prst="roundRect">
            <a:avLst>
              <a:gd name="adj" fmla="val 5794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15" name="TextBox 15"/>
          <p:cNvSpPr txBox="1"/>
          <p:nvPr/>
        </p:nvSpPr>
        <p:spPr>
          <a:xfrm>
            <a:off x="2710941" y="3879647"/>
            <a:ext cx="1143002" cy="3916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100" b="1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Observed</a:t>
            </a:r>
          </a:p>
          <a:p>
            <a:pPr algn="ctr">
              <a:defRPr sz="1100" b="1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adoption rate</a:t>
            </a:r>
          </a:p>
        </p:txBody>
      </p:sp>
      <p:sp>
        <p:nvSpPr>
          <p:cNvPr id="316" name="TextBox 16"/>
          <p:cNvSpPr txBox="1"/>
          <p:nvPr/>
        </p:nvSpPr>
        <p:spPr>
          <a:xfrm>
            <a:off x="4077969" y="3998519"/>
            <a:ext cx="228601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×</a:t>
            </a:r>
          </a:p>
        </p:txBody>
      </p:sp>
      <p:sp>
        <p:nvSpPr>
          <p:cNvPr id="317" name="Rounded Rectangle 17"/>
          <p:cNvSpPr/>
          <p:nvPr/>
        </p:nvSpPr>
        <p:spPr>
          <a:xfrm>
            <a:off x="4393438" y="3705341"/>
            <a:ext cx="1417321" cy="829732"/>
          </a:xfrm>
          <a:prstGeom prst="roundRect">
            <a:avLst>
              <a:gd name="adj" fmla="val 5786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18" name="TextBox 18"/>
          <p:cNvSpPr txBox="1"/>
          <p:nvPr/>
        </p:nvSpPr>
        <p:spPr>
          <a:xfrm>
            <a:off x="4530598" y="3879075"/>
            <a:ext cx="1143001" cy="3916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100" b="1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Plausible</a:t>
            </a:r>
          </a:p>
          <a:p>
            <a:pPr algn="ctr">
              <a:defRPr sz="1100" b="1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contract value</a:t>
            </a:r>
          </a:p>
        </p:txBody>
      </p:sp>
      <p:sp>
        <p:nvSpPr>
          <p:cNvPr id="319" name="TextBox 19"/>
          <p:cNvSpPr txBox="1"/>
          <p:nvPr/>
        </p:nvSpPr>
        <p:spPr>
          <a:xfrm>
            <a:off x="2913691" y="4731097"/>
            <a:ext cx="164593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=</a:t>
            </a:r>
          </a:p>
        </p:txBody>
      </p:sp>
      <p:sp>
        <p:nvSpPr>
          <p:cNvPr id="320" name="TextBox 20"/>
          <p:cNvSpPr txBox="1"/>
          <p:nvPr/>
        </p:nvSpPr>
        <p:spPr>
          <a:xfrm>
            <a:off x="3081464" y="4745025"/>
            <a:ext cx="822961" cy="3666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/>
          <a:p>
            <a:pPr algn="ctr">
              <a:defRPr sz="10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MARKET</a:t>
            </a:r>
          </a:p>
          <a:p>
            <a:pPr algn="ctr">
              <a:defRPr sz="10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pPr>
            <a:r>
              <a:t>ESTIMATE</a:t>
            </a:r>
          </a:p>
        </p:txBody>
      </p:sp>
      <p:sp>
        <p:nvSpPr>
          <p:cNvPr id="321" name="TextBox 21"/>
          <p:cNvSpPr txBox="1"/>
          <p:nvPr/>
        </p:nvSpPr>
        <p:spPr>
          <a:xfrm>
            <a:off x="808989" y="5168788"/>
            <a:ext cx="4800601" cy="3666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000" b="1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Every estimate carries its method, inputs and a confidence label — and can be rejected on its arithmetic.</a:t>
            </a:r>
          </a:p>
        </p:txBody>
      </p:sp>
      <p:sp>
        <p:nvSpPr>
          <p:cNvPr id="322" name="Rounded Rectangle 22"/>
          <p:cNvSpPr/>
          <p:nvPr/>
        </p:nvSpPr>
        <p:spPr>
          <a:xfrm>
            <a:off x="6258814" y="1803960"/>
            <a:ext cx="5294376" cy="3868391"/>
          </a:xfrm>
          <a:prstGeom prst="roundRect">
            <a:avLst>
              <a:gd name="adj" fmla="val 5673"/>
            </a:avLst>
          </a:prstGeom>
          <a:solidFill>
            <a:srgbClr val="FFF4EB"/>
          </a:solidFill>
          <a:ln>
            <a:solidFill>
              <a:srgbClr val="FF7900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23" name="Rounded Rectangle 23"/>
          <p:cNvSpPr/>
          <p:nvPr/>
        </p:nvSpPr>
        <p:spPr>
          <a:xfrm>
            <a:off x="6505702" y="2050848"/>
            <a:ext cx="2240281" cy="310897"/>
          </a:xfrm>
          <a:prstGeom prst="roundRect">
            <a:avLst>
              <a:gd name="adj" fmla="val 5000"/>
            </a:avLst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24" name="TextBox 24"/>
          <p:cNvSpPr txBox="1"/>
          <p:nvPr/>
        </p:nvSpPr>
        <p:spPr>
          <a:xfrm>
            <a:off x="6551421" y="2105712"/>
            <a:ext cx="2148841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8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2  COMPETITIVE INTENSITY</a:t>
            </a:r>
          </a:p>
        </p:txBody>
      </p:sp>
      <p:sp>
        <p:nvSpPr>
          <p:cNvPr id="325" name="TextBox 25"/>
          <p:cNvSpPr txBox="1"/>
          <p:nvPr/>
        </p:nvSpPr>
        <p:spPr>
          <a:xfrm>
            <a:off x="6560565" y="2544624"/>
            <a:ext cx="2514601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8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VERSIONED COMPETITOR REGISTER</a:t>
            </a:r>
          </a:p>
        </p:txBody>
      </p:sp>
      <p:sp>
        <p:nvSpPr>
          <p:cNvPr id="326" name="TextBox 26"/>
          <p:cNvSpPr txBox="1"/>
          <p:nvPr/>
        </p:nvSpPr>
        <p:spPr>
          <a:xfrm>
            <a:off x="9230613" y="2544624"/>
            <a:ext cx="1920240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800" b="1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+ evidence actually collected</a:t>
            </a:r>
          </a:p>
        </p:txBody>
      </p:sp>
      <p:sp>
        <p:nvSpPr>
          <p:cNvPr id="327" name="TextBox 27"/>
          <p:cNvSpPr txBox="1"/>
          <p:nvPr/>
        </p:nvSpPr>
        <p:spPr>
          <a:xfrm>
            <a:off x="8745981" y="2789054"/>
            <a:ext cx="320041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↓</a:t>
            </a:r>
          </a:p>
        </p:txBody>
      </p:sp>
      <p:sp>
        <p:nvSpPr>
          <p:cNvPr id="328" name="Rounded Rectangle 28"/>
          <p:cNvSpPr/>
          <p:nvPr/>
        </p:nvSpPr>
        <p:spPr>
          <a:xfrm>
            <a:off x="6780021" y="3175560"/>
            <a:ext cx="4389121" cy="65836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29" name="TextBox 29"/>
          <p:cNvSpPr txBox="1"/>
          <p:nvPr/>
        </p:nvSpPr>
        <p:spPr>
          <a:xfrm>
            <a:off x="7008621" y="3376728"/>
            <a:ext cx="3931920" cy="3011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500" b="1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Who is visibly playing here?</a:t>
            </a:r>
          </a:p>
        </p:txBody>
      </p:sp>
      <p:sp>
        <p:nvSpPr>
          <p:cNvPr id="330" name="Rounded Rectangle 30"/>
          <p:cNvSpPr/>
          <p:nvPr/>
        </p:nvSpPr>
        <p:spPr>
          <a:xfrm>
            <a:off x="6560566" y="4117392"/>
            <a:ext cx="2267713" cy="126187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31" name="TextBox 31"/>
          <p:cNvSpPr txBox="1"/>
          <p:nvPr/>
        </p:nvSpPr>
        <p:spPr>
          <a:xfrm>
            <a:off x="6770877" y="4327704"/>
            <a:ext cx="1828801" cy="21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9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CROWDED FIELD</a:t>
            </a:r>
          </a:p>
        </p:txBody>
      </p:sp>
      <p:sp>
        <p:nvSpPr>
          <p:cNvPr id="332" name="TextBox 32"/>
          <p:cNvSpPr txBox="1"/>
          <p:nvPr/>
        </p:nvSpPr>
        <p:spPr>
          <a:xfrm>
            <a:off x="6789165" y="4675175"/>
            <a:ext cx="1792225" cy="3666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0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Not a reason to walk away → win on a specific differentiator.</a:t>
            </a:r>
          </a:p>
        </p:txBody>
      </p:sp>
      <p:sp>
        <p:nvSpPr>
          <p:cNvPr id="333" name="Rounded Rectangle 33"/>
          <p:cNvSpPr/>
          <p:nvPr/>
        </p:nvSpPr>
        <p:spPr>
          <a:xfrm>
            <a:off x="9047733" y="4117392"/>
            <a:ext cx="2267713" cy="126187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34" name="TextBox 34"/>
          <p:cNvSpPr txBox="1"/>
          <p:nvPr/>
        </p:nvSpPr>
        <p:spPr>
          <a:xfrm>
            <a:off x="9239757" y="4327704"/>
            <a:ext cx="1883665" cy="21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9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NO COMPETITOR FOUND</a:t>
            </a:r>
          </a:p>
        </p:txBody>
      </p:sp>
      <p:sp>
        <p:nvSpPr>
          <p:cNvPr id="335" name="TextBox 35"/>
          <p:cNvSpPr txBox="1"/>
          <p:nvPr/>
        </p:nvSpPr>
        <p:spPr>
          <a:xfrm>
            <a:off x="9276333" y="4675175"/>
            <a:ext cx="1737361" cy="5063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10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Reported as unverified — the register may simply have a gap.</a:t>
            </a:r>
          </a:p>
        </p:txBody>
      </p:sp>
      <p:sp>
        <p:nvSpPr>
          <p:cNvPr id="336" name="Rounded Rectangle 36"/>
          <p:cNvSpPr/>
          <p:nvPr/>
        </p:nvSpPr>
        <p:spPr>
          <a:xfrm>
            <a:off x="1120139" y="5878669"/>
            <a:ext cx="9921242" cy="32918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solidFill>
              <a:srgbClr val="FF7900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37" name="TextBox 37"/>
          <p:cNvSpPr txBox="1"/>
          <p:nvPr/>
        </p:nvSpPr>
        <p:spPr>
          <a:xfrm>
            <a:off x="1376171" y="5960965"/>
            <a:ext cx="2331721" cy="20241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8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BOTH ARE FILTERABLE + SORTABLE</a:t>
            </a:r>
          </a:p>
        </p:txBody>
      </p:sp>
      <p:sp>
        <p:nvSpPr>
          <p:cNvPr id="338" name="TextBox 38"/>
          <p:cNvSpPr txBox="1"/>
          <p:nvPr/>
        </p:nvSpPr>
        <p:spPr>
          <a:xfrm>
            <a:off x="3817619" y="5960965"/>
            <a:ext cx="672084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900">
                <a:solidFill>
                  <a:srgbClr val="14141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so a strategist does not have to eyeball the number across 418 rows.</a:t>
            </a:r>
          </a:p>
        </p:txBody>
      </p:sp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TextBox 1"/>
          <p:cNvSpPr txBox="1"/>
          <p:nvPr/>
        </p:nvSpPr>
        <p:spPr>
          <a:xfrm>
            <a:off x="548639" y="256031"/>
            <a:ext cx="356616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9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FUNCTIONALITY</a:t>
            </a:r>
          </a:p>
        </p:txBody>
      </p:sp>
      <p:sp>
        <p:nvSpPr>
          <p:cNvPr id="389" name="TextBox 2"/>
          <p:cNvSpPr txBox="1"/>
          <p:nvPr/>
        </p:nvSpPr>
        <p:spPr>
          <a:xfrm>
            <a:off x="548639" y="603504"/>
            <a:ext cx="10881361" cy="47392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2700" b="1">
                <a:solidFill>
                  <a:srgbClr val="12121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MVP</a:t>
            </a:r>
          </a:p>
        </p:txBody>
      </p:sp>
      <p:sp>
        <p:nvSpPr>
          <p:cNvPr id="390" name="TextBox 3"/>
          <p:cNvSpPr txBox="1"/>
          <p:nvPr/>
        </p:nvSpPr>
        <p:spPr>
          <a:xfrm>
            <a:off x="548639" y="1207008"/>
            <a:ext cx="10881361" cy="2642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200">
                <a:solidFill>
                  <a:srgbClr val="69696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Use the product for the functionality that was previously explained across separate slides.</a:t>
            </a:r>
          </a:p>
        </p:txBody>
      </p:sp>
      <p:sp>
        <p:nvSpPr>
          <p:cNvPr id="391" name="Rounded Rectangle 4"/>
          <p:cNvSpPr/>
          <p:nvPr/>
        </p:nvSpPr>
        <p:spPr>
          <a:xfrm>
            <a:off x="457200" y="1828800"/>
            <a:ext cx="2522097" cy="1934278"/>
          </a:xfrm>
          <a:prstGeom prst="roundRect">
            <a:avLst>
              <a:gd name="adj" fmla="val 10431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92" name="TextBox 21"/>
          <p:cNvSpPr txBox="1"/>
          <p:nvPr/>
        </p:nvSpPr>
        <p:spPr>
          <a:xfrm>
            <a:off x="548639" y="6528816"/>
            <a:ext cx="5212081" cy="1774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700">
                <a:solidFill>
                  <a:srgbClr val="69696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Orange Business · Opportunity Spaces / Innovation Radar</a:t>
            </a:r>
          </a:p>
        </p:txBody>
      </p:sp>
      <p:sp>
        <p:nvSpPr>
          <p:cNvPr id="393" name="Rectangle 1"/>
          <p:cNvSpPr/>
          <p:nvPr/>
        </p:nvSpPr>
        <p:spPr>
          <a:xfrm>
            <a:off x="-1" y="0"/>
            <a:ext cx="12191697" cy="54864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94" name="Rounded Rectangle 18"/>
          <p:cNvSpPr/>
          <p:nvPr/>
        </p:nvSpPr>
        <p:spPr>
          <a:xfrm>
            <a:off x="619954" y="3243742"/>
            <a:ext cx="2194561" cy="347473"/>
          </a:xfrm>
          <a:prstGeom prst="roundRect">
            <a:avLst>
              <a:gd name="adj" fmla="val 8000"/>
            </a:avLst>
          </a:prstGeom>
          <a:solidFill>
            <a:srgbClr val="FF7900"/>
          </a:solidFill>
          <a:ln>
            <a:solidFill>
              <a:srgbClr val="FF7900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95" name="TextBox 19"/>
          <p:cNvSpPr txBox="1"/>
          <p:nvPr/>
        </p:nvSpPr>
        <p:spPr>
          <a:xfrm>
            <a:off x="665673" y="3298606"/>
            <a:ext cx="210312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9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Radar view</a:t>
            </a:r>
          </a:p>
        </p:txBody>
      </p:sp>
      <p:pic>
        <p:nvPicPr>
          <p:cNvPr id="396" name="Picture 6" descr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558" y="1948810"/>
            <a:ext cx="2115380" cy="1189902"/>
          </a:xfrm>
          <a:prstGeom prst="rect">
            <a:avLst/>
          </a:prstGeom>
          <a:ln w="12700">
            <a:miter lim="400000"/>
          </a:ln>
        </p:spPr>
      </p:pic>
      <p:sp>
        <p:nvSpPr>
          <p:cNvPr id="397" name="Rounded Rectangle 4"/>
          <p:cNvSpPr/>
          <p:nvPr/>
        </p:nvSpPr>
        <p:spPr>
          <a:xfrm>
            <a:off x="9080500" y="1828800"/>
            <a:ext cx="2522097" cy="1934278"/>
          </a:xfrm>
          <a:prstGeom prst="roundRect">
            <a:avLst>
              <a:gd name="adj" fmla="val 10431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98" name="Rounded Rectangle 12"/>
          <p:cNvSpPr/>
          <p:nvPr/>
        </p:nvSpPr>
        <p:spPr>
          <a:xfrm>
            <a:off x="9243254" y="3255264"/>
            <a:ext cx="2194561" cy="347473"/>
          </a:xfrm>
          <a:prstGeom prst="roundRect">
            <a:avLst>
              <a:gd name="adj" fmla="val 8000"/>
            </a:avLst>
          </a:prstGeom>
          <a:solidFill>
            <a:srgbClr val="F6F6F4"/>
          </a:solidFill>
          <a:ln>
            <a:solidFill>
              <a:srgbClr val="F6F6F4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399" name="TextBox 13"/>
          <p:cNvSpPr txBox="1"/>
          <p:nvPr/>
        </p:nvSpPr>
        <p:spPr>
          <a:xfrm>
            <a:off x="9288974" y="3310128"/>
            <a:ext cx="2103121" cy="21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900" b="1">
                <a:solidFill>
                  <a:srgbClr val="12121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Generate</a:t>
            </a:r>
          </a:p>
        </p:txBody>
      </p:sp>
      <p:sp>
        <p:nvSpPr>
          <p:cNvPr id="400" name="Rounded Rectangle 4"/>
          <p:cNvSpPr/>
          <p:nvPr/>
        </p:nvSpPr>
        <p:spPr>
          <a:xfrm>
            <a:off x="6235700" y="1828800"/>
            <a:ext cx="2522097" cy="1934278"/>
          </a:xfrm>
          <a:prstGeom prst="roundRect">
            <a:avLst>
              <a:gd name="adj" fmla="val 10431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01" name="Rounded Rectangle 12"/>
          <p:cNvSpPr/>
          <p:nvPr/>
        </p:nvSpPr>
        <p:spPr>
          <a:xfrm>
            <a:off x="6398454" y="3255264"/>
            <a:ext cx="2194561" cy="347473"/>
          </a:xfrm>
          <a:prstGeom prst="roundRect">
            <a:avLst>
              <a:gd name="adj" fmla="val 8000"/>
            </a:avLst>
          </a:prstGeom>
          <a:solidFill>
            <a:srgbClr val="F6F6F4"/>
          </a:solidFill>
          <a:ln>
            <a:solidFill>
              <a:srgbClr val="F6F6F4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02" name="TextBox 13"/>
          <p:cNvSpPr txBox="1"/>
          <p:nvPr/>
        </p:nvSpPr>
        <p:spPr>
          <a:xfrm>
            <a:off x="6444174" y="3310128"/>
            <a:ext cx="2103121" cy="21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900" b="1">
                <a:solidFill>
                  <a:srgbClr val="12121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Topic detail</a:t>
            </a:r>
          </a:p>
        </p:txBody>
      </p:sp>
      <p:sp>
        <p:nvSpPr>
          <p:cNvPr id="403" name="Rounded Rectangle 4"/>
          <p:cNvSpPr/>
          <p:nvPr/>
        </p:nvSpPr>
        <p:spPr>
          <a:xfrm>
            <a:off x="3370677" y="1828800"/>
            <a:ext cx="2522097" cy="1934278"/>
          </a:xfrm>
          <a:prstGeom prst="roundRect">
            <a:avLst>
              <a:gd name="adj" fmla="val 10431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04" name="Rounded Rectangle 12"/>
          <p:cNvSpPr/>
          <p:nvPr/>
        </p:nvSpPr>
        <p:spPr>
          <a:xfrm>
            <a:off x="3533431" y="3255264"/>
            <a:ext cx="2194561" cy="347473"/>
          </a:xfrm>
          <a:prstGeom prst="roundRect">
            <a:avLst>
              <a:gd name="adj" fmla="val 8000"/>
            </a:avLst>
          </a:prstGeom>
          <a:solidFill>
            <a:srgbClr val="F6F6F4"/>
          </a:solidFill>
          <a:ln>
            <a:solidFill>
              <a:srgbClr val="F6F6F4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05" name="TextBox 13"/>
          <p:cNvSpPr txBox="1"/>
          <p:nvPr/>
        </p:nvSpPr>
        <p:spPr>
          <a:xfrm>
            <a:off x="3579150" y="3310128"/>
            <a:ext cx="2103121" cy="21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900" b="1">
                <a:solidFill>
                  <a:srgbClr val="12121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Role-ranked list</a:t>
            </a:r>
          </a:p>
        </p:txBody>
      </p:sp>
      <p:sp>
        <p:nvSpPr>
          <p:cNvPr id="406" name="Rounded Rectangle 4"/>
          <p:cNvSpPr/>
          <p:nvPr/>
        </p:nvSpPr>
        <p:spPr>
          <a:xfrm>
            <a:off x="416621" y="4014858"/>
            <a:ext cx="2522098" cy="1934278"/>
          </a:xfrm>
          <a:prstGeom prst="roundRect">
            <a:avLst>
              <a:gd name="adj" fmla="val 10431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07" name="Rounded Rectangle 12"/>
          <p:cNvSpPr/>
          <p:nvPr/>
        </p:nvSpPr>
        <p:spPr>
          <a:xfrm>
            <a:off x="579375" y="5441322"/>
            <a:ext cx="2194561" cy="347473"/>
          </a:xfrm>
          <a:prstGeom prst="roundRect">
            <a:avLst>
              <a:gd name="adj" fmla="val 8000"/>
            </a:avLst>
          </a:prstGeom>
          <a:solidFill>
            <a:srgbClr val="F6F6F4"/>
          </a:solidFill>
          <a:ln>
            <a:solidFill>
              <a:srgbClr val="F6F6F4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08" name="TextBox 13"/>
          <p:cNvSpPr txBox="1"/>
          <p:nvPr/>
        </p:nvSpPr>
        <p:spPr>
          <a:xfrm>
            <a:off x="625095" y="5496186"/>
            <a:ext cx="2103121" cy="21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900" b="1">
                <a:solidFill>
                  <a:srgbClr val="12121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Analytics</a:t>
            </a:r>
          </a:p>
        </p:txBody>
      </p:sp>
      <p:sp>
        <p:nvSpPr>
          <p:cNvPr id="409" name="Rounded Rectangle 4"/>
          <p:cNvSpPr/>
          <p:nvPr/>
        </p:nvSpPr>
        <p:spPr>
          <a:xfrm>
            <a:off x="9039921" y="4014858"/>
            <a:ext cx="2522098" cy="1934278"/>
          </a:xfrm>
          <a:prstGeom prst="roundRect">
            <a:avLst>
              <a:gd name="adj" fmla="val 10431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10" name="Rounded Rectangle 12"/>
          <p:cNvSpPr/>
          <p:nvPr/>
        </p:nvSpPr>
        <p:spPr>
          <a:xfrm>
            <a:off x="9202676" y="5441322"/>
            <a:ext cx="2194561" cy="347473"/>
          </a:xfrm>
          <a:prstGeom prst="roundRect">
            <a:avLst>
              <a:gd name="adj" fmla="val 8000"/>
            </a:avLst>
          </a:prstGeom>
          <a:solidFill>
            <a:srgbClr val="F6F6F4"/>
          </a:solidFill>
          <a:ln>
            <a:solidFill>
              <a:srgbClr val="F6F6F4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11" name="TextBox 13"/>
          <p:cNvSpPr txBox="1"/>
          <p:nvPr/>
        </p:nvSpPr>
        <p:spPr>
          <a:xfrm>
            <a:off x="9248395" y="5496186"/>
            <a:ext cx="2103122" cy="21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900" b="1">
                <a:solidFill>
                  <a:srgbClr val="12121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The Planner</a:t>
            </a:r>
          </a:p>
        </p:txBody>
      </p:sp>
      <p:sp>
        <p:nvSpPr>
          <p:cNvPr id="412" name="Rounded Rectangle 4"/>
          <p:cNvSpPr/>
          <p:nvPr/>
        </p:nvSpPr>
        <p:spPr>
          <a:xfrm>
            <a:off x="6195121" y="4014858"/>
            <a:ext cx="2522098" cy="1934278"/>
          </a:xfrm>
          <a:prstGeom prst="roundRect">
            <a:avLst>
              <a:gd name="adj" fmla="val 10431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13" name="Rounded Rectangle 12"/>
          <p:cNvSpPr/>
          <p:nvPr/>
        </p:nvSpPr>
        <p:spPr>
          <a:xfrm>
            <a:off x="6357875" y="5441322"/>
            <a:ext cx="2194561" cy="347473"/>
          </a:xfrm>
          <a:prstGeom prst="roundRect">
            <a:avLst>
              <a:gd name="adj" fmla="val 8000"/>
            </a:avLst>
          </a:prstGeom>
          <a:solidFill>
            <a:srgbClr val="F6F6F4"/>
          </a:solidFill>
          <a:ln>
            <a:solidFill>
              <a:srgbClr val="F6F6F4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14" name="TextBox 13"/>
          <p:cNvSpPr txBox="1"/>
          <p:nvPr/>
        </p:nvSpPr>
        <p:spPr>
          <a:xfrm>
            <a:off x="6403595" y="5496186"/>
            <a:ext cx="2103122" cy="21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900" b="1">
                <a:solidFill>
                  <a:srgbClr val="12121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Workflow</a:t>
            </a:r>
          </a:p>
        </p:txBody>
      </p:sp>
      <p:sp>
        <p:nvSpPr>
          <p:cNvPr id="415" name="Rounded Rectangle 4"/>
          <p:cNvSpPr/>
          <p:nvPr/>
        </p:nvSpPr>
        <p:spPr>
          <a:xfrm>
            <a:off x="3330099" y="4014858"/>
            <a:ext cx="2522097" cy="1934278"/>
          </a:xfrm>
          <a:prstGeom prst="roundRect">
            <a:avLst>
              <a:gd name="adj" fmla="val 10431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16" name="Rounded Rectangle 12"/>
          <p:cNvSpPr/>
          <p:nvPr/>
        </p:nvSpPr>
        <p:spPr>
          <a:xfrm>
            <a:off x="3492852" y="5441322"/>
            <a:ext cx="2194561" cy="347473"/>
          </a:xfrm>
          <a:prstGeom prst="roundRect">
            <a:avLst>
              <a:gd name="adj" fmla="val 8000"/>
            </a:avLst>
          </a:prstGeom>
          <a:solidFill>
            <a:srgbClr val="F6F6F4"/>
          </a:solidFill>
          <a:ln>
            <a:solidFill>
              <a:srgbClr val="F6F6F4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17" name="TextBox 13"/>
          <p:cNvSpPr txBox="1"/>
          <p:nvPr/>
        </p:nvSpPr>
        <p:spPr>
          <a:xfrm>
            <a:off x="3538572" y="5496186"/>
            <a:ext cx="2103121" cy="21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900" b="1">
                <a:solidFill>
                  <a:srgbClr val="12121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Coverage</a:t>
            </a:r>
          </a:p>
        </p:txBody>
      </p:sp>
      <p:pic>
        <p:nvPicPr>
          <p:cNvPr id="418" name="Picture 6" descr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7114" y="1948810"/>
            <a:ext cx="2115380" cy="1189902"/>
          </a:xfrm>
          <a:prstGeom prst="rect">
            <a:avLst/>
          </a:prstGeom>
          <a:ln w="12700">
            <a:miter lim="400000"/>
          </a:ln>
        </p:spPr>
      </p:pic>
      <p:pic>
        <p:nvPicPr>
          <p:cNvPr id="419" name="Picture 6" descr="Picture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1914" y="1948810"/>
            <a:ext cx="2115380" cy="1189902"/>
          </a:xfrm>
          <a:prstGeom prst="rect">
            <a:avLst/>
          </a:prstGeom>
          <a:ln w="12700">
            <a:miter lim="400000"/>
          </a:ln>
        </p:spPr>
      </p:pic>
      <p:pic>
        <p:nvPicPr>
          <p:cNvPr id="420" name="Picture 6" descr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095" y="4120615"/>
            <a:ext cx="2103121" cy="1183006"/>
          </a:xfrm>
          <a:prstGeom prst="rect">
            <a:avLst/>
          </a:prstGeom>
          <a:ln w="12700">
            <a:miter lim="400000"/>
          </a:ln>
        </p:spPr>
      </p:pic>
      <p:pic>
        <p:nvPicPr>
          <p:cNvPr id="421" name="Picture 6" descr="Picture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43279" y="4120615"/>
            <a:ext cx="2115381" cy="1189902"/>
          </a:xfrm>
          <a:prstGeom prst="rect">
            <a:avLst/>
          </a:prstGeom>
          <a:ln w="12700">
            <a:miter lim="400000"/>
          </a:ln>
        </p:spPr>
      </p:pic>
      <p:pic>
        <p:nvPicPr>
          <p:cNvPr id="422" name="Picture 6" descr="Picture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39058" y="4120615"/>
            <a:ext cx="2115380" cy="1189902"/>
          </a:xfrm>
          <a:prstGeom prst="rect">
            <a:avLst/>
          </a:prstGeom>
          <a:ln w="12700">
            <a:miter lim="400000"/>
          </a:ln>
        </p:spPr>
      </p:pic>
      <p:pic>
        <p:nvPicPr>
          <p:cNvPr id="423" name="Image" descr="Image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3554509" y="4120615"/>
            <a:ext cx="2107415" cy="1189902"/>
          </a:xfrm>
          <a:prstGeom prst="rect">
            <a:avLst/>
          </a:prstGeom>
          <a:ln w="12700">
            <a:miter lim="400000"/>
          </a:ln>
        </p:spPr>
      </p:pic>
      <p:pic>
        <p:nvPicPr>
          <p:cNvPr id="424" name="Image" descr="Image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66590" y="1952258"/>
            <a:ext cx="2095202" cy="1183006"/>
          </a:xfrm>
          <a:prstGeom prst="rect">
            <a:avLst/>
          </a:prstGeom>
          <a:ln w="12700">
            <a:miter lim="400000"/>
          </a:ln>
        </p:spPr>
      </p:pic>
      <p:sp>
        <p:nvSpPr>
          <p:cNvPr id="425" name="TextBox 20"/>
          <p:cNvSpPr txBox="1"/>
          <p:nvPr/>
        </p:nvSpPr>
        <p:spPr>
          <a:xfrm>
            <a:off x="10607040" y="6355079"/>
            <a:ext cx="914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7999"/>
              </a:lnSpc>
              <a:defRPr sz="900">
                <a:solidFill>
                  <a:srgbClr val="6B6963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r>
              <a:t>9</a:t>
            </a:r>
          </a:p>
        </p:txBody>
      </p:sp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Rectangle 1"/>
          <p:cNvSpPr/>
          <p:nvPr/>
        </p:nvSpPr>
        <p:spPr>
          <a:xfrm>
            <a:off x="-1" y="0"/>
            <a:ext cx="12191697" cy="54864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28" name="TextBox 2"/>
          <p:cNvSpPr txBox="1"/>
          <p:nvPr/>
        </p:nvSpPr>
        <p:spPr>
          <a:xfrm>
            <a:off x="685799" y="457200"/>
            <a:ext cx="10789922" cy="161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100" b="1">
                <a:solidFill>
                  <a:srgbClr val="F07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STATUS</a:t>
            </a:r>
          </a:p>
        </p:txBody>
      </p:sp>
      <p:sp>
        <p:nvSpPr>
          <p:cNvPr id="429" name="TextBox 3"/>
          <p:cNvSpPr txBox="1"/>
          <p:nvPr/>
        </p:nvSpPr>
        <p:spPr>
          <a:xfrm>
            <a:off x="685799" y="789940"/>
            <a:ext cx="10789922" cy="483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3200" b="1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What the MVP has actually produced</a:t>
            </a:r>
          </a:p>
        </p:txBody>
      </p:sp>
      <p:sp>
        <p:nvSpPr>
          <p:cNvPr id="430" name="TextBox 4"/>
          <p:cNvSpPr txBox="1"/>
          <p:nvPr/>
        </p:nvSpPr>
        <p:spPr>
          <a:xfrm>
            <a:off x="685800" y="1481327"/>
            <a:ext cx="10058400" cy="2105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Every figure below is read from the live database, not typed into this deck.</a:t>
            </a:r>
          </a:p>
        </p:txBody>
      </p:sp>
      <p:sp>
        <p:nvSpPr>
          <p:cNvPr id="431" name="TextBox 25"/>
          <p:cNvSpPr txBox="1"/>
          <p:nvPr/>
        </p:nvSpPr>
        <p:spPr>
          <a:xfrm>
            <a:off x="685800" y="3630167"/>
            <a:ext cx="10881360" cy="2230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 b="1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Coverage of the evidenced grid</a:t>
            </a:r>
          </a:p>
        </p:txBody>
      </p:sp>
      <p:sp>
        <p:nvSpPr>
          <p:cNvPr id="432" name="Rectangle 26"/>
          <p:cNvSpPr/>
          <p:nvPr/>
        </p:nvSpPr>
        <p:spPr>
          <a:xfrm>
            <a:off x="685800" y="4119371"/>
            <a:ext cx="82297" cy="82297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33" name="TextBox 27"/>
          <p:cNvSpPr txBox="1"/>
          <p:nvPr/>
        </p:nvSpPr>
        <p:spPr>
          <a:xfrm>
            <a:off x="923544" y="4050791"/>
            <a:ext cx="10515601" cy="198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7999"/>
              </a:lnSpc>
              <a:defRPr sz="1300" b="1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47 of 59 use cases, 33 of 38 technologies  </a:t>
            </a:r>
            <a:r>
              <a:rPr b="0">
                <a:solidFill>
                  <a:srgbClr val="6B6963"/>
                </a:solidFill>
              </a:rPr>
              <a:t>appear in at least one topic — the grid is sparse by design.</a:t>
            </a:r>
          </a:p>
        </p:txBody>
      </p:sp>
      <p:sp>
        <p:nvSpPr>
          <p:cNvPr id="434" name="Rectangle 28"/>
          <p:cNvSpPr/>
          <p:nvPr/>
        </p:nvSpPr>
        <p:spPr>
          <a:xfrm>
            <a:off x="685800" y="4576571"/>
            <a:ext cx="82297" cy="82297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35" name="TextBox 29"/>
          <p:cNvSpPr txBox="1"/>
          <p:nvPr/>
        </p:nvSpPr>
        <p:spPr>
          <a:xfrm>
            <a:off x="923544" y="4507991"/>
            <a:ext cx="10515601" cy="198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7999"/>
              </a:lnSpc>
              <a:defRPr sz="1300" b="1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7,267 tier-1 signals  </a:t>
            </a:r>
            <a:r>
              <a:rPr b="0">
                <a:solidFill>
                  <a:srgbClr val="6B6963"/>
                </a:solidFill>
              </a:rPr>
              <a:t>from regulators, procurement portals, standards bodies and official statistics.</a:t>
            </a:r>
          </a:p>
        </p:txBody>
      </p:sp>
      <p:sp>
        <p:nvSpPr>
          <p:cNvPr id="436" name="Rectangle 30"/>
          <p:cNvSpPr/>
          <p:nvPr/>
        </p:nvSpPr>
        <p:spPr>
          <a:xfrm>
            <a:off x="685800" y="5033771"/>
            <a:ext cx="82297" cy="82297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37" name="TextBox 31"/>
          <p:cNvSpPr txBox="1"/>
          <p:nvPr/>
        </p:nvSpPr>
        <p:spPr>
          <a:xfrm>
            <a:off x="923544" y="4965191"/>
            <a:ext cx="10515601" cy="198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7999"/>
              </a:lnSpc>
              <a:defRPr sz="1300" b="1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1,054 French-language signals  </a:t>
            </a:r>
            <a:r>
              <a:rPr b="0">
                <a:solidFill>
                  <a:srgbClr val="6B6963"/>
                </a:solidFill>
              </a:rPr>
              <a:t>so the anglophone bias named as a principal risk is measured, not assumed.</a:t>
            </a:r>
          </a:p>
        </p:txBody>
      </p:sp>
      <p:sp>
        <p:nvSpPr>
          <p:cNvPr id="438" name="Rectangle 32"/>
          <p:cNvSpPr/>
          <p:nvPr/>
        </p:nvSpPr>
        <p:spPr>
          <a:xfrm>
            <a:off x="685800" y="5490971"/>
            <a:ext cx="82297" cy="82297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39" name="TextBox 33"/>
          <p:cNvSpPr txBox="1"/>
          <p:nvPr/>
        </p:nvSpPr>
        <p:spPr>
          <a:xfrm>
            <a:off x="923544" y="5422391"/>
            <a:ext cx="10515601" cy="198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7999"/>
              </a:lnSpc>
              <a:defRPr sz="1300" b="1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314 sized bottom-up · 181 competition-scored · 174 briefed  </a:t>
            </a:r>
            <a:r>
              <a:rPr b="0">
                <a:solidFill>
                  <a:srgbClr val="6B6963"/>
                </a:solidFill>
              </a:rPr>
              <a:t>each with its method and its confidence grade, never a quoted headline.</a:t>
            </a:r>
          </a:p>
        </p:txBody>
      </p:sp>
      <p:sp>
        <p:nvSpPr>
          <p:cNvPr id="440" name="Rectangle 34"/>
          <p:cNvSpPr/>
          <p:nvPr/>
        </p:nvSpPr>
        <p:spPr>
          <a:xfrm>
            <a:off x="685800" y="5948171"/>
            <a:ext cx="82297" cy="82297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1" name="TextBox 35"/>
          <p:cNvSpPr txBox="1"/>
          <p:nvPr/>
        </p:nvSpPr>
        <p:spPr>
          <a:xfrm>
            <a:off x="923544" y="5879591"/>
            <a:ext cx="10515601" cy="1984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17999"/>
              </a:lnSpc>
              <a:defRPr sz="1300" b="1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8 portfolio plans · 12 kinds of pre-sales artefact built  </a:t>
            </a:r>
            <a:r>
              <a:rPr b="0">
                <a:solidFill>
                  <a:srgbClr val="6B6963"/>
                </a:solidFill>
              </a:rPr>
              <a:t>the two things that turn a ranked list into a decision and a bid.</a:t>
            </a:r>
          </a:p>
        </p:txBody>
      </p:sp>
      <p:sp>
        <p:nvSpPr>
          <p:cNvPr id="442" name="TextBox 36"/>
          <p:cNvSpPr txBox="1"/>
          <p:nvPr/>
        </p:nvSpPr>
        <p:spPr>
          <a:xfrm>
            <a:off x="685800" y="6355079"/>
            <a:ext cx="7315200" cy="136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9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Orange Business · Opportunity Spaces / Innovation Radar</a:t>
            </a:r>
          </a:p>
        </p:txBody>
      </p:sp>
      <p:sp>
        <p:nvSpPr>
          <p:cNvPr id="443" name="TextBox 37"/>
          <p:cNvSpPr txBox="1"/>
          <p:nvPr/>
        </p:nvSpPr>
        <p:spPr>
          <a:xfrm>
            <a:off x="10607040" y="6355079"/>
            <a:ext cx="914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7999"/>
              </a:lnSpc>
              <a:defRPr sz="900">
                <a:solidFill>
                  <a:srgbClr val="6B6963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r>
              <a:t>10</a:t>
            </a:r>
          </a:p>
        </p:txBody>
      </p:sp>
      <p:sp>
        <p:nvSpPr>
          <p:cNvPr id="444" name="Rounded Rectangle 4"/>
          <p:cNvSpPr/>
          <p:nvPr/>
        </p:nvSpPr>
        <p:spPr>
          <a:xfrm>
            <a:off x="640080" y="2029969"/>
            <a:ext cx="1742496" cy="1262124"/>
          </a:xfrm>
          <a:prstGeom prst="roundRect">
            <a:avLst>
              <a:gd name="adj" fmla="val 8984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5" name="TextBox 5"/>
          <p:cNvSpPr txBox="1"/>
          <p:nvPr/>
        </p:nvSpPr>
        <p:spPr>
          <a:xfrm>
            <a:off x="685800" y="2139695"/>
            <a:ext cx="1651056" cy="486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2800" b="1">
                <a:solidFill>
                  <a:srgbClr val="12121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418</a:t>
            </a:r>
          </a:p>
        </p:txBody>
      </p:sp>
      <p:sp>
        <p:nvSpPr>
          <p:cNvPr id="446" name="TextBox 6"/>
          <p:cNvSpPr txBox="1"/>
          <p:nvPr/>
        </p:nvSpPr>
        <p:spPr>
          <a:xfrm>
            <a:off x="685800" y="2642147"/>
            <a:ext cx="1651056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9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OPPORTUNITY SPACES</a:t>
            </a:r>
          </a:p>
        </p:txBody>
      </p:sp>
      <p:sp>
        <p:nvSpPr>
          <p:cNvPr id="447" name="TextBox 7"/>
          <p:cNvSpPr txBox="1"/>
          <p:nvPr/>
        </p:nvSpPr>
        <p:spPr>
          <a:xfrm>
            <a:off x="685800" y="2912969"/>
            <a:ext cx="1651056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900">
                <a:solidFill>
                  <a:srgbClr val="69696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15/15 verticals covered</a:t>
            </a:r>
          </a:p>
        </p:txBody>
      </p:sp>
      <p:sp>
        <p:nvSpPr>
          <p:cNvPr id="448" name="Rounded Rectangle 4"/>
          <p:cNvSpPr/>
          <p:nvPr/>
        </p:nvSpPr>
        <p:spPr>
          <a:xfrm>
            <a:off x="9635735" y="2027339"/>
            <a:ext cx="1742496" cy="1262125"/>
          </a:xfrm>
          <a:prstGeom prst="roundRect">
            <a:avLst>
              <a:gd name="adj" fmla="val 8984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49" name="TextBox 5"/>
          <p:cNvSpPr txBox="1"/>
          <p:nvPr/>
        </p:nvSpPr>
        <p:spPr>
          <a:xfrm>
            <a:off x="9681455" y="2137066"/>
            <a:ext cx="1651056" cy="486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2800" b="1">
                <a:solidFill>
                  <a:srgbClr val="12121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26.7</a:t>
            </a:r>
          </a:p>
        </p:txBody>
      </p:sp>
      <p:sp>
        <p:nvSpPr>
          <p:cNvPr id="450" name="TextBox 6"/>
          <p:cNvSpPr txBox="1"/>
          <p:nvPr/>
        </p:nvSpPr>
        <p:spPr>
          <a:xfrm>
            <a:off x="9681455" y="2639517"/>
            <a:ext cx="1651056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9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SIGNALS PER TOPIC</a:t>
            </a:r>
          </a:p>
        </p:txBody>
      </p:sp>
      <p:sp>
        <p:nvSpPr>
          <p:cNvPr id="451" name="TextBox 7"/>
          <p:cNvSpPr txBox="1"/>
          <p:nvPr/>
        </p:nvSpPr>
        <p:spPr>
          <a:xfrm>
            <a:off x="9681455" y="2910339"/>
            <a:ext cx="1651056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900">
                <a:solidFill>
                  <a:srgbClr val="69696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after enrichment</a:t>
            </a:r>
          </a:p>
        </p:txBody>
      </p:sp>
      <p:sp>
        <p:nvSpPr>
          <p:cNvPr id="452" name="Rounded Rectangle 4"/>
          <p:cNvSpPr/>
          <p:nvPr/>
        </p:nvSpPr>
        <p:spPr>
          <a:xfrm>
            <a:off x="5169053" y="2027339"/>
            <a:ext cx="1742497" cy="1262125"/>
          </a:xfrm>
          <a:prstGeom prst="roundRect">
            <a:avLst>
              <a:gd name="adj" fmla="val 8984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53" name="TextBox 5"/>
          <p:cNvSpPr txBox="1"/>
          <p:nvPr/>
        </p:nvSpPr>
        <p:spPr>
          <a:xfrm>
            <a:off x="5214773" y="2137066"/>
            <a:ext cx="1651057" cy="48620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2800" b="1">
                <a:solidFill>
                  <a:srgbClr val="12121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34</a:t>
            </a:r>
          </a:p>
        </p:txBody>
      </p:sp>
      <p:sp>
        <p:nvSpPr>
          <p:cNvPr id="454" name="TextBox 6"/>
          <p:cNvSpPr txBox="1"/>
          <p:nvPr/>
        </p:nvSpPr>
        <p:spPr>
          <a:xfrm>
            <a:off x="5214773" y="2639517"/>
            <a:ext cx="1651057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9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LIVE SOURCES</a:t>
            </a:r>
          </a:p>
        </p:txBody>
      </p:sp>
      <p:sp>
        <p:nvSpPr>
          <p:cNvPr id="455" name="TextBox 7"/>
          <p:cNvSpPr txBox="1"/>
          <p:nvPr/>
        </p:nvSpPr>
        <p:spPr>
          <a:xfrm>
            <a:off x="5214773" y="2910339"/>
            <a:ext cx="1651057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900">
                <a:solidFill>
                  <a:srgbClr val="69696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33 enabled + internal intake</a:t>
            </a:r>
          </a:p>
        </p:txBody>
      </p:sp>
      <p:sp>
        <p:nvSpPr>
          <p:cNvPr id="456" name="Rounded Rectangle 4"/>
          <p:cNvSpPr/>
          <p:nvPr/>
        </p:nvSpPr>
        <p:spPr>
          <a:xfrm>
            <a:off x="2904566" y="2029969"/>
            <a:ext cx="1742497" cy="1262124"/>
          </a:xfrm>
          <a:prstGeom prst="roundRect">
            <a:avLst>
              <a:gd name="adj" fmla="val 8984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57" name="TextBox 5"/>
          <p:cNvSpPr txBox="1"/>
          <p:nvPr/>
        </p:nvSpPr>
        <p:spPr>
          <a:xfrm>
            <a:off x="2950286" y="2139696"/>
            <a:ext cx="1651057" cy="4862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2800" b="1">
                <a:solidFill>
                  <a:srgbClr val="12121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11,354</a:t>
            </a:r>
          </a:p>
        </p:txBody>
      </p:sp>
      <p:sp>
        <p:nvSpPr>
          <p:cNvPr id="458" name="TextBox 6"/>
          <p:cNvSpPr txBox="1"/>
          <p:nvPr/>
        </p:nvSpPr>
        <p:spPr>
          <a:xfrm>
            <a:off x="2950286" y="2642147"/>
            <a:ext cx="1651057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9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SIGNALS INGESTED</a:t>
            </a:r>
          </a:p>
        </p:txBody>
      </p:sp>
      <p:sp>
        <p:nvSpPr>
          <p:cNvPr id="459" name="TextBox 7"/>
          <p:cNvSpPr txBox="1"/>
          <p:nvPr/>
        </p:nvSpPr>
        <p:spPr>
          <a:xfrm>
            <a:off x="2950286" y="2912969"/>
            <a:ext cx="1651057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900">
                <a:solidFill>
                  <a:srgbClr val="69696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6,804 passed the gate</a:t>
            </a:r>
          </a:p>
        </p:txBody>
      </p:sp>
      <p:sp>
        <p:nvSpPr>
          <p:cNvPr id="460" name="Rounded Rectangle 4"/>
          <p:cNvSpPr/>
          <p:nvPr/>
        </p:nvSpPr>
        <p:spPr>
          <a:xfrm>
            <a:off x="7402394" y="2022080"/>
            <a:ext cx="1742497" cy="1262125"/>
          </a:xfrm>
          <a:prstGeom prst="roundRect">
            <a:avLst>
              <a:gd name="adj" fmla="val 8984"/>
            </a:avLst>
          </a:prstGeom>
          <a:solidFill>
            <a:srgbClr val="FFFFFF"/>
          </a:solidFill>
          <a:ln>
            <a:solidFill>
              <a:srgbClr val="DEDEDA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61" name="TextBox 5"/>
          <p:cNvSpPr txBox="1"/>
          <p:nvPr/>
        </p:nvSpPr>
        <p:spPr>
          <a:xfrm>
            <a:off x="7448114" y="2131807"/>
            <a:ext cx="1651057" cy="48620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2800" b="1">
                <a:solidFill>
                  <a:srgbClr val="121212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4,832</a:t>
            </a:r>
          </a:p>
        </p:txBody>
      </p:sp>
      <p:sp>
        <p:nvSpPr>
          <p:cNvPr id="462" name="TextBox 6"/>
          <p:cNvSpPr txBox="1"/>
          <p:nvPr/>
        </p:nvSpPr>
        <p:spPr>
          <a:xfrm>
            <a:off x="7448114" y="2634258"/>
            <a:ext cx="1651057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9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ASSET LINKS</a:t>
            </a:r>
          </a:p>
        </p:txBody>
      </p:sp>
      <p:sp>
        <p:nvSpPr>
          <p:cNvPr id="463" name="TextBox 7"/>
          <p:cNvSpPr txBox="1"/>
          <p:nvPr/>
        </p:nvSpPr>
        <p:spPr>
          <a:xfrm>
            <a:off x="7448114" y="2905080"/>
            <a:ext cx="1651056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900">
                <a:solidFill>
                  <a:srgbClr val="696969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181 graph nodes</a:t>
            </a:r>
          </a:p>
        </p:txBody>
      </p:sp>
    </p:spTree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Rectangle 1"/>
          <p:cNvSpPr/>
          <p:nvPr/>
        </p:nvSpPr>
        <p:spPr>
          <a:xfrm>
            <a:off x="-1" y="0"/>
            <a:ext cx="12191697" cy="54864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66" name="TextBox 2"/>
          <p:cNvSpPr txBox="1"/>
          <p:nvPr/>
        </p:nvSpPr>
        <p:spPr>
          <a:xfrm>
            <a:off x="685799" y="457200"/>
            <a:ext cx="10789922" cy="161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100" b="1">
                <a:solidFill>
                  <a:srgbClr val="F07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ARCHITECTURE</a:t>
            </a:r>
          </a:p>
        </p:txBody>
      </p:sp>
      <p:sp>
        <p:nvSpPr>
          <p:cNvPr id="467" name="TextBox 3"/>
          <p:cNvSpPr txBox="1"/>
          <p:nvPr/>
        </p:nvSpPr>
        <p:spPr>
          <a:xfrm>
            <a:off x="685799" y="777240"/>
            <a:ext cx="10789922" cy="483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3200" b="1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Seven pipeline stages, each with a contract</a:t>
            </a:r>
          </a:p>
        </p:txBody>
      </p:sp>
      <p:sp>
        <p:nvSpPr>
          <p:cNvPr id="468" name="TextBox 4"/>
          <p:cNvSpPr txBox="1"/>
          <p:nvPr/>
        </p:nvSpPr>
        <p:spPr>
          <a:xfrm>
            <a:off x="685800" y="1481327"/>
            <a:ext cx="10058400" cy="2105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Stages can be developed, tested and replaced independently.</a:t>
            </a:r>
          </a:p>
        </p:txBody>
      </p:sp>
      <p:sp>
        <p:nvSpPr>
          <p:cNvPr id="469" name="Rectangle 5"/>
          <p:cNvSpPr/>
          <p:nvPr/>
        </p:nvSpPr>
        <p:spPr>
          <a:xfrm>
            <a:off x="661906" y="1828239"/>
            <a:ext cx="1316737" cy="1325881"/>
          </a:xfrm>
          <a:prstGeom prst="rect">
            <a:avLst/>
          </a:prstGeom>
          <a:solidFill>
            <a:srgbClr val="F4F4F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70" name="TextBox 6"/>
          <p:cNvSpPr txBox="1"/>
          <p:nvPr/>
        </p:nvSpPr>
        <p:spPr>
          <a:xfrm>
            <a:off x="771634" y="1974543"/>
            <a:ext cx="1097281" cy="161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100" b="1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1 Collect</a:t>
            </a:r>
          </a:p>
        </p:txBody>
      </p:sp>
      <p:sp>
        <p:nvSpPr>
          <p:cNvPr id="471" name="TextBox 7"/>
          <p:cNvSpPr txBox="1"/>
          <p:nvPr/>
        </p:nvSpPr>
        <p:spPr>
          <a:xfrm>
            <a:off x="771634" y="2358591"/>
            <a:ext cx="10972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900">
                <a:solidFill>
                  <a:srgbClr val="F07000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r>
              <a:t>connectors</a:t>
            </a:r>
          </a:p>
        </p:txBody>
      </p:sp>
      <p:sp>
        <p:nvSpPr>
          <p:cNvPr id="472" name="TextBox 8"/>
          <p:cNvSpPr txBox="1"/>
          <p:nvPr/>
        </p:nvSpPr>
        <p:spPr>
          <a:xfrm>
            <a:off x="771634" y="2614623"/>
            <a:ext cx="1097281" cy="3076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9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source config → raw items</a:t>
            </a:r>
          </a:p>
        </p:txBody>
      </p:sp>
      <p:sp>
        <p:nvSpPr>
          <p:cNvPr id="473" name="Rectangle 9"/>
          <p:cNvSpPr/>
          <p:nvPr/>
        </p:nvSpPr>
        <p:spPr>
          <a:xfrm>
            <a:off x="2024362" y="1828239"/>
            <a:ext cx="1316737" cy="1325881"/>
          </a:xfrm>
          <a:prstGeom prst="rect">
            <a:avLst/>
          </a:prstGeom>
          <a:solidFill>
            <a:srgbClr val="F4F4F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74" name="TextBox 10"/>
          <p:cNvSpPr txBox="1"/>
          <p:nvPr/>
        </p:nvSpPr>
        <p:spPr>
          <a:xfrm>
            <a:off x="2134090" y="1974543"/>
            <a:ext cx="1097281" cy="161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100" b="1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2 Normalise</a:t>
            </a:r>
          </a:p>
        </p:txBody>
      </p:sp>
      <p:sp>
        <p:nvSpPr>
          <p:cNvPr id="475" name="TextBox 11"/>
          <p:cNvSpPr txBox="1"/>
          <p:nvPr/>
        </p:nvSpPr>
        <p:spPr>
          <a:xfrm>
            <a:off x="2134090" y="2358591"/>
            <a:ext cx="10972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900">
                <a:solidFill>
                  <a:srgbClr val="F07000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r>
              <a:t>ingest</a:t>
            </a:r>
          </a:p>
        </p:txBody>
      </p:sp>
      <p:sp>
        <p:nvSpPr>
          <p:cNvPr id="476" name="TextBox 12"/>
          <p:cNvSpPr txBox="1"/>
          <p:nvPr/>
        </p:nvSpPr>
        <p:spPr>
          <a:xfrm>
            <a:off x="2134090" y="2614623"/>
            <a:ext cx="1097281" cy="3076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9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raw items → signal records</a:t>
            </a:r>
          </a:p>
        </p:txBody>
      </p:sp>
      <p:sp>
        <p:nvSpPr>
          <p:cNvPr id="477" name="Rectangle 13"/>
          <p:cNvSpPr/>
          <p:nvPr/>
        </p:nvSpPr>
        <p:spPr>
          <a:xfrm>
            <a:off x="3386818" y="1828239"/>
            <a:ext cx="1316737" cy="1325881"/>
          </a:xfrm>
          <a:prstGeom prst="rect">
            <a:avLst/>
          </a:prstGeom>
          <a:solidFill>
            <a:srgbClr val="F4F4F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78" name="TextBox 14"/>
          <p:cNvSpPr txBox="1"/>
          <p:nvPr/>
        </p:nvSpPr>
        <p:spPr>
          <a:xfrm>
            <a:off x="3496547" y="1974543"/>
            <a:ext cx="1097281" cy="161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100" b="1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3 Classify</a:t>
            </a:r>
          </a:p>
        </p:txBody>
      </p:sp>
      <p:sp>
        <p:nvSpPr>
          <p:cNvPr id="479" name="TextBox 15"/>
          <p:cNvSpPr txBox="1"/>
          <p:nvPr/>
        </p:nvSpPr>
        <p:spPr>
          <a:xfrm>
            <a:off x="3496547" y="2358591"/>
            <a:ext cx="10972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900">
                <a:solidFill>
                  <a:srgbClr val="F07000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r>
              <a:t>ingest</a:t>
            </a:r>
          </a:p>
        </p:txBody>
      </p:sp>
      <p:sp>
        <p:nvSpPr>
          <p:cNvPr id="480" name="TextBox 16"/>
          <p:cNvSpPr txBox="1"/>
          <p:nvPr/>
        </p:nvSpPr>
        <p:spPr>
          <a:xfrm>
            <a:off x="3496547" y="2614623"/>
            <a:ext cx="1097281" cy="3076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9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→ typed, tiered signals</a:t>
            </a:r>
          </a:p>
        </p:txBody>
      </p:sp>
      <p:sp>
        <p:nvSpPr>
          <p:cNvPr id="481" name="Rectangle 17"/>
          <p:cNvSpPr/>
          <p:nvPr/>
        </p:nvSpPr>
        <p:spPr>
          <a:xfrm>
            <a:off x="4749274" y="1828239"/>
            <a:ext cx="1316737" cy="1325881"/>
          </a:xfrm>
          <a:prstGeom prst="rect">
            <a:avLst/>
          </a:prstGeom>
          <a:solidFill>
            <a:srgbClr val="F4F4F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82" name="TextBox 18"/>
          <p:cNvSpPr txBox="1"/>
          <p:nvPr/>
        </p:nvSpPr>
        <p:spPr>
          <a:xfrm>
            <a:off x="4859002" y="1974543"/>
            <a:ext cx="1097282" cy="161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100" b="1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4 Themes</a:t>
            </a:r>
          </a:p>
        </p:txBody>
      </p:sp>
      <p:sp>
        <p:nvSpPr>
          <p:cNvPr id="483" name="TextBox 19"/>
          <p:cNvSpPr txBox="1"/>
          <p:nvPr/>
        </p:nvSpPr>
        <p:spPr>
          <a:xfrm>
            <a:off x="4859002" y="2358591"/>
            <a:ext cx="1097282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900">
                <a:solidFill>
                  <a:srgbClr val="F07000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r>
              <a:t>themes</a:t>
            </a:r>
          </a:p>
        </p:txBody>
      </p:sp>
      <p:sp>
        <p:nvSpPr>
          <p:cNvPr id="484" name="TextBox 20"/>
          <p:cNvSpPr txBox="1"/>
          <p:nvPr/>
        </p:nvSpPr>
        <p:spPr>
          <a:xfrm>
            <a:off x="4859002" y="2614623"/>
            <a:ext cx="1097282" cy="139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9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→ theme clusters</a:t>
            </a:r>
          </a:p>
        </p:txBody>
      </p:sp>
      <p:sp>
        <p:nvSpPr>
          <p:cNvPr id="485" name="Rectangle 21"/>
          <p:cNvSpPr/>
          <p:nvPr/>
        </p:nvSpPr>
        <p:spPr>
          <a:xfrm>
            <a:off x="6111730" y="1828239"/>
            <a:ext cx="1316737" cy="1325881"/>
          </a:xfrm>
          <a:prstGeom prst="rect">
            <a:avLst/>
          </a:prstGeom>
          <a:solidFill>
            <a:srgbClr val="0B0B0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86" name="TextBox 22"/>
          <p:cNvSpPr txBox="1"/>
          <p:nvPr/>
        </p:nvSpPr>
        <p:spPr>
          <a:xfrm>
            <a:off x="6221458" y="1974543"/>
            <a:ext cx="1097281" cy="161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1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5 Synthesise</a:t>
            </a:r>
          </a:p>
        </p:txBody>
      </p:sp>
      <p:sp>
        <p:nvSpPr>
          <p:cNvPr id="487" name="TextBox 23"/>
          <p:cNvSpPr txBox="1"/>
          <p:nvPr/>
        </p:nvSpPr>
        <p:spPr>
          <a:xfrm>
            <a:off x="6221458" y="2358591"/>
            <a:ext cx="10972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900">
                <a:solidFill>
                  <a:srgbClr val="F07000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r>
              <a:t>synthesis</a:t>
            </a:r>
          </a:p>
        </p:txBody>
      </p:sp>
      <p:sp>
        <p:nvSpPr>
          <p:cNvPr id="488" name="TextBox 24"/>
          <p:cNvSpPr txBox="1"/>
          <p:nvPr/>
        </p:nvSpPr>
        <p:spPr>
          <a:xfrm>
            <a:off x="6221458" y="2614623"/>
            <a:ext cx="1097281" cy="139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900">
                <a:solidFill>
                  <a:srgbClr val="C3C2B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→ candidate spaces</a:t>
            </a:r>
          </a:p>
        </p:txBody>
      </p:sp>
      <p:sp>
        <p:nvSpPr>
          <p:cNvPr id="489" name="Rectangle 25"/>
          <p:cNvSpPr/>
          <p:nvPr/>
        </p:nvSpPr>
        <p:spPr>
          <a:xfrm>
            <a:off x="7474187" y="1828239"/>
            <a:ext cx="1316737" cy="1325881"/>
          </a:xfrm>
          <a:prstGeom prst="rect">
            <a:avLst/>
          </a:prstGeom>
          <a:solidFill>
            <a:srgbClr val="0B0B0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90" name="TextBox 26"/>
          <p:cNvSpPr txBox="1"/>
          <p:nvPr/>
        </p:nvSpPr>
        <p:spPr>
          <a:xfrm>
            <a:off x="7583914" y="1974543"/>
            <a:ext cx="1097281" cy="161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1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5b Enrich</a:t>
            </a:r>
          </a:p>
        </p:txBody>
      </p:sp>
      <p:sp>
        <p:nvSpPr>
          <p:cNvPr id="491" name="TextBox 27"/>
          <p:cNvSpPr txBox="1"/>
          <p:nvPr/>
        </p:nvSpPr>
        <p:spPr>
          <a:xfrm>
            <a:off x="7583914" y="2358591"/>
            <a:ext cx="10972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900">
                <a:solidFill>
                  <a:srgbClr val="F07000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r>
              <a:t>enrich</a:t>
            </a:r>
          </a:p>
        </p:txBody>
      </p:sp>
      <p:sp>
        <p:nvSpPr>
          <p:cNvPr id="492" name="TextBox 28"/>
          <p:cNvSpPr txBox="1"/>
          <p:nvPr/>
        </p:nvSpPr>
        <p:spPr>
          <a:xfrm>
            <a:off x="7583914" y="2614623"/>
            <a:ext cx="1097281" cy="3076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900">
                <a:solidFill>
                  <a:srgbClr val="C3C2B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→ more evidence per topic</a:t>
            </a:r>
          </a:p>
        </p:txBody>
      </p:sp>
      <p:sp>
        <p:nvSpPr>
          <p:cNvPr id="493" name="Rectangle 29"/>
          <p:cNvSpPr/>
          <p:nvPr/>
        </p:nvSpPr>
        <p:spPr>
          <a:xfrm>
            <a:off x="8836642" y="1828239"/>
            <a:ext cx="1316737" cy="1325881"/>
          </a:xfrm>
          <a:prstGeom prst="rect">
            <a:avLst/>
          </a:prstGeom>
          <a:solidFill>
            <a:srgbClr val="0B0B0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94" name="TextBox 30"/>
          <p:cNvSpPr txBox="1"/>
          <p:nvPr/>
        </p:nvSpPr>
        <p:spPr>
          <a:xfrm>
            <a:off x="8946370" y="1974543"/>
            <a:ext cx="1097281" cy="161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1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6 Score</a:t>
            </a:r>
          </a:p>
        </p:txBody>
      </p:sp>
      <p:sp>
        <p:nvSpPr>
          <p:cNvPr id="495" name="TextBox 31"/>
          <p:cNvSpPr txBox="1"/>
          <p:nvPr/>
        </p:nvSpPr>
        <p:spPr>
          <a:xfrm>
            <a:off x="8946370" y="2358591"/>
            <a:ext cx="109728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900">
                <a:solidFill>
                  <a:srgbClr val="F07000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r>
              <a:t>graph + scoring</a:t>
            </a:r>
          </a:p>
        </p:txBody>
      </p:sp>
      <p:sp>
        <p:nvSpPr>
          <p:cNvPr id="496" name="TextBox 32"/>
          <p:cNvSpPr txBox="1"/>
          <p:nvPr/>
        </p:nvSpPr>
        <p:spPr>
          <a:xfrm>
            <a:off x="8946370" y="2614623"/>
            <a:ext cx="1097281" cy="139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900">
                <a:solidFill>
                  <a:srgbClr val="C3C2B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→ ranked spaces</a:t>
            </a:r>
          </a:p>
        </p:txBody>
      </p:sp>
      <p:sp>
        <p:nvSpPr>
          <p:cNvPr id="497" name="Rectangle 33"/>
          <p:cNvSpPr/>
          <p:nvPr/>
        </p:nvSpPr>
        <p:spPr>
          <a:xfrm>
            <a:off x="10199099" y="1828239"/>
            <a:ext cx="1316737" cy="1325881"/>
          </a:xfrm>
          <a:prstGeom prst="rect">
            <a:avLst/>
          </a:prstGeom>
          <a:solidFill>
            <a:srgbClr val="F4F4F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98" name="TextBox 34"/>
          <p:cNvSpPr txBox="1"/>
          <p:nvPr/>
        </p:nvSpPr>
        <p:spPr>
          <a:xfrm>
            <a:off x="10308826" y="1974543"/>
            <a:ext cx="1097281" cy="161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100" b="1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7 Serve</a:t>
            </a:r>
          </a:p>
        </p:txBody>
      </p:sp>
      <p:sp>
        <p:nvSpPr>
          <p:cNvPr id="499" name="TextBox 35"/>
          <p:cNvSpPr txBox="1"/>
          <p:nvPr/>
        </p:nvSpPr>
        <p:spPr>
          <a:xfrm>
            <a:off x="10308826" y="2358591"/>
            <a:ext cx="1208568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900">
                <a:solidFill>
                  <a:srgbClr val="F07000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r>
              <a:t>read model + api</a:t>
            </a:r>
          </a:p>
        </p:txBody>
      </p:sp>
      <p:sp>
        <p:nvSpPr>
          <p:cNvPr id="500" name="TextBox 36"/>
          <p:cNvSpPr txBox="1"/>
          <p:nvPr/>
        </p:nvSpPr>
        <p:spPr>
          <a:xfrm>
            <a:off x="10308826" y="2614623"/>
            <a:ext cx="1097281" cy="1399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20000"/>
              </a:lnSpc>
              <a:defRPr sz="9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→ radar, briefs, API</a:t>
            </a:r>
          </a:p>
        </p:txBody>
      </p:sp>
      <p:sp>
        <p:nvSpPr>
          <p:cNvPr id="501" name="TextBox 48"/>
          <p:cNvSpPr txBox="1"/>
          <p:nvPr/>
        </p:nvSpPr>
        <p:spPr>
          <a:xfrm>
            <a:off x="685800" y="6355079"/>
            <a:ext cx="7315200" cy="136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9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Orange Business · Opportunity Spaces / Innovation Radar</a:t>
            </a:r>
          </a:p>
        </p:txBody>
      </p:sp>
      <p:sp>
        <p:nvSpPr>
          <p:cNvPr id="502" name="TextBox 49"/>
          <p:cNvSpPr txBox="1"/>
          <p:nvPr/>
        </p:nvSpPr>
        <p:spPr>
          <a:xfrm>
            <a:off x="10607040" y="6355079"/>
            <a:ext cx="914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7999"/>
              </a:lnSpc>
              <a:defRPr sz="900">
                <a:solidFill>
                  <a:srgbClr val="6B6963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r>
              <a:t>11</a:t>
            </a:r>
          </a:p>
        </p:txBody>
      </p:sp>
      <p:sp>
        <p:nvSpPr>
          <p:cNvPr id="503" name="Rounded Rectangle 59"/>
          <p:cNvSpPr/>
          <p:nvPr/>
        </p:nvSpPr>
        <p:spPr>
          <a:xfrm>
            <a:off x="640080" y="3435603"/>
            <a:ext cx="1691640" cy="310897"/>
          </a:xfrm>
          <a:prstGeom prst="roundRect">
            <a:avLst>
              <a:gd name="adj" fmla="val 5000"/>
            </a:avLst>
          </a:prstGeom>
          <a:solidFill>
            <a:srgbClr val="373737"/>
          </a:solidFill>
          <a:ln w="12700">
            <a:solidFill>
              <a:srgbClr val="373737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"/>
              </a:defRPr>
            </a:pPr>
            <a:endParaRPr/>
          </a:p>
        </p:txBody>
      </p:sp>
      <p:sp>
        <p:nvSpPr>
          <p:cNvPr id="504" name="TextBox 60"/>
          <p:cNvSpPr txBox="1"/>
          <p:nvPr/>
        </p:nvSpPr>
        <p:spPr>
          <a:xfrm>
            <a:off x="685800" y="3485895"/>
            <a:ext cx="1600201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8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PARALLEL, SLOWER PATH</a:t>
            </a:r>
          </a:p>
        </p:txBody>
      </p:sp>
      <p:sp>
        <p:nvSpPr>
          <p:cNvPr id="505" name="TextBox 61"/>
          <p:cNvSpPr txBox="1"/>
          <p:nvPr/>
        </p:nvSpPr>
        <p:spPr>
          <a:xfrm>
            <a:off x="2532888" y="3490467"/>
            <a:ext cx="1965961" cy="2642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1200" b="1">
                <a:solidFill>
                  <a:srgbClr val="16161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Orange Business Graph</a:t>
            </a:r>
          </a:p>
        </p:txBody>
      </p:sp>
      <p:sp>
        <p:nvSpPr>
          <p:cNvPr id="506" name="TextBox 62"/>
          <p:cNvSpPr txBox="1"/>
          <p:nvPr/>
        </p:nvSpPr>
        <p:spPr>
          <a:xfrm>
            <a:off x="8765632" y="3473759"/>
            <a:ext cx="118872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r">
              <a:defRPr sz="9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joins at stage 6</a:t>
            </a:r>
          </a:p>
        </p:txBody>
      </p:sp>
      <p:sp>
        <p:nvSpPr>
          <p:cNvPr id="507" name="Rounded Rectangle 63"/>
          <p:cNvSpPr/>
          <p:nvPr/>
        </p:nvSpPr>
        <p:spPr>
          <a:xfrm>
            <a:off x="658368" y="3819651"/>
            <a:ext cx="10561320" cy="6949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7900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"/>
              </a:defRPr>
            </a:pPr>
            <a:endParaRPr/>
          </a:p>
        </p:txBody>
      </p:sp>
      <p:sp>
        <p:nvSpPr>
          <p:cNvPr id="508" name="TextBox 64"/>
          <p:cNvSpPr txBox="1"/>
          <p:nvPr/>
        </p:nvSpPr>
        <p:spPr>
          <a:xfrm>
            <a:off x="905255" y="3956811"/>
            <a:ext cx="9948673" cy="214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900" b="1">
                <a:solidFill>
                  <a:srgbClr val="16161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Offers  ·  references  ·  partners with tiers  ·  certifications  ·  analyst positions  ·  capability pools  ·  research assets</a:t>
            </a:r>
          </a:p>
        </p:txBody>
      </p:sp>
      <p:sp>
        <p:nvSpPr>
          <p:cNvPr id="509" name="TextBox 65"/>
          <p:cNvSpPr txBox="1"/>
          <p:nvPr/>
        </p:nvSpPr>
        <p:spPr>
          <a:xfrm>
            <a:off x="905255" y="4231131"/>
            <a:ext cx="9948673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800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Links are typed L0–L4 and carry the evidence that justified them. Right-to-win can improve without re-running discovery.</a:t>
            </a:r>
          </a:p>
        </p:txBody>
      </p:sp>
      <p:sp>
        <p:nvSpPr>
          <p:cNvPr id="510" name="TextBox 66"/>
          <p:cNvSpPr txBox="1"/>
          <p:nvPr/>
        </p:nvSpPr>
        <p:spPr>
          <a:xfrm>
            <a:off x="9357850" y="3116355"/>
            <a:ext cx="274321" cy="3506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↑</a:t>
            </a:r>
          </a:p>
        </p:txBody>
      </p:sp>
      <p:sp>
        <p:nvSpPr>
          <p:cNvPr id="511" name="TextBox 67"/>
          <p:cNvSpPr txBox="1"/>
          <p:nvPr/>
        </p:nvSpPr>
        <p:spPr>
          <a:xfrm>
            <a:off x="648517" y="4696510"/>
            <a:ext cx="315468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9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TWO SUBSYSTEMS SIT BESIDE THE PIPELINE</a:t>
            </a:r>
          </a:p>
        </p:txBody>
      </p:sp>
      <p:sp>
        <p:nvSpPr>
          <p:cNvPr id="512" name="Rounded Rectangle 68"/>
          <p:cNvSpPr/>
          <p:nvPr/>
        </p:nvSpPr>
        <p:spPr>
          <a:xfrm>
            <a:off x="658368" y="4996668"/>
            <a:ext cx="5074921" cy="1253073"/>
          </a:xfrm>
          <a:prstGeom prst="roundRect">
            <a:avLst>
              <a:gd name="adj" fmla="val 4305"/>
            </a:avLst>
          </a:prstGeom>
          <a:solidFill>
            <a:srgbClr val="F7F7F5"/>
          </a:solidFill>
          <a:ln w="12700">
            <a:solidFill>
              <a:srgbClr val="DEDEDA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"/>
              </a:defRPr>
            </a:pPr>
            <a:endParaRPr/>
          </a:p>
        </p:txBody>
      </p:sp>
      <p:sp>
        <p:nvSpPr>
          <p:cNvPr id="513" name="Rounded Rectangle 69"/>
          <p:cNvSpPr/>
          <p:nvPr/>
        </p:nvSpPr>
        <p:spPr>
          <a:xfrm>
            <a:off x="868680" y="5197836"/>
            <a:ext cx="1188720" cy="310897"/>
          </a:xfrm>
          <a:prstGeom prst="roundRect">
            <a:avLst>
              <a:gd name="adj" fmla="val 5000"/>
            </a:avLst>
          </a:prstGeom>
          <a:solidFill>
            <a:srgbClr val="FF7900"/>
          </a:solidFill>
          <a:ln w="12700">
            <a:solidFill>
              <a:srgbClr val="FF7900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"/>
              </a:defRPr>
            </a:pPr>
            <a:endParaRPr/>
          </a:p>
        </p:txBody>
      </p:sp>
      <p:sp>
        <p:nvSpPr>
          <p:cNvPr id="514" name="TextBox 70"/>
          <p:cNvSpPr txBox="1"/>
          <p:nvPr/>
        </p:nvSpPr>
        <p:spPr>
          <a:xfrm>
            <a:off x="914400" y="5248127"/>
            <a:ext cx="1097281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8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THE PLANNER</a:t>
            </a:r>
          </a:p>
        </p:txBody>
      </p:sp>
      <p:sp>
        <p:nvSpPr>
          <p:cNvPr id="515" name="TextBox 71"/>
          <p:cNvSpPr txBox="1"/>
          <p:nvPr/>
        </p:nvSpPr>
        <p:spPr>
          <a:xfrm>
            <a:off x="2258568" y="5252700"/>
            <a:ext cx="1920240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800" b="1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planner.py · plan_report.py</a:t>
            </a:r>
          </a:p>
        </p:txBody>
      </p:sp>
      <p:sp>
        <p:nvSpPr>
          <p:cNvPr id="516" name="TextBox 72"/>
          <p:cNvSpPr txBox="1"/>
          <p:nvPr/>
        </p:nvSpPr>
        <p:spPr>
          <a:xfrm>
            <a:off x="923544" y="5600172"/>
            <a:ext cx="4462272" cy="341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900">
                <a:solidFill>
                  <a:srgbClr val="16161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Reads the read model + assumptions → selects a set → schedules it → projects five years → writes one PDF.</a:t>
            </a:r>
          </a:p>
        </p:txBody>
      </p:sp>
      <p:sp>
        <p:nvSpPr>
          <p:cNvPr id="517" name="TextBox 73"/>
          <p:cNvSpPr txBox="1"/>
          <p:nvPr/>
        </p:nvSpPr>
        <p:spPr>
          <a:xfrm>
            <a:off x="923544" y="5911068"/>
            <a:ext cx="4462272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8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One model call, after every number is fixed.</a:t>
            </a:r>
          </a:p>
        </p:txBody>
      </p:sp>
      <p:sp>
        <p:nvSpPr>
          <p:cNvPr id="518" name="Rounded Rectangle 74"/>
          <p:cNvSpPr/>
          <p:nvPr/>
        </p:nvSpPr>
        <p:spPr>
          <a:xfrm>
            <a:off x="5943600" y="4996668"/>
            <a:ext cx="5276089" cy="1253073"/>
          </a:xfrm>
          <a:prstGeom prst="roundRect">
            <a:avLst>
              <a:gd name="adj" fmla="val 4305"/>
            </a:avLst>
          </a:prstGeom>
          <a:solidFill>
            <a:srgbClr val="FFF5EC"/>
          </a:solidFill>
          <a:ln w="12700">
            <a:solidFill>
              <a:srgbClr val="FF7900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"/>
              </a:defRPr>
            </a:pPr>
            <a:endParaRPr/>
          </a:p>
        </p:txBody>
      </p:sp>
      <p:sp>
        <p:nvSpPr>
          <p:cNvPr id="519" name="Rounded Rectangle 75"/>
          <p:cNvSpPr/>
          <p:nvPr/>
        </p:nvSpPr>
        <p:spPr>
          <a:xfrm>
            <a:off x="6163055" y="5197836"/>
            <a:ext cx="1783081" cy="310897"/>
          </a:xfrm>
          <a:prstGeom prst="roundRect">
            <a:avLst>
              <a:gd name="adj" fmla="val 5000"/>
            </a:avLst>
          </a:prstGeom>
          <a:solidFill>
            <a:srgbClr val="FF7900"/>
          </a:solidFill>
          <a:ln w="12700">
            <a:solidFill>
              <a:srgbClr val="FF7900"/>
            </a:solidFill>
          </a:ln>
          <a:effectLst>
            <a:outerShdw blurRad="38100" dist="23000" dir="5400000" rotWithShape="0">
              <a:srgbClr val="000000">
                <a:alpha val="35000"/>
              </a:srgbClr>
            </a:outerShdw>
          </a:effectLst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+mn-lt"/>
                <a:ea typeface="+mn-ea"/>
                <a:cs typeface="+mn-cs"/>
                <a:sym typeface="Helvetica"/>
              </a:defRPr>
            </a:pPr>
            <a:endParaRPr/>
          </a:p>
        </p:txBody>
      </p:sp>
      <p:sp>
        <p:nvSpPr>
          <p:cNvPr id="520" name="TextBox 76"/>
          <p:cNvSpPr txBox="1"/>
          <p:nvPr/>
        </p:nvSpPr>
        <p:spPr>
          <a:xfrm>
            <a:off x="6208776" y="5248127"/>
            <a:ext cx="1691640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 algn="ctr">
              <a:defRPr sz="8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PRE-SALES COLLATERAL</a:t>
            </a:r>
          </a:p>
        </p:txBody>
      </p:sp>
      <p:sp>
        <p:nvSpPr>
          <p:cNvPr id="521" name="TextBox 77"/>
          <p:cNvSpPr txBox="1"/>
          <p:nvPr/>
        </p:nvSpPr>
        <p:spPr>
          <a:xfrm>
            <a:off x="8138159" y="5252700"/>
            <a:ext cx="868681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800" b="1">
                <a:solidFill>
                  <a:srgbClr val="646464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presales/</a:t>
            </a:r>
          </a:p>
        </p:txBody>
      </p:sp>
      <p:sp>
        <p:nvSpPr>
          <p:cNvPr id="522" name="TextBox 78"/>
          <p:cNvSpPr txBox="1"/>
          <p:nvPr/>
        </p:nvSpPr>
        <p:spPr>
          <a:xfrm>
            <a:off x="6217920" y="5600172"/>
            <a:ext cx="4572001" cy="2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900">
                <a:solidFill>
                  <a:srgbClr val="161616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Reads ONE snapshot of a space → emits 12 artefacts in 5 formats.</a:t>
            </a:r>
          </a:p>
        </p:txBody>
      </p:sp>
      <p:sp>
        <p:nvSpPr>
          <p:cNvPr id="523" name="TextBox 79"/>
          <p:cNvSpPr txBox="1"/>
          <p:nvPr/>
        </p:nvSpPr>
        <p:spPr>
          <a:xfrm>
            <a:off x="6217920" y="5911068"/>
            <a:ext cx="4572001" cy="20241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800" b="1">
                <a:solidFill>
                  <a:srgbClr val="FF79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t>Nothing in a pack can disagree with anything else in it.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Rectangle 1"/>
          <p:cNvSpPr/>
          <p:nvPr/>
        </p:nvSpPr>
        <p:spPr>
          <a:xfrm>
            <a:off x="-1" y="0"/>
            <a:ext cx="12191697" cy="54864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26" name="TextBox 2"/>
          <p:cNvSpPr txBox="1"/>
          <p:nvPr/>
        </p:nvSpPr>
        <p:spPr>
          <a:xfrm>
            <a:off x="685799" y="457200"/>
            <a:ext cx="10789922" cy="161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100" b="1">
                <a:solidFill>
                  <a:srgbClr val="F07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ARCHITECTURE</a:t>
            </a:r>
          </a:p>
        </p:txBody>
      </p:sp>
      <p:sp>
        <p:nvSpPr>
          <p:cNvPr id="527" name="TextBox 3"/>
          <p:cNvSpPr txBox="1"/>
          <p:nvPr/>
        </p:nvSpPr>
        <p:spPr>
          <a:xfrm>
            <a:off x="685799" y="777240"/>
            <a:ext cx="10789922" cy="483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3200" b="1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Stack and separation of concerns</a:t>
            </a:r>
          </a:p>
        </p:txBody>
      </p:sp>
      <p:sp>
        <p:nvSpPr>
          <p:cNvPr id="528" name="Rectangle 4"/>
          <p:cNvSpPr/>
          <p:nvPr/>
        </p:nvSpPr>
        <p:spPr>
          <a:xfrm>
            <a:off x="685799" y="1737360"/>
            <a:ext cx="3520442" cy="3383280"/>
          </a:xfrm>
          <a:prstGeom prst="rect">
            <a:avLst/>
          </a:prstGeom>
          <a:solidFill>
            <a:srgbClr val="F4F4F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29" name="Rectangle 5"/>
          <p:cNvSpPr/>
          <p:nvPr/>
        </p:nvSpPr>
        <p:spPr>
          <a:xfrm>
            <a:off x="685799" y="1737360"/>
            <a:ext cx="3520442" cy="64009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0" name="TextBox 6"/>
          <p:cNvSpPr txBox="1"/>
          <p:nvPr/>
        </p:nvSpPr>
        <p:spPr>
          <a:xfrm>
            <a:off x="941832" y="2011679"/>
            <a:ext cx="3008377" cy="161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100" b="1">
                <a:solidFill>
                  <a:srgbClr val="F07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INGESTION</a:t>
            </a:r>
          </a:p>
        </p:txBody>
      </p:sp>
      <p:sp>
        <p:nvSpPr>
          <p:cNvPr id="531" name="TextBox 7"/>
          <p:cNvSpPr txBox="1"/>
          <p:nvPr/>
        </p:nvSpPr>
        <p:spPr>
          <a:xfrm>
            <a:off x="941832" y="2395727"/>
            <a:ext cx="3008377" cy="15479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33 enabled sources across 17 connector</a:t>
            </a: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types: TED, BOAMP, UK Contracts,</a:t>
            </a: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EUR-Lex SPARQL, Have-your-say, GDELT,</a:t>
            </a: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news RSS (EN/FR), Hacker News, OpenAlex,</a:t>
            </a: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Crossref, arXiv, CORDIS, NIST, CERT-FR</a:t>
            </a: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Parallel fetch · circuit breaker ·</a:t>
            </a: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per-host pacing · replay-safe dates</a:t>
            </a:r>
          </a:p>
        </p:txBody>
      </p:sp>
      <p:sp>
        <p:nvSpPr>
          <p:cNvPr id="532" name="Rectangle 8"/>
          <p:cNvSpPr/>
          <p:nvPr/>
        </p:nvSpPr>
        <p:spPr>
          <a:xfrm>
            <a:off x="4462271" y="1737360"/>
            <a:ext cx="3520441" cy="3383280"/>
          </a:xfrm>
          <a:prstGeom prst="rect">
            <a:avLst/>
          </a:prstGeom>
          <a:solidFill>
            <a:srgbClr val="F4F4F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3" name="Rectangle 9"/>
          <p:cNvSpPr/>
          <p:nvPr/>
        </p:nvSpPr>
        <p:spPr>
          <a:xfrm>
            <a:off x="4462271" y="1737360"/>
            <a:ext cx="3520441" cy="64009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4" name="TextBox 10"/>
          <p:cNvSpPr txBox="1"/>
          <p:nvPr/>
        </p:nvSpPr>
        <p:spPr>
          <a:xfrm>
            <a:off x="4718303" y="2011679"/>
            <a:ext cx="3008377" cy="161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100" b="1">
                <a:solidFill>
                  <a:srgbClr val="F07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INTELLIGENCE</a:t>
            </a:r>
          </a:p>
        </p:txBody>
      </p:sp>
      <p:sp>
        <p:nvSpPr>
          <p:cNvPr id="535" name="TextBox 11"/>
          <p:cNvSpPr txBox="1"/>
          <p:nvPr/>
        </p:nvSpPr>
        <p:spPr>
          <a:xfrm>
            <a:off x="4718303" y="2395727"/>
            <a:ext cx="3008377" cy="154790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DeepSeek behind a provider-agnostic</a:t>
            </a: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client (swap to Ollama via .env alone)</a:t>
            </a: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Local sentence-transformers for</a:t>
            </a: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embeddings and clustering</a:t>
            </a: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/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Deterministic where possible,</a:t>
            </a: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t>generative only where it earns its place</a:t>
            </a:r>
          </a:p>
        </p:txBody>
      </p:sp>
      <p:sp>
        <p:nvSpPr>
          <p:cNvPr id="536" name="Rectangle 12"/>
          <p:cNvSpPr/>
          <p:nvPr/>
        </p:nvSpPr>
        <p:spPr>
          <a:xfrm>
            <a:off x="8238743" y="1737360"/>
            <a:ext cx="3520441" cy="3383280"/>
          </a:xfrm>
          <a:prstGeom prst="rect">
            <a:avLst/>
          </a:prstGeom>
          <a:solidFill>
            <a:srgbClr val="F4F4F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7" name="Rectangle 13"/>
          <p:cNvSpPr/>
          <p:nvPr/>
        </p:nvSpPr>
        <p:spPr>
          <a:xfrm>
            <a:off x="8238743" y="1737360"/>
            <a:ext cx="3520441" cy="64009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38" name="TextBox 14"/>
          <p:cNvSpPr txBox="1"/>
          <p:nvPr/>
        </p:nvSpPr>
        <p:spPr>
          <a:xfrm>
            <a:off x="8494776" y="2011679"/>
            <a:ext cx="3008377" cy="16104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100" b="1">
                <a:solidFill>
                  <a:srgbClr val="F07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SERVING</a:t>
            </a:r>
          </a:p>
        </p:txBody>
      </p:sp>
      <p:sp>
        <p:nvSpPr>
          <p:cNvPr id="539" name="TextBox 15"/>
          <p:cNvSpPr txBox="1"/>
          <p:nvPr/>
        </p:nvSpPr>
        <p:spPr>
          <a:xfrm>
            <a:off x="8494776" y="2320421"/>
            <a:ext cx="3008377" cy="275774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rPr sz="1050"/>
              <a:t>SQLite — the graph is thousands of</a:t>
            </a: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rPr sz="1050"/>
              <a:t>nodes, not millions</a:t>
            </a: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 sz="1050"/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rPr sz="1050" err="1"/>
              <a:t>FastAPI</a:t>
            </a:r>
            <a:r>
              <a:rPr sz="1050"/>
              <a:t> read API behind a session</a:t>
            </a: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rPr sz="1050"/>
              <a:t>guard applied to the whole app,</a:t>
            </a: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rPr sz="1050"/>
              <a:t>not route by route</a:t>
            </a: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 sz="1050"/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rPr sz="1050"/>
              <a:t>React + Vite + TypeScript</a:t>
            </a: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rPr sz="1050"/>
              <a:t>Hand-drawn SVG radar, no chart library</a:t>
            </a: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endParaRPr sz="1050"/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rPr sz="1050" err="1"/>
              <a:t>scipy</a:t>
            </a:r>
            <a:r>
              <a:rPr sz="1050"/>
              <a:t> </a:t>
            </a:r>
            <a:r>
              <a:rPr sz="1050" err="1"/>
              <a:t>milp</a:t>
            </a:r>
            <a:r>
              <a:rPr sz="1050"/>
              <a:t> for portfolio selection</a:t>
            </a: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rPr sz="1050" err="1"/>
              <a:t>reportlab</a:t>
            </a:r>
            <a:r>
              <a:rPr sz="1050"/>
              <a:t> / python-pptx / python-docx</a:t>
            </a:r>
          </a:p>
          <a:p>
            <a:pPr>
              <a:lnSpc>
                <a:spcPct val="132000"/>
              </a:lnSpc>
              <a:defRPr sz="1100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pPr>
            <a:r>
              <a:rPr sz="1050"/>
              <a:t>for every document it emits</a:t>
            </a:r>
          </a:p>
        </p:txBody>
      </p:sp>
      <p:sp>
        <p:nvSpPr>
          <p:cNvPr id="540" name="TextBox 16"/>
          <p:cNvSpPr txBox="1"/>
          <p:nvPr/>
        </p:nvSpPr>
        <p:spPr>
          <a:xfrm>
            <a:off x="648970" y="5531825"/>
            <a:ext cx="10881360" cy="41207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5000"/>
              </a:lnSpc>
              <a:defRPr sz="12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Taxonomies, weights, thresholds, sources, the business graph and the crosswalks are all configuration, not code — and are validated at load time, so a dangling id is a startup error rather than a wrong number three stages later.</a:t>
            </a:r>
          </a:p>
        </p:txBody>
      </p:sp>
      <p:sp>
        <p:nvSpPr>
          <p:cNvPr id="541" name="TextBox 17"/>
          <p:cNvSpPr txBox="1"/>
          <p:nvPr/>
        </p:nvSpPr>
        <p:spPr>
          <a:xfrm>
            <a:off x="685800" y="6355079"/>
            <a:ext cx="7315200" cy="136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9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Orange Business · Opportunity Spaces / Innovation Radar</a:t>
            </a:r>
          </a:p>
        </p:txBody>
      </p:sp>
      <p:sp>
        <p:nvSpPr>
          <p:cNvPr id="542" name="TextBox 18"/>
          <p:cNvSpPr txBox="1"/>
          <p:nvPr/>
        </p:nvSpPr>
        <p:spPr>
          <a:xfrm>
            <a:off x="10607040" y="6355079"/>
            <a:ext cx="914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7999"/>
              </a:lnSpc>
              <a:defRPr sz="900">
                <a:solidFill>
                  <a:srgbClr val="6B6963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r>
              <a:t>12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Rectangle 1"/>
          <p:cNvSpPr/>
          <p:nvPr/>
        </p:nvSpPr>
        <p:spPr>
          <a:xfrm>
            <a:off x="-1" y="0"/>
            <a:ext cx="12191697" cy="54864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5" name="TextBox 2"/>
          <p:cNvSpPr txBox="1"/>
          <p:nvPr/>
        </p:nvSpPr>
        <p:spPr>
          <a:xfrm>
            <a:off x="685799" y="457200"/>
            <a:ext cx="10789922" cy="16104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100" b="1">
                <a:solidFill>
                  <a:srgbClr val="F07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ARCHITECTURE</a:t>
            </a:r>
          </a:p>
        </p:txBody>
      </p:sp>
      <p:sp>
        <p:nvSpPr>
          <p:cNvPr id="546" name="TextBox 3"/>
          <p:cNvSpPr txBox="1"/>
          <p:nvPr/>
        </p:nvSpPr>
        <p:spPr>
          <a:xfrm>
            <a:off x="685799" y="777240"/>
            <a:ext cx="10789922" cy="4835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3200" b="1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What makes the numbers defensible</a:t>
            </a:r>
          </a:p>
        </p:txBody>
      </p:sp>
      <p:sp>
        <p:nvSpPr>
          <p:cNvPr id="547" name="TextBox 4"/>
          <p:cNvSpPr txBox="1"/>
          <p:nvPr/>
        </p:nvSpPr>
        <p:spPr>
          <a:xfrm>
            <a:off x="685800" y="1481327"/>
            <a:ext cx="10058400" cy="21056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The governing constraint: if a user cannot explain why a topic is ranked where it is, the scoring is not good enough.</a:t>
            </a:r>
          </a:p>
        </p:txBody>
      </p:sp>
      <p:sp>
        <p:nvSpPr>
          <p:cNvPr id="548" name="Rectangle 5"/>
          <p:cNvSpPr/>
          <p:nvPr/>
        </p:nvSpPr>
        <p:spPr>
          <a:xfrm>
            <a:off x="685800" y="2203704"/>
            <a:ext cx="50293" cy="566929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49" name="TextBox 6"/>
          <p:cNvSpPr txBox="1"/>
          <p:nvPr/>
        </p:nvSpPr>
        <p:spPr>
          <a:xfrm>
            <a:off x="905255" y="2148839"/>
            <a:ext cx="5120642" cy="2230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 b="1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Decomposable</a:t>
            </a:r>
          </a:p>
        </p:txBody>
      </p:sp>
      <p:sp>
        <p:nvSpPr>
          <p:cNvPr id="550" name="TextBox 7"/>
          <p:cNvSpPr txBox="1"/>
          <p:nvPr/>
        </p:nvSpPr>
        <p:spPr>
          <a:xfrm>
            <a:off x="905255" y="2423160"/>
            <a:ext cx="5120642" cy="1484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0000"/>
              </a:lnSpc>
              <a:defRPr sz="11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Every displayed number breaks into named components; no opaque scores.</a:t>
            </a:r>
          </a:p>
        </p:txBody>
      </p:sp>
      <p:sp>
        <p:nvSpPr>
          <p:cNvPr id="551" name="Rectangle 8"/>
          <p:cNvSpPr/>
          <p:nvPr/>
        </p:nvSpPr>
        <p:spPr>
          <a:xfrm>
            <a:off x="6355079" y="2203704"/>
            <a:ext cx="50293" cy="566929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52" name="TextBox 9"/>
          <p:cNvSpPr txBox="1"/>
          <p:nvPr/>
        </p:nvSpPr>
        <p:spPr>
          <a:xfrm>
            <a:off x="6574535" y="2148839"/>
            <a:ext cx="5120642" cy="2230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 b="1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Reproducible</a:t>
            </a:r>
          </a:p>
        </p:txBody>
      </p:sp>
      <p:sp>
        <p:nvSpPr>
          <p:cNvPr id="553" name="TextBox 10"/>
          <p:cNvSpPr txBox="1"/>
          <p:nvPr/>
        </p:nvSpPr>
        <p:spPr>
          <a:xfrm>
            <a:off x="6574535" y="2423160"/>
            <a:ext cx="5120642" cy="3454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0000"/>
              </a:lnSpc>
              <a:defRPr sz="11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Every component stores the inputs used to compute it, so any number can be re-derived.</a:t>
            </a:r>
          </a:p>
        </p:txBody>
      </p:sp>
      <p:sp>
        <p:nvSpPr>
          <p:cNvPr id="554" name="Rectangle 11"/>
          <p:cNvSpPr/>
          <p:nvPr/>
        </p:nvSpPr>
        <p:spPr>
          <a:xfrm>
            <a:off x="685800" y="3118104"/>
            <a:ext cx="50293" cy="566929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55" name="TextBox 12"/>
          <p:cNvSpPr txBox="1"/>
          <p:nvPr/>
        </p:nvSpPr>
        <p:spPr>
          <a:xfrm>
            <a:off x="905255" y="3063239"/>
            <a:ext cx="5120642" cy="2230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 b="1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Traceable</a:t>
            </a:r>
          </a:p>
        </p:txBody>
      </p:sp>
      <p:sp>
        <p:nvSpPr>
          <p:cNvPr id="556" name="TextBox 13"/>
          <p:cNvSpPr txBox="1"/>
          <p:nvPr/>
        </p:nvSpPr>
        <p:spPr>
          <a:xfrm>
            <a:off x="905255" y="3337559"/>
            <a:ext cx="5120642" cy="3454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0000"/>
              </a:lnSpc>
              <a:defRPr sz="11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Full lineage from a displayed claim back to the raw ingested item, including prompt and model version.</a:t>
            </a:r>
          </a:p>
        </p:txBody>
      </p:sp>
      <p:sp>
        <p:nvSpPr>
          <p:cNvPr id="557" name="Rectangle 14"/>
          <p:cNvSpPr/>
          <p:nvPr/>
        </p:nvSpPr>
        <p:spPr>
          <a:xfrm>
            <a:off x="6355079" y="3118104"/>
            <a:ext cx="50293" cy="566929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58" name="TextBox 15"/>
          <p:cNvSpPr txBox="1"/>
          <p:nvPr/>
        </p:nvSpPr>
        <p:spPr>
          <a:xfrm>
            <a:off x="6574535" y="3063239"/>
            <a:ext cx="5120642" cy="22307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 b="1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Versioned</a:t>
            </a:r>
          </a:p>
        </p:txBody>
      </p:sp>
      <p:sp>
        <p:nvSpPr>
          <p:cNvPr id="559" name="TextBox 16"/>
          <p:cNvSpPr txBox="1"/>
          <p:nvPr/>
        </p:nvSpPr>
        <p:spPr>
          <a:xfrm>
            <a:off x="6574535" y="3337559"/>
            <a:ext cx="5120642" cy="3454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0000"/>
              </a:lnSpc>
              <a:defRPr sz="11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Every score records its weight set. Trajectories are never plotted across a boundary silently.</a:t>
            </a:r>
          </a:p>
        </p:txBody>
      </p:sp>
      <p:sp>
        <p:nvSpPr>
          <p:cNvPr id="560" name="Rectangle 17"/>
          <p:cNvSpPr/>
          <p:nvPr/>
        </p:nvSpPr>
        <p:spPr>
          <a:xfrm>
            <a:off x="685800" y="4032503"/>
            <a:ext cx="50293" cy="566929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1" name="TextBox 18"/>
          <p:cNvSpPr txBox="1"/>
          <p:nvPr/>
        </p:nvSpPr>
        <p:spPr>
          <a:xfrm>
            <a:off x="905255" y="3977640"/>
            <a:ext cx="5120642" cy="2230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 b="1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Auditable</a:t>
            </a:r>
          </a:p>
        </p:txBody>
      </p:sp>
      <p:sp>
        <p:nvSpPr>
          <p:cNvPr id="562" name="TextBox 19"/>
          <p:cNvSpPr txBox="1"/>
          <p:nvPr/>
        </p:nvSpPr>
        <p:spPr>
          <a:xfrm>
            <a:off x="905255" y="4251959"/>
            <a:ext cx="5120642" cy="1484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0000"/>
              </a:lnSpc>
              <a:defRPr sz="11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A reviewer outside the project can reconstruct why any topic holds its rank.</a:t>
            </a:r>
          </a:p>
        </p:txBody>
      </p:sp>
      <p:sp>
        <p:nvSpPr>
          <p:cNvPr id="563" name="Rectangle 20"/>
          <p:cNvSpPr/>
          <p:nvPr/>
        </p:nvSpPr>
        <p:spPr>
          <a:xfrm>
            <a:off x="6355079" y="4032503"/>
            <a:ext cx="50293" cy="566929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564" name="TextBox 21"/>
          <p:cNvSpPr txBox="1"/>
          <p:nvPr/>
        </p:nvSpPr>
        <p:spPr>
          <a:xfrm>
            <a:off x="6574535" y="3977640"/>
            <a:ext cx="5120642" cy="2230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500" b="1">
                <a:solidFill>
                  <a:srgbClr val="0B0B0B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Bounded</a:t>
            </a:r>
          </a:p>
        </p:txBody>
      </p:sp>
      <p:sp>
        <p:nvSpPr>
          <p:cNvPr id="565" name="TextBox 22"/>
          <p:cNvSpPr txBox="1"/>
          <p:nvPr/>
        </p:nvSpPr>
        <p:spPr>
          <a:xfrm>
            <a:off x="6574535" y="4251959"/>
            <a:ext cx="5120642" cy="34543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0000"/>
              </a:lnSpc>
              <a:defRPr sz="11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Counting, diversity, recency and momentum are arithmetic — never a model. A model asked to count is unverifiable.</a:t>
            </a:r>
          </a:p>
        </p:txBody>
      </p:sp>
      <p:sp>
        <p:nvSpPr>
          <p:cNvPr id="566" name="TextBox 23"/>
          <p:cNvSpPr txBox="1"/>
          <p:nvPr/>
        </p:nvSpPr>
        <p:spPr>
          <a:xfrm>
            <a:off x="685800" y="6355079"/>
            <a:ext cx="7315200" cy="136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900">
                <a:solidFill>
                  <a:srgbClr val="6B696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Orange Business · Opportunity Spaces / Innovation Radar</a:t>
            </a:r>
          </a:p>
        </p:txBody>
      </p:sp>
      <p:sp>
        <p:nvSpPr>
          <p:cNvPr id="567" name="TextBox 24"/>
          <p:cNvSpPr txBox="1"/>
          <p:nvPr/>
        </p:nvSpPr>
        <p:spPr>
          <a:xfrm>
            <a:off x="10607040" y="6355079"/>
            <a:ext cx="91440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algn="r">
              <a:lnSpc>
                <a:spcPct val="117999"/>
              </a:lnSpc>
              <a:defRPr sz="900">
                <a:solidFill>
                  <a:srgbClr val="6B6963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r>
              <a:t>13</a:t>
            </a:r>
          </a:p>
        </p:txBody>
      </p:sp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Rectangle 1"/>
          <p:cNvSpPr/>
          <p:nvPr/>
        </p:nvSpPr>
        <p:spPr>
          <a:xfrm>
            <a:off x="-1" y="0"/>
            <a:ext cx="12191697" cy="6858000"/>
          </a:xfrm>
          <a:prstGeom prst="rect">
            <a:avLst/>
          </a:prstGeom>
          <a:solidFill>
            <a:srgbClr val="0B0B0B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01" name="Rectangle 2"/>
          <p:cNvSpPr/>
          <p:nvPr/>
        </p:nvSpPr>
        <p:spPr>
          <a:xfrm>
            <a:off x="-1" y="0"/>
            <a:ext cx="201170" cy="6858000"/>
          </a:xfrm>
          <a:prstGeom prst="rect">
            <a:avLst/>
          </a:prstGeom>
          <a:solidFill>
            <a:srgbClr val="F07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602" name="TextBox 3"/>
          <p:cNvSpPr txBox="1"/>
          <p:nvPr/>
        </p:nvSpPr>
        <p:spPr>
          <a:xfrm>
            <a:off x="1005839" y="2103120"/>
            <a:ext cx="10058401" cy="6075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40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The join is the product</a:t>
            </a:r>
          </a:p>
        </p:txBody>
      </p:sp>
      <p:sp>
        <p:nvSpPr>
          <p:cNvPr id="603" name="TextBox 4"/>
          <p:cNvSpPr txBox="1"/>
          <p:nvPr/>
        </p:nvSpPr>
        <p:spPr>
          <a:xfrm>
            <a:off x="1005839" y="3108960"/>
            <a:ext cx="9326882" cy="5887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35000"/>
              </a:lnSpc>
              <a:defRPr sz="1700">
                <a:solidFill>
                  <a:srgbClr val="C3C2B7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</a:lstStyle>
          <a:p>
            <a:r>
              <a:t>Without it the radar is a competent trend feed, and trend feeds already exist. With it, the radar answers a question nobody else can answer for Orange.</a:t>
            </a:r>
          </a:p>
        </p:txBody>
      </p:sp>
      <p:sp>
        <p:nvSpPr>
          <p:cNvPr id="604" name="TextBox 5"/>
          <p:cNvSpPr txBox="1"/>
          <p:nvPr/>
        </p:nvSpPr>
        <p:spPr>
          <a:xfrm>
            <a:off x="1005839" y="4663440"/>
            <a:ext cx="10058401" cy="1905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300">
                <a:solidFill>
                  <a:srgbClr val="F07000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r>
              <a:t>418 opportunity spaces  ·  11,354 signals  ·  34 live sources  ·  4,832 named asset links</a:t>
            </a:r>
          </a:p>
        </p:txBody>
      </p:sp>
      <p:sp>
        <p:nvSpPr>
          <p:cNvPr id="605" name="TextBox 6"/>
          <p:cNvSpPr txBox="1"/>
          <p:nvPr/>
        </p:nvSpPr>
        <p:spPr>
          <a:xfrm>
            <a:off x="1005839" y="5029200"/>
            <a:ext cx="10058401" cy="190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>
              <a:lnSpc>
                <a:spcPct val="117999"/>
              </a:lnSpc>
              <a:defRPr sz="1300">
                <a:solidFill>
                  <a:srgbClr val="6B6963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r>
              <a:t>314 sized bottom-up  ·  174 sales briefs  ·  12 pre-sales artefacts per space  ·  8 portfolio plans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38100" dist="20000" dir="5400000" rotWithShape="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blurRad="38100" dist="23000" dir="5400000" rotWithShape="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blurRad="38100" dist="20000" dir="5400000" rotWithShape="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3991</Words>
  <Application>Microsoft Macintosh PowerPoint</Application>
  <PresentationFormat>Custom</PresentationFormat>
  <Paragraphs>404</Paragraphs>
  <Slides>13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Stephane van der Aa</cp:lastModifiedBy>
  <cp:revision>2</cp:revision>
  <dcterms:modified xsi:type="dcterms:W3CDTF">2026-08-28T08:14:22Z</dcterms:modified>
</cp:coreProperties>
</file>